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71" r:id="rId5"/>
    <p:sldId id="4683" r:id="rId6"/>
    <p:sldId id="4689" r:id="rId7"/>
    <p:sldId id="4684" r:id="rId8"/>
    <p:sldId id="4685" r:id="rId9"/>
    <p:sldId id="4705" r:id="rId10"/>
    <p:sldId id="4703" r:id="rId11"/>
    <p:sldId id="4303" r:id="rId12"/>
    <p:sldId id="258" r:id="rId13"/>
    <p:sldId id="4706" r:id="rId14"/>
    <p:sldId id="4707" r:id="rId15"/>
    <p:sldId id="4708" r:id="rId16"/>
    <p:sldId id="4709" r:id="rId17"/>
    <p:sldId id="4714" r:id="rId18"/>
    <p:sldId id="4711" r:id="rId19"/>
    <p:sldId id="4710" r:id="rId20"/>
    <p:sldId id="4712" r:id="rId21"/>
    <p:sldId id="4713" r:id="rId22"/>
    <p:sldId id="4716" r:id="rId23"/>
    <p:sldId id="471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83" d="100"/>
          <a:sy n="83" d="100"/>
        </p:scale>
        <p:origin x="45" y="5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8D96C-7D72-74F5-83FB-87DA9EE877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A7497D-C925-EA93-BCD0-3F31B9EE2D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7CA553-BB5C-07D1-1B92-43A0B3913346}"/>
              </a:ext>
            </a:extLst>
          </p:cNvPr>
          <p:cNvSpPr>
            <a:spLocks noGrp="1"/>
          </p:cNvSpPr>
          <p:nvPr>
            <p:ph type="dt" sz="half" idx="10"/>
          </p:nvPr>
        </p:nvSpPr>
        <p:spPr/>
        <p:txBody>
          <a:bodyPr/>
          <a:lstStyle/>
          <a:p>
            <a:fld id="{E7567F9C-F8D2-46D5-8634-DAD0E8760F80}" type="datetimeFigureOut">
              <a:rPr lang="en-US" smtClean="0"/>
              <a:t>4/19/2025</a:t>
            </a:fld>
            <a:endParaRPr lang="en-US"/>
          </a:p>
        </p:txBody>
      </p:sp>
      <p:sp>
        <p:nvSpPr>
          <p:cNvPr id="5" name="Footer Placeholder 4">
            <a:extLst>
              <a:ext uri="{FF2B5EF4-FFF2-40B4-BE49-F238E27FC236}">
                <a16:creationId xmlns:a16="http://schemas.microsoft.com/office/drawing/2014/main" id="{3ACE6757-A93D-FFA1-5D5D-FDD4B53285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B1288-E139-D63C-0D07-648D9BEFEEE0}"/>
              </a:ext>
            </a:extLst>
          </p:cNvPr>
          <p:cNvSpPr>
            <a:spLocks noGrp="1"/>
          </p:cNvSpPr>
          <p:nvPr>
            <p:ph type="sldNum" sz="quarter" idx="12"/>
          </p:nvPr>
        </p:nvSpPr>
        <p:spPr/>
        <p:txBody>
          <a:bodyPr/>
          <a:lstStyle/>
          <a:p>
            <a:fld id="{E18387B3-80DA-4A49-95DA-4A1948EEC3CF}" type="slidenum">
              <a:rPr lang="en-US" smtClean="0"/>
              <a:t>‹#›</a:t>
            </a:fld>
            <a:endParaRPr lang="en-US"/>
          </a:p>
        </p:txBody>
      </p:sp>
    </p:spTree>
    <p:extLst>
      <p:ext uri="{BB962C8B-B14F-4D97-AF65-F5344CB8AC3E}">
        <p14:creationId xmlns:p14="http://schemas.microsoft.com/office/powerpoint/2010/main" val="1342261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D4CE-4DF7-D6C8-CEFF-65401B5A95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A66960-3199-6334-6A69-79607FEE79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C3863A-6E1D-3238-A239-68A215A9B828}"/>
              </a:ext>
            </a:extLst>
          </p:cNvPr>
          <p:cNvSpPr>
            <a:spLocks noGrp="1"/>
          </p:cNvSpPr>
          <p:nvPr>
            <p:ph type="dt" sz="half" idx="10"/>
          </p:nvPr>
        </p:nvSpPr>
        <p:spPr/>
        <p:txBody>
          <a:bodyPr/>
          <a:lstStyle/>
          <a:p>
            <a:fld id="{E7567F9C-F8D2-46D5-8634-DAD0E8760F80}" type="datetimeFigureOut">
              <a:rPr lang="en-US" smtClean="0"/>
              <a:t>4/19/2025</a:t>
            </a:fld>
            <a:endParaRPr lang="en-US"/>
          </a:p>
        </p:txBody>
      </p:sp>
      <p:sp>
        <p:nvSpPr>
          <p:cNvPr id="5" name="Footer Placeholder 4">
            <a:extLst>
              <a:ext uri="{FF2B5EF4-FFF2-40B4-BE49-F238E27FC236}">
                <a16:creationId xmlns:a16="http://schemas.microsoft.com/office/drawing/2014/main" id="{C05968FF-C740-2D49-96B5-26BB311C4A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887B9-52D5-A276-1ACD-BEE2EE5D4499}"/>
              </a:ext>
            </a:extLst>
          </p:cNvPr>
          <p:cNvSpPr>
            <a:spLocks noGrp="1"/>
          </p:cNvSpPr>
          <p:nvPr>
            <p:ph type="sldNum" sz="quarter" idx="12"/>
          </p:nvPr>
        </p:nvSpPr>
        <p:spPr/>
        <p:txBody>
          <a:bodyPr/>
          <a:lstStyle/>
          <a:p>
            <a:fld id="{E18387B3-80DA-4A49-95DA-4A1948EEC3CF}" type="slidenum">
              <a:rPr lang="en-US" smtClean="0"/>
              <a:t>‹#›</a:t>
            </a:fld>
            <a:endParaRPr lang="en-US"/>
          </a:p>
        </p:txBody>
      </p:sp>
    </p:spTree>
    <p:extLst>
      <p:ext uri="{BB962C8B-B14F-4D97-AF65-F5344CB8AC3E}">
        <p14:creationId xmlns:p14="http://schemas.microsoft.com/office/powerpoint/2010/main" val="89739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2BA43-63EF-E313-B1BA-4A122D656B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91C1A0-B818-2217-65A8-CF57182C76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41D881-131E-FEF2-33CE-7C3CD811BBA0}"/>
              </a:ext>
            </a:extLst>
          </p:cNvPr>
          <p:cNvSpPr>
            <a:spLocks noGrp="1"/>
          </p:cNvSpPr>
          <p:nvPr>
            <p:ph type="dt" sz="half" idx="10"/>
          </p:nvPr>
        </p:nvSpPr>
        <p:spPr/>
        <p:txBody>
          <a:bodyPr/>
          <a:lstStyle/>
          <a:p>
            <a:fld id="{E7567F9C-F8D2-46D5-8634-DAD0E8760F80}" type="datetimeFigureOut">
              <a:rPr lang="en-US" smtClean="0"/>
              <a:t>4/19/2025</a:t>
            </a:fld>
            <a:endParaRPr lang="en-US"/>
          </a:p>
        </p:txBody>
      </p:sp>
      <p:sp>
        <p:nvSpPr>
          <p:cNvPr id="5" name="Footer Placeholder 4">
            <a:extLst>
              <a:ext uri="{FF2B5EF4-FFF2-40B4-BE49-F238E27FC236}">
                <a16:creationId xmlns:a16="http://schemas.microsoft.com/office/drawing/2014/main" id="{693E7071-47A8-2002-98CD-C9134DD7AC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CC5B93-0B42-6C5F-C2F6-E3084615A833}"/>
              </a:ext>
            </a:extLst>
          </p:cNvPr>
          <p:cNvSpPr>
            <a:spLocks noGrp="1"/>
          </p:cNvSpPr>
          <p:nvPr>
            <p:ph type="sldNum" sz="quarter" idx="12"/>
          </p:nvPr>
        </p:nvSpPr>
        <p:spPr/>
        <p:txBody>
          <a:bodyPr/>
          <a:lstStyle/>
          <a:p>
            <a:fld id="{E18387B3-80DA-4A49-95DA-4A1948EEC3CF}" type="slidenum">
              <a:rPr lang="en-US" smtClean="0"/>
              <a:t>‹#›</a:t>
            </a:fld>
            <a:endParaRPr lang="en-US"/>
          </a:p>
        </p:txBody>
      </p:sp>
    </p:spTree>
    <p:extLst>
      <p:ext uri="{BB962C8B-B14F-4D97-AF65-F5344CB8AC3E}">
        <p14:creationId xmlns:p14="http://schemas.microsoft.com/office/powerpoint/2010/main" val="2265014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9D573-8D22-9A93-C561-B6CC66901E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CA7FD9-B7D6-2015-E5F5-07435CE08A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590B6E-513F-2D8B-7F4D-D903BC73C1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3A1766-A1EF-7B64-F163-0BE34D8C8B67}"/>
              </a:ext>
            </a:extLst>
          </p:cNvPr>
          <p:cNvSpPr>
            <a:spLocks noGrp="1"/>
          </p:cNvSpPr>
          <p:nvPr>
            <p:ph type="dt" sz="half" idx="10"/>
          </p:nvPr>
        </p:nvSpPr>
        <p:spPr/>
        <p:txBody>
          <a:bodyPr/>
          <a:lstStyle/>
          <a:p>
            <a:fld id="{E7567F9C-F8D2-46D5-8634-DAD0E8760F80}" type="datetimeFigureOut">
              <a:rPr lang="en-US" smtClean="0"/>
              <a:t>4/19/2025</a:t>
            </a:fld>
            <a:endParaRPr lang="en-US"/>
          </a:p>
        </p:txBody>
      </p:sp>
      <p:sp>
        <p:nvSpPr>
          <p:cNvPr id="6" name="Footer Placeholder 5">
            <a:extLst>
              <a:ext uri="{FF2B5EF4-FFF2-40B4-BE49-F238E27FC236}">
                <a16:creationId xmlns:a16="http://schemas.microsoft.com/office/drawing/2014/main" id="{39847E3E-D223-9C3B-DF01-3C2609A8C9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A1660D-BB4C-6627-B238-E361B8E1CE6C}"/>
              </a:ext>
            </a:extLst>
          </p:cNvPr>
          <p:cNvSpPr>
            <a:spLocks noGrp="1"/>
          </p:cNvSpPr>
          <p:nvPr>
            <p:ph type="sldNum" sz="quarter" idx="12"/>
          </p:nvPr>
        </p:nvSpPr>
        <p:spPr/>
        <p:txBody>
          <a:bodyPr/>
          <a:lstStyle/>
          <a:p>
            <a:fld id="{E18387B3-80DA-4A49-95DA-4A1948EEC3CF}" type="slidenum">
              <a:rPr lang="en-US" smtClean="0"/>
              <a:t>‹#›</a:t>
            </a:fld>
            <a:endParaRPr lang="en-US"/>
          </a:p>
        </p:txBody>
      </p:sp>
    </p:spTree>
    <p:extLst>
      <p:ext uri="{BB962C8B-B14F-4D97-AF65-F5344CB8AC3E}">
        <p14:creationId xmlns:p14="http://schemas.microsoft.com/office/powerpoint/2010/main" val="3024182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B1A98-1731-65E0-E738-D95453FC4F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BFBEEE-739F-E0CE-D793-6B1A13C944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9839CE-EF97-DA8C-1FD0-0AA2452C92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0DB516-055F-F7D8-7D16-E7DB48CC7C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0A2149-13BA-EAC1-8D77-A0DF82B10A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EA0F04-FA53-6A54-918D-FD0B62DEC037}"/>
              </a:ext>
            </a:extLst>
          </p:cNvPr>
          <p:cNvSpPr>
            <a:spLocks noGrp="1"/>
          </p:cNvSpPr>
          <p:nvPr>
            <p:ph type="dt" sz="half" idx="10"/>
          </p:nvPr>
        </p:nvSpPr>
        <p:spPr/>
        <p:txBody>
          <a:bodyPr/>
          <a:lstStyle/>
          <a:p>
            <a:fld id="{E7567F9C-F8D2-46D5-8634-DAD0E8760F80}" type="datetimeFigureOut">
              <a:rPr lang="en-US" smtClean="0"/>
              <a:t>4/19/2025</a:t>
            </a:fld>
            <a:endParaRPr lang="en-US"/>
          </a:p>
        </p:txBody>
      </p:sp>
      <p:sp>
        <p:nvSpPr>
          <p:cNvPr id="8" name="Footer Placeholder 7">
            <a:extLst>
              <a:ext uri="{FF2B5EF4-FFF2-40B4-BE49-F238E27FC236}">
                <a16:creationId xmlns:a16="http://schemas.microsoft.com/office/drawing/2014/main" id="{BB6B13EB-EF11-3E88-32E0-57AFC405BA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62EC2D-EE0B-36B2-07E1-811C68070C34}"/>
              </a:ext>
            </a:extLst>
          </p:cNvPr>
          <p:cNvSpPr>
            <a:spLocks noGrp="1"/>
          </p:cNvSpPr>
          <p:nvPr>
            <p:ph type="sldNum" sz="quarter" idx="12"/>
          </p:nvPr>
        </p:nvSpPr>
        <p:spPr/>
        <p:txBody>
          <a:bodyPr/>
          <a:lstStyle/>
          <a:p>
            <a:fld id="{E18387B3-80DA-4A49-95DA-4A1948EEC3CF}" type="slidenum">
              <a:rPr lang="en-US" smtClean="0"/>
              <a:t>‹#›</a:t>
            </a:fld>
            <a:endParaRPr lang="en-US"/>
          </a:p>
        </p:txBody>
      </p:sp>
    </p:spTree>
    <p:extLst>
      <p:ext uri="{BB962C8B-B14F-4D97-AF65-F5344CB8AC3E}">
        <p14:creationId xmlns:p14="http://schemas.microsoft.com/office/powerpoint/2010/main" val="3415370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39B33-CD83-D97D-E92A-E8B7CB2A1D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C9017C-4A7C-AFE0-9E7C-6E4945FA3B70}"/>
              </a:ext>
            </a:extLst>
          </p:cNvPr>
          <p:cNvSpPr>
            <a:spLocks noGrp="1"/>
          </p:cNvSpPr>
          <p:nvPr>
            <p:ph type="dt" sz="half" idx="10"/>
          </p:nvPr>
        </p:nvSpPr>
        <p:spPr/>
        <p:txBody>
          <a:bodyPr/>
          <a:lstStyle/>
          <a:p>
            <a:fld id="{E7567F9C-F8D2-46D5-8634-DAD0E8760F80}" type="datetimeFigureOut">
              <a:rPr lang="en-US" smtClean="0"/>
              <a:t>4/19/2025</a:t>
            </a:fld>
            <a:endParaRPr lang="en-US"/>
          </a:p>
        </p:txBody>
      </p:sp>
      <p:sp>
        <p:nvSpPr>
          <p:cNvPr id="4" name="Footer Placeholder 3">
            <a:extLst>
              <a:ext uri="{FF2B5EF4-FFF2-40B4-BE49-F238E27FC236}">
                <a16:creationId xmlns:a16="http://schemas.microsoft.com/office/drawing/2014/main" id="{86C87B45-383A-7A72-C541-BE3A5FC363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AA028E-D418-E8D7-1830-1866003D4BD2}"/>
              </a:ext>
            </a:extLst>
          </p:cNvPr>
          <p:cNvSpPr>
            <a:spLocks noGrp="1"/>
          </p:cNvSpPr>
          <p:nvPr>
            <p:ph type="sldNum" sz="quarter" idx="12"/>
          </p:nvPr>
        </p:nvSpPr>
        <p:spPr/>
        <p:txBody>
          <a:bodyPr/>
          <a:lstStyle/>
          <a:p>
            <a:fld id="{E18387B3-80DA-4A49-95DA-4A1948EEC3CF}" type="slidenum">
              <a:rPr lang="en-US" smtClean="0"/>
              <a:t>‹#›</a:t>
            </a:fld>
            <a:endParaRPr lang="en-US"/>
          </a:p>
        </p:txBody>
      </p:sp>
    </p:spTree>
    <p:extLst>
      <p:ext uri="{BB962C8B-B14F-4D97-AF65-F5344CB8AC3E}">
        <p14:creationId xmlns:p14="http://schemas.microsoft.com/office/powerpoint/2010/main" val="1500599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91E0EF-802A-5EB9-24B3-46804F9F8538}"/>
              </a:ext>
            </a:extLst>
          </p:cNvPr>
          <p:cNvSpPr>
            <a:spLocks noGrp="1"/>
          </p:cNvSpPr>
          <p:nvPr>
            <p:ph type="dt" sz="half" idx="10"/>
          </p:nvPr>
        </p:nvSpPr>
        <p:spPr/>
        <p:txBody>
          <a:bodyPr/>
          <a:lstStyle/>
          <a:p>
            <a:fld id="{E7567F9C-F8D2-46D5-8634-DAD0E8760F80}" type="datetimeFigureOut">
              <a:rPr lang="en-US" smtClean="0"/>
              <a:t>4/19/2025</a:t>
            </a:fld>
            <a:endParaRPr lang="en-US"/>
          </a:p>
        </p:txBody>
      </p:sp>
      <p:sp>
        <p:nvSpPr>
          <p:cNvPr id="3" name="Footer Placeholder 2">
            <a:extLst>
              <a:ext uri="{FF2B5EF4-FFF2-40B4-BE49-F238E27FC236}">
                <a16:creationId xmlns:a16="http://schemas.microsoft.com/office/drawing/2014/main" id="{A83D164F-923E-7736-5873-2E1374F3B5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EFE99E-EA38-AB3F-8654-49199BEEFB9B}"/>
              </a:ext>
            </a:extLst>
          </p:cNvPr>
          <p:cNvSpPr>
            <a:spLocks noGrp="1"/>
          </p:cNvSpPr>
          <p:nvPr>
            <p:ph type="sldNum" sz="quarter" idx="12"/>
          </p:nvPr>
        </p:nvSpPr>
        <p:spPr/>
        <p:txBody>
          <a:bodyPr/>
          <a:lstStyle/>
          <a:p>
            <a:fld id="{E18387B3-80DA-4A49-95DA-4A1948EEC3CF}" type="slidenum">
              <a:rPr lang="en-US" smtClean="0"/>
              <a:t>‹#›</a:t>
            </a:fld>
            <a:endParaRPr lang="en-US"/>
          </a:p>
        </p:txBody>
      </p:sp>
    </p:spTree>
    <p:extLst>
      <p:ext uri="{BB962C8B-B14F-4D97-AF65-F5344CB8AC3E}">
        <p14:creationId xmlns:p14="http://schemas.microsoft.com/office/powerpoint/2010/main" val="4273010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309E1-8FC1-30C7-6083-3A455CF15D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AD91EE-91CE-4457-4764-56F85FE448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4CAA4A-C502-5A59-8A9E-F31D66EFEE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E0102C-C64F-6085-C5DA-B2362C28F349}"/>
              </a:ext>
            </a:extLst>
          </p:cNvPr>
          <p:cNvSpPr>
            <a:spLocks noGrp="1"/>
          </p:cNvSpPr>
          <p:nvPr>
            <p:ph type="dt" sz="half" idx="10"/>
          </p:nvPr>
        </p:nvSpPr>
        <p:spPr/>
        <p:txBody>
          <a:bodyPr/>
          <a:lstStyle/>
          <a:p>
            <a:fld id="{E7567F9C-F8D2-46D5-8634-DAD0E8760F80}" type="datetimeFigureOut">
              <a:rPr lang="en-US" smtClean="0"/>
              <a:t>4/19/2025</a:t>
            </a:fld>
            <a:endParaRPr lang="en-US"/>
          </a:p>
        </p:txBody>
      </p:sp>
      <p:sp>
        <p:nvSpPr>
          <p:cNvPr id="6" name="Footer Placeholder 5">
            <a:extLst>
              <a:ext uri="{FF2B5EF4-FFF2-40B4-BE49-F238E27FC236}">
                <a16:creationId xmlns:a16="http://schemas.microsoft.com/office/drawing/2014/main" id="{74647F87-14AC-57D7-19C6-293F30C058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4C05DE-3D89-0AF6-65EF-8E7A0B6685D2}"/>
              </a:ext>
            </a:extLst>
          </p:cNvPr>
          <p:cNvSpPr>
            <a:spLocks noGrp="1"/>
          </p:cNvSpPr>
          <p:nvPr>
            <p:ph type="sldNum" sz="quarter" idx="12"/>
          </p:nvPr>
        </p:nvSpPr>
        <p:spPr/>
        <p:txBody>
          <a:bodyPr/>
          <a:lstStyle/>
          <a:p>
            <a:fld id="{E18387B3-80DA-4A49-95DA-4A1948EEC3CF}" type="slidenum">
              <a:rPr lang="en-US" smtClean="0"/>
              <a:t>‹#›</a:t>
            </a:fld>
            <a:endParaRPr lang="en-US"/>
          </a:p>
        </p:txBody>
      </p:sp>
    </p:spTree>
    <p:extLst>
      <p:ext uri="{BB962C8B-B14F-4D97-AF65-F5344CB8AC3E}">
        <p14:creationId xmlns:p14="http://schemas.microsoft.com/office/powerpoint/2010/main" val="1109455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D093E-D9A2-D242-10E2-3B64C3D08A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70BA35-9C26-C44A-6DD4-E8483662AB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B790AE6-F548-A24B-0F0D-846E8E389E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274C39-7EB2-518C-01D8-DB1A8721155D}"/>
              </a:ext>
            </a:extLst>
          </p:cNvPr>
          <p:cNvSpPr>
            <a:spLocks noGrp="1"/>
          </p:cNvSpPr>
          <p:nvPr>
            <p:ph type="dt" sz="half" idx="10"/>
          </p:nvPr>
        </p:nvSpPr>
        <p:spPr/>
        <p:txBody>
          <a:bodyPr/>
          <a:lstStyle/>
          <a:p>
            <a:fld id="{E7567F9C-F8D2-46D5-8634-DAD0E8760F80}" type="datetimeFigureOut">
              <a:rPr lang="en-US" smtClean="0"/>
              <a:t>4/19/2025</a:t>
            </a:fld>
            <a:endParaRPr lang="en-US"/>
          </a:p>
        </p:txBody>
      </p:sp>
      <p:sp>
        <p:nvSpPr>
          <p:cNvPr id="6" name="Footer Placeholder 5">
            <a:extLst>
              <a:ext uri="{FF2B5EF4-FFF2-40B4-BE49-F238E27FC236}">
                <a16:creationId xmlns:a16="http://schemas.microsoft.com/office/drawing/2014/main" id="{769E0A10-812B-CC71-A504-C19E2FB7B2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4D9447-C39F-0D88-A997-FDD6C2A98F5C}"/>
              </a:ext>
            </a:extLst>
          </p:cNvPr>
          <p:cNvSpPr>
            <a:spLocks noGrp="1"/>
          </p:cNvSpPr>
          <p:nvPr>
            <p:ph type="sldNum" sz="quarter" idx="12"/>
          </p:nvPr>
        </p:nvSpPr>
        <p:spPr/>
        <p:txBody>
          <a:bodyPr/>
          <a:lstStyle/>
          <a:p>
            <a:fld id="{E18387B3-80DA-4A49-95DA-4A1948EEC3CF}" type="slidenum">
              <a:rPr lang="en-US" smtClean="0"/>
              <a:t>‹#›</a:t>
            </a:fld>
            <a:endParaRPr lang="en-US"/>
          </a:p>
        </p:txBody>
      </p:sp>
    </p:spTree>
    <p:extLst>
      <p:ext uri="{BB962C8B-B14F-4D97-AF65-F5344CB8AC3E}">
        <p14:creationId xmlns:p14="http://schemas.microsoft.com/office/powerpoint/2010/main" val="1621318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1686-4237-9E40-B8BA-420905114B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D36A69-B400-F314-2A26-C1C7E667B7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AAED5E-94C2-C053-5C6C-3FE812AA1505}"/>
              </a:ext>
            </a:extLst>
          </p:cNvPr>
          <p:cNvSpPr>
            <a:spLocks noGrp="1"/>
          </p:cNvSpPr>
          <p:nvPr>
            <p:ph type="dt" sz="half" idx="10"/>
          </p:nvPr>
        </p:nvSpPr>
        <p:spPr/>
        <p:txBody>
          <a:bodyPr/>
          <a:lstStyle/>
          <a:p>
            <a:fld id="{E7567F9C-F8D2-46D5-8634-DAD0E8760F80}" type="datetimeFigureOut">
              <a:rPr lang="en-US" smtClean="0"/>
              <a:t>4/19/2025</a:t>
            </a:fld>
            <a:endParaRPr lang="en-US"/>
          </a:p>
        </p:txBody>
      </p:sp>
      <p:sp>
        <p:nvSpPr>
          <p:cNvPr id="5" name="Footer Placeholder 4">
            <a:extLst>
              <a:ext uri="{FF2B5EF4-FFF2-40B4-BE49-F238E27FC236}">
                <a16:creationId xmlns:a16="http://schemas.microsoft.com/office/drawing/2014/main" id="{1036FCBD-1CD0-D9DE-5C8C-E2DEF226B6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F36EA8-0F87-E059-877A-0D376F6A20B7}"/>
              </a:ext>
            </a:extLst>
          </p:cNvPr>
          <p:cNvSpPr>
            <a:spLocks noGrp="1"/>
          </p:cNvSpPr>
          <p:nvPr>
            <p:ph type="sldNum" sz="quarter" idx="12"/>
          </p:nvPr>
        </p:nvSpPr>
        <p:spPr/>
        <p:txBody>
          <a:bodyPr/>
          <a:lstStyle/>
          <a:p>
            <a:fld id="{E18387B3-80DA-4A49-95DA-4A1948EEC3CF}" type="slidenum">
              <a:rPr lang="en-US" smtClean="0"/>
              <a:t>‹#›</a:t>
            </a:fld>
            <a:endParaRPr lang="en-US"/>
          </a:p>
        </p:txBody>
      </p:sp>
    </p:spTree>
    <p:extLst>
      <p:ext uri="{BB962C8B-B14F-4D97-AF65-F5344CB8AC3E}">
        <p14:creationId xmlns:p14="http://schemas.microsoft.com/office/powerpoint/2010/main" val="3057210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1D46D0-54F4-D37E-D4B3-07DEFA15E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338981-B22F-7218-3509-6F518F7F04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6DAC68-E42D-5E71-283A-49603F34281C}"/>
              </a:ext>
            </a:extLst>
          </p:cNvPr>
          <p:cNvSpPr>
            <a:spLocks noGrp="1"/>
          </p:cNvSpPr>
          <p:nvPr>
            <p:ph type="dt" sz="half" idx="10"/>
          </p:nvPr>
        </p:nvSpPr>
        <p:spPr/>
        <p:txBody>
          <a:bodyPr/>
          <a:lstStyle/>
          <a:p>
            <a:fld id="{E7567F9C-F8D2-46D5-8634-DAD0E8760F80}" type="datetimeFigureOut">
              <a:rPr lang="en-US" smtClean="0"/>
              <a:t>4/19/2025</a:t>
            </a:fld>
            <a:endParaRPr lang="en-US"/>
          </a:p>
        </p:txBody>
      </p:sp>
      <p:sp>
        <p:nvSpPr>
          <p:cNvPr id="5" name="Footer Placeholder 4">
            <a:extLst>
              <a:ext uri="{FF2B5EF4-FFF2-40B4-BE49-F238E27FC236}">
                <a16:creationId xmlns:a16="http://schemas.microsoft.com/office/drawing/2014/main" id="{7BB7885C-6FCB-D6E5-7311-B265D0248D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DA6787-0542-288F-D1B8-592F171DDB3F}"/>
              </a:ext>
            </a:extLst>
          </p:cNvPr>
          <p:cNvSpPr>
            <a:spLocks noGrp="1"/>
          </p:cNvSpPr>
          <p:nvPr>
            <p:ph type="sldNum" sz="quarter" idx="12"/>
          </p:nvPr>
        </p:nvSpPr>
        <p:spPr/>
        <p:txBody>
          <a:bodyPr/>
          <a:lstStyle/>
          <a:p>
            <a:fld id="{E18387B3-80DA-4A49-95DA-4A1948EEC3CF}" type="slidenum">
              <a:rPr lang="en-US" smtClean="0"/>
              <a:t>‹#›</a:t>
            </a:fld>
            <a:endParaRPr lang="en-US"/>
          </a:p>
        </p:txBody>
      </p:sp>
    </p:spTree>
    <p:extLst>
      <p:ext uri="{BB962C8B-B14F-4D97-AF65-F5344CB8AC3E}">
        <p14:creationId xmlns:p14="http://schemas.microsoft.com/office/powerpoint/2010/main" val="3697735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5CCD6F-7FE3-F25C-A02C-1F48790281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652935-B292-5C2E-D7E8-FAF3D7405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6E0AB2-116D-2FE5-87E9-0CE480DBB1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567F9C-F8D2-46D5-8634-DAD0E8760F80}" type="datetimeFigureOut">
              <a:rPr lang="en-US" smtClean="0"/>
              <a:t>4/19/2025</a:t>
            </a:fld>
            <a:endParaRPr lang="en-US"/>
          </a:p>
        </p:txBody>
      </p:sp>
      <p:sp>
        <p:nvSpPr>
          <p:cNvPr id="5" name="Footer Placeholder 4">
            <a:extLst>
              <a:ext uri="{FF2B5EF4-FFF2-40B4-BE49-F238E27FC236}">
                <a16:creationId xmlns:a16="http://schemas.microsoft.com/office/drawing/2014/main" id="{A8A642CE-70AC-9547-B586-730F067E82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A77CB89-8A89-6403-0059-B340FE7ED8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8387B3-80DA-4A49-95DA-4A1948EEC3CF}" type="slidenum">
              <a:rPr lang="en-US" smtClean="0"/>
              <a:t>‹#›</a:t>
            </a:fld>
            <a:endParaRPr lang="en-US"/>
          </a:p>
        </p:txBody>
      </p:sp>
    </p:spTree>
    <p:extLst>
      <p:ext uri="{BB962C8B-B14F-4D97-AF65-F5344CB8AC3E}">
        <p14:creationId xmlns:p14="http://schemas.microsoft.com/office/powerpoint/2010/main" val="4093516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luu.p.loi@google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2A02B-7886-2A52-58BB-C252E6E77848}"/>
              </a:ext>
            </a:extLst>
          </p:cNvPr>
          <p:cNvSpPr>
            <a:spLocks noGrp="1"/>
          </p:cNvSpPr>
          <p:nvPr>
            <p:ph type="ctrTitle"/>
          </p:nvPr>
        </p:nvSpPr>
        <p:spPr/>
        <p:txBody>
          <a:bodyPr>
            <a:normAutofit/>
          </a:bodyPr>
          <a:lstStyle/>
          <a:p>
            <a:r>
              <a:rPr lang="en-GB" sz="8800" b="1" dirty="0"/>
              <a:t>Review OMICs 2025</a:t>
            </a:r>
            <a:endParaRPr lang="en-US" sz="8800" b="1" dirty="0"/>
          </a:p>
        </p:txBody>
      </p:sp>
      <p:sp>
        <p:nvSpPr>
          <p:cNvPr id="3" name="Subtitle 2">
            <a:extLst>
              <a:ext uri="{FF2B5EF4-FFF2-40B4-BE49-F238E27FC236}">
                <a16:creationId xmlns:a16="http://schemas.microsoft.com/office/drawing/2014/main" id="{82B606CC-9E49-5A35-024C-63FFBC9E5BDE}"/>
              </a:ext>
            </a:extLst>
          </p:cNvPr>
          <p:cNvSpPr>
            <a:spLocks noGrp="1"/>
          </p:cNvSpPr>
          <p:nvPr>
            <p:ph type="subTitle" idx="1"/>
          </p:nvPr>
        </p:nvSpPr>
        <p:spPr>
          <a:xfrm>
            <a:off x="1477992" y="4235150"/>
            <a:ext cx="9144000" cy="1655762"/>
          </a:xfrm>
        </p:spPr>
        <p:txBody>
          <a:bodyPr>
            <a:normAutofit lnSpcReduction="10000"/>
          </a:bodyPr>
          <a:lstStyle/>
          <a:p>
            <a:r>
              <a:rPr lang="en-GB" dirty="0"/>
              <a:t>Phuc Loi Luu, PhD</a:t>
            </a:r>
          </a:p>
          <a:p>
            <a:r>
              <a:rPr lang="en-GB" dirty="0"/>
              <a:t>Email: </a:t>
            </a:r>
            <a:r>
              <a:rPr lang="en-GB" dirty="0">
                <a:hlinkClick r:id="rId2"/>
              </a:rPr>
              <a:t>luu.p.loi@googlemail.com</a:t>
            </a:r>
            <a:endParaRPr lang="en-GB" dirty="0"/>
          </a:p>
          <a:p>
            <a:r>
              <a:rPr lang="en-GB" dirty="0" err="1"/>
              <a:t>Zalo</a:t>
            </a:r>
            <a:r>
              <a:rPr lang="en-GB" dirty="0"/>
              <a:t>: 0901802182</a:t>
            </a:r>
          </a:p>
          <a:p>
            <a:r>
              <a:rPr lang="en-GB" dirty="0"/>
              <a:t>April 19 2025</a:t>
            </a:r>
            <a:endParaRPr lang="en-US" dirty="0"/>
          </a:p>
        </p:txBody>
      </p:sp>
    </p:spTree>
    <p:extLst>
      <p:ext uri="{BB962C8B-B14F-4D97-AF65-F5344CB8AC3E}">
        <p14:creationId xmlns:p14="http://schemas.microsoft.com/office/powerpoint/2010/main" val="3733115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8B903-6780-43C9-E155-8ABFEE87F078}"/>
              </a:ext>
            </a:extLst>
          </p:cNvPr>
          <p:cNvSpPr>
            <a:spLocks noGrp="1"/>
          </p:cNvSpPr>
          <p:nvPr>
            <p:ph type="title"/>
          </p:nvPr>
        </p:nvSpPr>
        <p:spPr/>
        <p:txBody>
          <a:bodyPr/>
          <a:lstStyle/>
          <a:p>
            <a:r>
              <a:rPr lang="en-GB" b="1" dirty="0"/>
              <a:t>Content</a:t>
            </a:r>
            <a:endParaRPr lang="en-US" b="1" dirty="0"/>
          </a:p>
        </p:txBody>
      </p:sp>
      <p:sp>
        <p:nvSpPr>
          <p:cNvPr id="3" name="Content Placeholder 2">
            <a:extLst>
              <a:ext uri="{FF2B5EF4-FFF2-40B4-BE49-F238E27FC236}">
                <a16:creationId xmlns:a16="http://schemas.microsoft.com/office/drawing/2014/main" id="{3C0082DF-B3E3-8099-B10B-3AF92ECA9375}"/>
              </a:ext>
            </a:extLst>
          </p:cNvPr>
          <p:cNvSpPr>
            <a:spLocks noGrp="1"/>
          </p:cNvSpPr>
          <p:nvPr>
            <p:ph idx="1"/>
          </p:nvPr>
        </p:nvSpPr>
        <p:spPr/>
        <p:txBody>
          <a:bodyPr/>
          <a:lstStyle/>
          <a:p>
            <a:r>
              <a:rPr lang="en-GB" dirty="0"/>
              <a:t>DNA-</a:t>
            </a:r>
            <a:r>
              <a:rPr lang="en-GB" dirty="0" err="1"/>
              <a:t>seq</a:t>
            </a:r>
            <a:endParaRPr lang="en-GB" dirty="0"/>
          </a:p>
          <a:p>
            <a:r>
              <a:rPr lang="en-GB" dirty="0"/>
              <a:t>Bulk RNA-</a:t>
            </a:r>
            <a:r>
              <a:rPr lang="en-GB" dirty="0" err="1"/>
              <a:t>seq</a:t>
            </a:r>
            <a:endParaRPr lang="en-GB" dirty="0"/>
          </a:p>
          <a:p>
            <a:r>
              <a:rPr lang="en-GB" dirty="0"/>
              <a:t>Histone modifications</a:t>
            </a:r>
          </a:p>
          <a:p>
            <a:r>
              <a:rPr lang="en-GB" dirty="0"/>
              <a:t>DNA methylation</a:t>
            </a:r>
          </a:p>
          <a:p>
            <a:r>
              <a:rPr lang="en-GB" dirty="0"/>
              <a:t>Integration Analysis</a:t>
            </a:r>
            <a:endParaRPr lang="en-US" dirty="0"/>
          </a:p>
        </p:txBody>
      </p:sp>
    </p:spTree>
    <p:extLst>
      <p:ext uri="{BB962C8B-B14F-4D97-AF65-F5344CB8AC3E}">
        <p14:creationId xmlns:p14="http://schemas.microsoft.com/office/powerpoint/2010/main" val="3475885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234C1-701E-8501-E40D-E7425161747C}"/>
              </a:ext>
            </a:extLst>
          </p:cNvPr>
          <p:cNvSpPr>
            <a:spLocks noGrp="1"/>
          </p:cNvSpPr>
          <p:nvPr>
            <p:ph type="title"/>
          </p:nvPr>
        </p:nvSpPr>
        <p:spPr/>
        <p:txBody>
          <a:bodyPr>
            <a:normAutofit/>
          </a:bodyPr>
          <a:lstStyle/>
          <a:p>
            <a:r>
              <a:rPr lang="en-GB" sz="6000" b="1" dirty="0"/>
              <a:t>DNA-</a:t>
            </a:r>
            <a:r>
              <a:rPr lang="en-GB" sz="6000" b="1" dirty="0" err="1"/>
              <a:t>seq</a:t>
            </a:r>
            <a:endParaRPr lang="en-US" sz="6000" b="1" dirty="0"/>
          </a:p>
        </p:txBody>
      </p:sp>
      <p:pic>
        <p:nvPicPr>
          <p:cNvPr id="2050" name="Picture 2">
            <a:extLst>
              <a:ext uri="{FF2B5EF4-FFF2-40B4-BE49-F238E27FC236}">
                <a16:creationId xmlns:a16="http://schemas.microsoft.com/office/drawing/2014/main" id="{9C48BF11-BB7E-DEDB-0821-6C992A69507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5671" y="1534611"/>
            <a:ext cx="7780658" cy="4665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022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4EDFB62-E6DF-DFD6-1E57-768C6256377B}"/>
              </a:ext>
            </a:extLst>
          </p:cNvPr>
          <p:cNvSpPr txBox="1">
            <a:spLocks/>
          </p:cNvSpPr>
          <p:nvPr/>
        </p:nvSpPr>
        <p:spPr>
          <a:xfrm>
            <a:off x="387818" y="1785257"/>
            <a:ext cx="11103593" cy="34039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lvl="1"/>
            <a:r>
              <a:rPr lang="en-US" sz="5400" b="1" dirty="0">
                <a:solidFill>
                  <a:srgbClr val="7030A0"/>
                </a:solidFill>
                <a:latin typeface="Calibri Light" panose="020F0302020204030204" pitchFamily="34" charset="0"/>
              </a:rPr>
              <a:t>Quy </a:t>
            </a:r>
            <a:r>
              <a:rPr lang="en-US" sz="5400" b="1" dirty="0" err="1">
                <a:solidFill>
                  <a:srgbClr val="7030A0"/>
                </a:solidFill>
                <a:latin typeface="Calibri Light" panose="020F0302020204030204" pitchFamily="34" charset="0"/>
              </a:rPr>
              <a:t>trình</a:t>
            </a:r>
            <a:r>
              <a:rPr lang="en-US" sz="5400" b="1" dirty="0">
                <a:solidFill>
                  <a:srgbClr val="7030A0"/>
                </a:solidFill>
                <a:latin typeface="Calibri Light" panose="020F0302020204030204" pitchFamily="34" charset="0"/>
              </a:rPr>
              <a:t> </a:t>
            </a:r>
            <a:r>
              <a:rPr lang="vi-VN" sz="5400" b="1" i="0" dirty="0">
                <a:solidFill>
                  <a:schemeClr val="accent2"/>
                </a:solidFill>
                <a:effectLst/>
                <a:latin typeface="Calibri Light" panose="020F0302020204030204" pitchFamily="34" charset="0"/>
              </a:rPr>
              <a:t>XÉT NGHIỆM </a:t>
            </a:r>
            <a:r>
              <a:rPr lang="en-US" sz="5400" b="1" dirty="0">
                <a:solidFill>
                  <a:srgbClr val="7030A0"/>
                </a:solidFill>
                <a:latin typeface="Calibri Light" panose="020F0302020204030204" pitchFamily="34" charset="0"/>
              </a:rPr>
              <a:t>gen </a:t>
            </a:r>
            <a:r>
              <a:rPr lang="en-US" sz="5400" b="1" dirty="0" err="1">
                <a:solidFill>
                  <a:srgbClr val="7030A0"/>
                </a:solidFill>
                <a:latin typeface="Calibri Light" panose="020F0302020204030204" pitchFamily="34" charset="0"/>
              </a:rPr>
              <a:t>bằng</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phương</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pháp</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giải</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trình</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tự</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thế</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hệ</a:t>
            </a:r>
            <a:r>
              <a:rPr lang="en-US" sz="5400" b="1" dirty="0">
                <a:solidFill>
                  <a:srgbClr val="7030A0"/>
                </a:solidFill>
                <a:latin typeface="Calibri Light" panose="020F0302020204030204" pitchFamily="34" charset="0"/>
              </a:rPr>
              <a:t> </a:t>
            </a:r>
            <a:r>
              <a:rPr lang="en-US" sz="5400" b="1" dirty="0" err="1">
                <a:solidFill>
                  <a:srgbClr val="7030A0"/>
                </a:solidFill>
                <a:latin typeface="Calibri Light" panose="020F0302020204030204" pitchFamily="34" charset="0"/>
              </a:rPr>
              <a:t>mới</a:t>
            </a:r>
            <a:r>
              <a:rPr lang="en-US" sz="5400" b="1" dirty="0">
                <a:solidFill>
                  <a:srgbClr val="7030A0"/>
                </a:solidFill>
                <a:latin typeface="Calibri Light" panose="020F0302020204030204" pitchFamily="34" charset="0"/>
              </a:rPr>
              <a:t> (NGS)</a:t>
            </a:r>
          </a:p>
        </p:txBody>
      </p:sp>
    </p:spTree>
    <p:extLst>
      <p:ext uri="{BB962C8B-B14F-4D97-AF65-F5344CB8AC3E}">
        <p14:creationId xmlns:p14="http://schemas.microsoft.com/office/powerpoint/2010/main" val="3129478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1044F-6B55-F9C9-BF68-51966B313FC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1F3EE46-C52B-68BF-3391-A9EA2D405853}"/>
              </a:ext>
            </a:extLst>
          </p:cNvPr>
          <p:cNvPicPr>
            <a:picLocks noChangeAspect="1"/>
          </p:cNvPicPr>
          <p:nvPr/>
        </p:nvPicPr>
        <p:blipFill>
          <a:blip r:embed="rId2"/>
          <a:stretch>
            <a:fillRect/>
          </a:stretch>
        </p:blipFill>
        <p:spPr>
          <a:xfrm>
            <a:off x="1348426" y="605111"/>
            <a:ext cx="9851571" cy="4916734"/>
          </a:xfrm>
          <a:prstGeom prst="rect">
            <a:avLst/>
          </a:prstGeom>
        </p:spPr>
      </p:pic>
      <p:sp>
        <p:nvSpPr>
          <p:cNvPr id="3" name="Title 1">
            <a:extLst>
              <a:ext uri="{FF2B5EF4-FFF2-40B4-BE49-F238E27FC236}">
                <a16:creationId xmlns:a16="http://schemas.microsoft.com/office/drawing/2014/main" id="{11CE5251-8194-462A-A878-5CBF569F8BAF}"/>
              </a:ext>
            </a:extLst>
          </p:cNvPr>
          <p:cNvSpPr txBox="1">
            <a:spLocks/>
          </p:cNvSpPr>
          <p:nvPr/>
        </p:nvSpPr>
        <p:spPr>
          <a:xfrm>
            <a:off x="987899" y="605111"/>
            <a:ext cx="10398457" cy="520700"/>
          </a:xfrm>
          <a:prstGeom prst="rect">
            <a:avLst/>
          </a:prstGeom>
          <a:solidFill>
            <a:schemeClr val="bg1"/>
          </a:solidFill>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i="0" dirty="0" err="1">
                <a:solidFill>
                  <a:srgbClr val="7030A0"/>
                </a:solidFill>
                <a:effectLst/>
                <a:latin typeface="Calibri Light" panose="020F0302020204030204" pitchFamily="34" charset="0"/>
              </a:rPr>
              <a:t>Các</a:t>
            </a:r>
            <a:r>
              <a:rPr lang="en-US" sz="3200" b="1" i="0" dirty="0">
                <a:solidFill>
                  <a:srgbClr val="7030A0"/>
                </a:solidFill>
                <a:effectLst/>
                <a:latin typeface="Calibri Light" panose="020F0302020204030204" pitchFamily="34" charset="0"/>
              </a:rPr>
              <a:t> </a:t>
            </a:r>
            <a:r>
              <a:rPr lang="en-US" sz="3200" b="1" i="0" dirty="0" err="1">
                <a:solidFill>
                  <a:srgbClr val="7030A0"/>
                </a:solidFill>
                <a:effectLst/>
                <a:latin typeface="Calibri Light" panose="020F0302020204030204" pitchFamily="34" charset="0"/>
              </a:rPr>
              <a:t>bước</a:t>
            </a:r>
            <a:r>
              <a:rPr lang="en-US" sz="3200" b="1" i="0" dirty="0">
                <a:solidFill>
                  <a:srgbClr val="7030A0"/>
                </a:solidFill>
                <a:effectLst/>
                <a:latin typeface="Calibri Light" panose="020F0302020204030204" pitchFamily="34" charset="0"/>
              </a:rPr>
              <a:t> </a:t>
            </a:r>
            <a:r>
              <a:rPr lang="en-US" sz="3200" b="1" i="0" dirty="0" err="1">
                <a:solidFill>
                  <a:srgbClr val="7030A0"/>
                </a:solidFill>
                <a:effectLst/>
                <a:latin typeface="Calibri Light" panose="020F0302020204030204" pitchFamily="34" charset="0"/>
              </a:rPr>
              <a:t>trong</a:t>
            </a:r>
            <a:r>
              <a:rPr lang="en-US" sz="3200" b="1" i="0" dirty="0">
                <a:solidFill>
                  <a:srgbClr val="7030A0"/>
                </a:solidFill>
                <a:effectLst/>
                <a:latin typeface="Calibri Light" panose="020F0302020204030204" pitchFamily="34" charset="0"/>
              </a:rPr>
              <a:t> </a:t>
            </a:r>
            <a:r>
              <a:rPr lang="vi-VN" sz="3200" b="1" i="0" dirty="0">
                <a:solidFill>
                  <a:srgbClr val="7030A0"/>
                </a:solidFill>
                <a:effectLst/>
                <a:latin typeface="Calibri Light" panose="020F0302020204030204" pitchFamily="34" charset="0"/>
              </a:rPr>
              <a:t>XÉT NGHIỆM </a:t>
            </a:r>
            <a:r>
              <a:rPr lang="en-US" sz="3200" b="1" dirty="0">
                <a:solidFill>
                  <a:srgbClr val="7030A0"/>
                </a:solidFill>
                <a:latin typeface="Calibri Light" panose="020F0302020204030204" pitchFamily="34" charset="0"/>
              </a:rPr>
              <a:t>gen </a:t>
            </a:r>
            <a:r>
              <a:rPr lang="en-US" sz="3200" b="1" dirty="0" err="1">
                <a:solidFill>
                  <a:srgbClr val="7030A0"/>
                </a:solidFill>
                <a:latin typeface="Calibri Light" panose="020F0302020204030204" pitchFamily="34" charset="0"/>
              </a:rPr>
              <a:t>bằng</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phương</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pháp</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giải</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trình</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tự</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thế</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hệ</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mới</a:t>
            </a:r>
            <a:r>
              <a:rPr lang="en-US" sz="3200" b="1" dirty="0">
                <a:solidFill>
                  <a:srgbClr val="7030A0"/>
                </a:solidFill>
                <a:latin typeface="Calibri Light" panose="020F0302020204030204" pitchFamily="34" charset="0"/>
              </a:rPr>
              <a:t> (1)</a:t>
            </a:r>
            <a:endParaRPr lang="en-US" sz="3200" b="1" dirty="0">
              <a:solidFill>
                <a:srgbClr val="7030A0"/>
              </a:solidFill>
            </a:endParaRPr>
          </a:p>
        </p:txBody>
      </p:sp>
    </p:spTree>
    <p:extLst>
      <p:ext uri="{BB962C8B-B14F-4D97-AF65-F5344CB8AC3E}">
        <p14:creationId xmlns:p14="http://schemas.microsoft.com/office/powerpoint/2010/main" val="953201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32435-8A42-304C-DDF8-46E80DE17070}"/>
              </a:ext>
            </a:extLst>
          </p:cNvPr>
          <p:cNvSpPr>
            <a:spLocks noGrp="1"/>
          </p:cNvSpPr>
          <p:nvPr>
            <p:ph type="title"/>
          </p:nvPr>
        </p:nvSpPr>
        <p:spPr>
          <a:xfrm>
            <a:off x="838200" y="365126"/>
            <a:ext cx="10515600" cy="797248"/>
          </a:xfrm>
        </p:spPr>
        <p:txBody>
          <a:bodyPr>
            <a:normAutofit fontScale="90000"/>
          </a:bodyPr>
          <a:lstStyle/>
          <a:p>
            <a:r>
              <a:rPr lang="en-US" b="1" dirty="0"/>
              <a:t>Whole genome sequencing – Shotgun Library Prep</a:t>
            </a:r>
          </a:p>
        </p:txBody>
      </p:sp>
      <p:pic>
        <p:nvPicPr>
          <p:cNvPr id="4" name="Picture 3">
            <a:extLst>
              <a:ext uri="{FF2B5EF4-FFF2-40B4-BE49-F238E27FC236}">
                <a16:creationId xmlns:a16="http://schemas.microsoft.com/office/drawing/2014/main" id="{CD5F0981-B616-5F44-9074-6CCB23213A54}"/>
              </a:ext>
            </a:extLst>
          </p:cNvPr>
          <p:cNvPicPr>
            <a:picLocks noChangeAspect="1"/>
          </p:cNvPicPr>
          <p:nvPr/>
        </p:nvPicPr>
        <p:blipFill>
          <a:blip r:embed="rId2"/>
          <a:stretch>
            <a:fillRect/>
          </a:stretch>
        </p:blipFill>
        <p:spPr>
          <a:xfrm>
            <a:off x="1310373" y="1269490"/>
            <a:ext cx="9571253" cy="5257449"/>
          </a:xfrm>
          <a:prstGeom prst="rect">
            <a:avLst/>
          </a:prstGeom>
        </p:spPr>
      </p:pic>
      <p:sp>
        <p:nvSpPr>
          <p:cNvPr id="3" name="TextBox 2">
            <a:extLst>
              <a:ext uri="{FF2B5EF4-FFF2-40B4-BE49-F238E27FC236}">
                <a16:creationId xmlns:a16="http://schemas.microsoft.com/office/drawing/2014/main" id="{48B9350A-A01F-FBC1-4221-C2233CC6273E}"/>
              </a:ext>
            </a:extLst>
          </p:cNvPr>
          <p:cNvSpPr txBox="1"/>
          <p:nvPr/>
        </p:nvSpPr>
        <p:spPr>
          <a:xfrm>
            <a:off x="838200" y="1450994"/>
            <a:ext cx="2392311" cy="1384995"/>
          </a:xfrm>
          <a:prstGeom prst="rect">
            <a:avLst/>
          </a:prstGeom>
          <a:solidFill>
            <a:schemeClr val="bg1"/>
          </a:solidFill>
        </p:spPr>
        <p:txBody>
          <a:bodyPr wrap="square" rtlCol="0">
            <a:spAutoFit/>
          </a:bodyPr>
          <a:lstStyle/>
          <a:p>
            <a:endParaRPr lang="en-GB" sz="2800" b="1" dirty="0">
              <a:latin typeface="+mj-lt"/>
            </a:endParaRPr>
          </a:p>
          <a:p>
            <a:r>
              <a:rPr lang="en-GB" sz="2800" b="1" dirty="0">
                <a:latin typeface="+mj-lt"/>
              </a:rPr>
              <a:t>Genomics DNA</a:t>
            </a:r>
          </a:p>
          <a:p>
            <a:r>
              <a:rPr lang="en-GB" sz="2800" b="1" dirty="0">
                <a:latin typeface="+mj-lt"/>
              </a:rPr>
              <a:t> </a:t>
            </a:r>
            <a:endParaRPr lang="en-US" sz="2800" b="1" dirty="0">
              <a:latin typeface="+mj-lt"/>
            </a:endParaRPr>
          </a:p>
        </p:txBody>
      </p:sp>
      <p:sp>
        <p:nvSpPr>
          <p:cNvPr id="5" name="TextBox 4">
            <a:extLst>
              <a:ext uri="{FF2B5EF4-FFF2-40B4-BE49-F238E27FC236}">
                <a16:creationId xmlns:a16="http://schemas.microsoft.com/office/drawing/2014/main" id="{D05A90A9-4CA0-7C80-6200-C7045483A0AE}"/>
              </a:ext>
            </a:extLst>
          </p:cNvPr>
          <p:cNvSpPr txBox="1"/>
          <p:nvPr/>
        </p:nvSpPr>
        <p:spPr>
          <a:xfrm>
            <a:off x="3679502" y="1450994"/>
            <a:ext cx="596824"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602630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1044F-6B55-F9C9-BF68-51966B313FC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06C2E5A-CE1C-96D8-7F37-D197931FF6D0}"/>
              </a:ext>
            </a:extLst>
          </p:cNvPr>
          <p:cNvPicPr>
            <a:picLocks noChangeAspect="1"/>
          </p:cNvPicPr>
          <p:nvPr/>
        </p:nvPicPr>
        <p:blipFill>
          <a:blip r:embed="rId2"/>
          <a:stretch>
            <a:fillRect/>
          </a:stretch>
        </p:blipFill>
        <p:spPr>
          <a:xfrm>
            <a:off x="112772" y="148973"/>
            <a:ext cx="11957221" cy="6522366"/>
          </a:xfrm>
          <a:prstGeom prst="rect">
            <a:avLst/>
          </a:prstGeom>
        </p:spPr>
      </p:pic>
      <p:sp>
        <p:nvSpPr>
          <p:cNvPr id="3" name="Title 1">
            <a:extLst>
              <a:ext uri="{FF2B5EF4-FFF2-40B4-BE49-F238E27FC236}">
                <a16:creationId xmlns:a16="http://schemas.microsoft.com/office/drawing/2014/main" id="{11CE5251-8194-462A-A878-5CBF569F8BAF}"/>
              </a:ext>
            </a:extLst>
          </p:cNvPr>
          <p:cNvSpPr txBox="1">
            <a:spLocks/>
          </p:cNvSpPr>
          <p:nvPr/>
        </p:nvSpPr>
        <p:spPr>
          <a:xfrm>
            <a:off x="711200" y="235191"/>
            <a:ext cx="10682513" cy="520700"/>
          </a:xfrm>
          <a:prstGeom prst="rect">
            <a:avLst/>
          </a:prstGeom>
          <a:solidFill>
            <a:schemeClr val="bg1"/>
          </a:solidFill>
        </p:spPr>
        <p:txBody>
          <a:bodyPr vert="horz" lIns="91440" tIns="45720" rIns="91440" bIns="45720" rtlCol="0" anchor="b">
            <a:normAutofit fontScale="8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i="0" dirty="0" err="1">
                <a:solidFill>
                  <a:srgbClr val="7030A0"/>
                </a:solidFill>
                <a:effectLst/>
                <a:latin typeface="Calibri Light" panose="020F0302020204030204" pitchFamily="34" charset="0"/>
              </a:rPr>
              <a:t>Các</a:t>
            </a:r>
            <a:r>
              <a:rPr lang="en-US" sz="3200" b="1" i="0" dirty="0">
                <a:solidFill>
                  <a:srgbClr val="7030A0"/>
                </a:solidFill>
                <a:effectLst/>
                <a:latin typeface="Calibri Light" panose="020F0302020204030204" pitchFamily="34" charset="0"/>
              </a:rPr>
              <a:t> </a:t>
            </a:r>
            <a:r>
              <a:rPr lang="en-US" sz="3200" b="1" i="0" dirty="0" err="1">
                <a:solidFill>
                  <a:srgbClr val="7030A0"/>
                </a:solidFill>
                <a:effectLst/>
                <a:latin typeface="Calibri Light" panose="020F0302020204030204" pitchFamily="34" charset="0"/>
              </a:rPr>
              <a:t>bước</a:t>
            </a:r>
            <a:r>
              <a:rPr lang="en-US" sz="3200" b="1" i="0" dirty="0">
                <a:solidFill>
                  <a:srgbClr val="7030A0"/>
                </a:solidFill>
                <a:effectLst/>
                <a:latin typeface="Calibri Light" panose="020F0302020204030204" pitchFamily="34" charset="0"/>
              </a:rPr>
              <a:t> </a:t>
            </a:r>
            <a:r>
              <a:rPr lang="en-US" sz="3200" b="1" i="0" dirty="0" err="1">
                <a:solidFill>
                  <a:srgbClr val="7030A0"/>
                </a:solidFill>
                <a:effectLst/>
                <a:latin typeface="Calibri Light" panose="020F0302020204030204" pitchFamily="34" charset="0"/>
              </a:rPr>
              <a:t>trong</a:t>
            </a:r>
            <a:r>
              <a:rPr lang="en-US" sz="3200" b="1" i="0" dirty="0">
                <a:solidFill>
                  <a:srgbClr val="7030A0"/>
                </a:solidFill>
                <a:effectLst/>
                <a:latin typeface="Calibri Light" panose="020F0302020204030204" pitchFamily="34" charset="0"/>
              </a:rPr>
              <a:t> </a:t>
            </a:r>
            <a:r>
              <a:rPr lang="vi-VN" sz="3200" b="1" i="0" dirty="0">
                <a:solidFill>
                  <a:srgbClr val="7030A0"/>
                </a:solidFill>
                <a:effectLst/>
                <a:latin typeface="Calibri Light" panose="020F0302020204030204" pitchFamily="34" charset="0"/>
              </a:rPr>
              <a:t>XÉT NGHIỆM </a:t>
            </a:r>
            <a:r>
              <a:rPr lang="en-US" sz="3200" b="1" dirty="0">
                <a:solidFill>
                  <a:srgbClr val="7030A0"/>
                </a:solidFill>
                <a:latin typeface="Calibri Light" panose="020F0302020204030204" pitchFamily="34" charset="0"/>
              </a:rPr>
              <a:t>gen </a:t>
            </a:r>
            <a:r>
              <a:rPr lang="en-US" sz="3200" b="1" dirty="0" err="1">
                <a:solidFill>
                  <a:srgbClr val="7030A0"/>
                </a:solidFill>
                <a:latin typeface="Calibri Light" panose="020F0302020204030204" pitchFamily="34" charset="0"/>
              </a:rPr>
              <a:t>bằng</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phương</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pháp</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giải</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trình</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tự</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thế</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hệ</a:t>
            </a:r>
            <a:r>
              <a:rPr lang="en-US" sz="3200" b="1" dirty="0">
                <a:solidFill>
                  <a:srgbClr val="7030A0"/>
                </a:solidFill>
                <a:latin typeface="Calibri Light" panose="020F0302020204030204" pitchFamily="34" charset="0"/>
              </a:rPr>
              <a:t> </a:t>
            </a:r>
            <a:r>
              <a:rPr lang="en-US" sz="3200" b="1" dirty="0" err="1">
                <a:solidFill>
                  <a:srgbClr val="7030A0"/>
                </a:solidFill>
                <a:latin typeface="Calibri Light" panose="020F0302020204030204" pitchFamily="34" charset="0"/>
              </a:rPr>
              <a:t>mới</a:t>
            </a:r>
            <a:r>
              <a:rPr lang="en-US" sz="3200" b="1" dirty="0">
                <a:solidFill>
                  <a:srgbClr val="7030A0"/>
                </a:solidFill>
                <a:latin typeface="Calibri Light" panose="020F0302020204030204" pitchFamily="34" charset="0"/>
              </a:rPr>
              <a:t> (2)</a:t>
            </a:r>
            <a:endParaRPr lang="en-US" sz="3200" b="1" dirty="0">
              <a:solidFill>
                <a:srgbClr val="7030A0"/>
              </a:solidFill>
            </a:endParaRPr>
          </a:p>
        </p:txBody>
      </p:sp>
    </p:spTree>
    <p:extLst>
      <p:ext uri="{BB962C8B-B14F-4D97-AF65-F5344CB8AC3E}">
        <p14:creationId xmlns:p14="http://schemas.microsoft.com/office/powerpoint/2010/main" val="1013159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1044F-6B55-F9C9-BF68-51966B313FC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1CE5251-8194-462A-A878-5CBF569F8BAF}"/>
              </a:ext>
            </a:extLst>
          </p:cNvPr>
          <p:cNvSpPr txBox="1">
            <a:spLocks/>
          </p:cNvSpPr>
          <p:nvPr/>
        </p:nvSpPr>
        <p:spPr>
          <a:xfrm>
            <a:off x="732971" y="336509"/>
            <a:ext cx="10726057" cy="1101627"/>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i="0" dirty="0" err="1">
                <a:solidFill>
                  <a:srgbClr val="7030A0"/>
                </a:solidFill>
                <a:effectLst/>
                <a:latin typeface="Calibri Light" panose="020F0302020204030204" pitchFamily="34" charset="0"/>
              </a:rPr>
              <a:t>Hội</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đồng</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Hệ</a:t>
            </a:r>
            <a:r>
              <a:rPr lang="en-US" sz="3600" b="1" i="0" dirty="0">
                <a:solidFill>
                  <a:srgbClr val="7030A0"/>
                </a:solidFill>
                <a:effectLst/>
                <a:latin typeface="Calibri Light" panose="020F0302020204030204" pitchFamily="34" charset="0"/>
              </a:rPr>
              <a:t> Gen: </a:t>
            </a:r>
            <a:r>
              <a:rPr lang="en-US" sz="3600" b="1" i="0" dirty="0" err="1">
                <a:solidFill>
                  <a:srgbClr val="7030A0"/>
                </a:solidFill>
                <a:effectLst/>
                <a:latin typeface="Calibri Light" panose="020F0302020204030204" pitchFamily="34" charset="0"/>
              </a:rPr>
              <a:t>phiên</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giải</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và</a:t>
            </a:r>
            <a:r>
              <a:rPr lang="en-US" sz="3600" b="1" i="0" dirty="0">
                <a:solidFill>
                  <a:srgbClr val="7030A0"/>
                </a:solidFill>
                <a:effectLst/>
                <a:latin typeface="Calibri Light" panose="020F0302020204030204" pitchFamily="34" charset="0"/>
              </a:rPr>
              <a:t> </a:t>
            </a:r>
            <a:r>
              <a:rPr lang="en-US" sz="3600" b="1" dirty="0" err="1">
                <a:solidFill>
                  <a:srgbClr val="7030A0"/>
                </a:solidFill>
                <a:latin typeface="Calibri Light" panose="020F0302020204030204" pitchFamily="34" charset="0"/>
              </a:rPr>
              <a:t>hội</a:t>
            </a:r>
            <a:r>
              <a:rPr lang="en-US" sz="3600" b="1" dirty="0">
                <a:solidFill>
                  <a:srgbClr val="7030A0"/>
                </a:solidFill>
                <a:latin typeface="Calibri Light" panose="020F0302020204030204" pitchFamily="34" charset="0"/>
              </a:rPr>
              <a:t> </a:t>
            </a:r>
            <a:r>
              <a:rPr lang="en-US" sz="3600" b="1" dirty="0" err="1">
                <a:solidFill>
                  <a:srgbClr val="7030A0"/>
                </a:solidFill>
                <a:latin typeface="Calibri Light" panose="020F0302020204030204" pitchFamily="34" charset="0"/>
              </a:rPr>
              <a:t>chẩn</a:t>
            </a:r>
            <a:r>
              <a:rPr lang="en-US" sz="3600" b="1" dirty="0">
                <a:solidFill>
                  <a:srgbClr val="7030A0"/>
                </a:solidFill>
                <a:latin typeface="Calibri Light" panose="020F0302020204030204" pitchFamily="34" charset="0"/>
              </a:rPr>
              <a:t> </a:t>
            </a:r>
            <a:r>
              <a:rPr lang="en-US" sz="3600" b="1" i="0" dirty="0" err="1">
                <a:solidFill>
                  <a:srgbClr val="7030A0"/>
                </a:solidFill>
                <a:effectLst/>
                <a:latin typeface="Calibri Light" panose="020F0302020204030204" pitchFamily="34" charset="0"/>
              </a:rPr>
              <a:t>những</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biến</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thể</a:t>
            </a:r>
            <a:r>
              <a:rPr lang="en-US" sz="3600" b="1" i="0" dirty="0">
                <a:solidFill>
                  <a:srgbClr val="7030A0"/>
                </a:solidFill>
                <a:effectLst/>
                <a:latin typeface="Calibri Light" panose="020F0302020204030204" pitchFamily="34" charset="0"/>
              </a:rPr>
              <a:t> </a:t>
            </a:r>
          </a:p>
          <a:p>
            <a:r>
              <a:rPr lang="en-US" sz="3600" b="1" i="0" dirty="0" err="1">
                <a:solidFill>
                  <a:srgbClr val="7030A0"/>
                </a:solidFill>
                <a:effectLst/>
                <a:latin typeface="Calibri Light" panose="020F0302020204030204" pitchFamily="34" charset="0"/>
              </a:rPr>
              <a:t>trong</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báo</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cáo</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kết</a:t>
            </a:r>
            <a:r>
              <a:rPr lang="en-US" sz="3600" b="1" i="0" dirty="0">
                <a:solidFill>
                  <a:srgbClr val="7030A0"/>
                </a:solidFill>
                <a:effectLst/>
                <a:latin typeface="Calibri Light" panose="020F0302020204030204" pitchFamily="34" charset="0"/>
              </a:rPr>
              <a:t> </a:t>
            </a:r>
            <a:r>
              <a:rPr lang="en-US" sz="3600" b="1" i="0" dirty="0" err="1">
                <a:solidFill>
                  <a:srgbClr val="7030A0"/>
                </a:solidFill>
                <a:effectLst/>
                <a:latin typeface="Calibri Light" panose="020F0302020204030204" pitchFamily="34" charset="0"/>
              </a:rPr>
              <a:t>quả</a:t>
            </a:r>
            <a:r>
              <a:rPr lang="en-US" sz="3600" b="1" i="0" dirty="0">
                <a:solidFill>
                  <a:srgbClr val="7030A0"/>
                </a:solidFill>
                <a:effectLst/>
                <a:latin typeface="Calibri Light" panose="020F0302020204030204" pitchFamily="34" charset="0"/>
              </a:rPr>
              <a:t> NGS </a:t>
            </a:r>
            <a:endParaRPr lang="en-US" sz="3600" b="1" dirty="0">
              <a:solidFill>
                <a:srgbClr val="7030A0"/>
              </a:solidFill>
            </a:endParaRPr>
          </a:p>
        </p:txBody>
      </p:sp>
      <p:pic>
        <p:nvPicPr>
          <p:cNvPr id="7170" name="Picture 2">
            <a:extLst>
              <a:ext uri="{FF2B5EF4-FFF2-40B4-BE49-F238E27FC236}">
                <a16:creationId xmlns:a16="http://schemas.microsoft.com/office/drawing/2014/main" id="{65A010FA-897E-14B5-7F31-7C6E1EABF6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0752" y="1825342"/>
            <a:ext cx="8287647" cy="377109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07ECB76-6FF6-2241-5357-587B1F2C95E4}"/>
              </a:ext>
            </a:extLst>
          </p:cNvPr>
          <p:cNvSpPr txBox="1"/>
          <p:nvPr/>
        </p:nvSpPr>
        <p:spPr>
          <a:xfrm>
            <a:off x="2024337" y="5749127"/>
            <a:ext cx="7516504" cy="338554"/>
          </a:xfrm>
          <a:prstGeom prst="rect">
            <a:avLst/>
          </a:prstGeom>
          <a:noFill/>
        </p:spPr>
        <p:txBody>
          <a:bodyPr wrap="square">
            <a:spAutoFit/>
          </a:bodyPr>
          <a:lstStyle/>
          <a:p>
            <a:pPr algn="ctr"/>
            <a:r>
              <a:rPr lang="en-US" sz="1600" dirty="0">
                <a:latin typeface="Calibri Light" panose="020F0302020204030204" pitchFamily="34" charset="0"/>
              </a:rPr>
              <a:t>https://ggba.swiss/en/the-first-medical-genomics-center-opens-in-geneva/</a:t>
            </a:r>
          </a:p>
        </p:txBody>
      </p:sp>
    </p:spTree>
    <p:extLst>
      <p:ext uri="{BB962C8B-B14F-4D97-AF65-F5344CB8AC3E}">
        <p14:creationId xmlns:p14="http://schemas.microsoft.com/office/powerpoint/2010/main" val="1769922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1044F-6B55-F9C9-BF68-51966B313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C9CF3-2092-D51C-E33E-6AB341DCF761}"/>
              </a:ext>
            </a:extLst>
          </p:cNvPr>
          <p:cNvSpPr txBox="1">
            <a:spLocks/>
          </p:cNvSpPr>
          <p:nvPr/>
        </p:nvSpPr>
        <p:spPr>
          <a:xfrm>
            <a:off x="604428" y="184673"/>
            <a:ext cx="11059332" cy="66357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err="1">
                <a:solidFill>
                  <a:srgbClr val="7030A0"/>
                </a:solidFill>
              </a:rPr>
              <a:t>Ứng</a:t>
            </a:r>
            <a:r>
              <a:rPr lang="en-US" sz="4000" b="1" dirty="0">
                <a:solidFill>
                  <a:srgbClr val="7030A0"/>
                </a:solidFill>
              </a:rPr>
              <a:t> </a:t>
            </a:r>
            <a:r>
              <a:rPr lang="en-US" sz="4000" b="1" dirty="0" err="1">
                <a:solidFill>
                  <a:srgbClr val="7030A0"/>
                </a:solidFill>
              </a:rPr>
              <a:t>dụng</a:t>
            </a:r>
            <a:r>
              <a:rPr lang="en-US" sz="4000" b="1" dirty="0">
                <a:solidFill>
                  <a:srgbClr val="7030A0"/>
                </a:solidFill>
              </a:rPr>
              <a:t> </a:t>
            </a:r>
            <a:r>
              <a:rPr lang="en-US" sz="4000" b="1" dirty="0" err="1">
                <a:solidFill>
                  <a:srgbClr val="7030A0"/>
                </a:solidFill>
              </a:rPr>
              <a:t>giải</a:t>
            </a:r>
            <a:r>
              <a:rPr lang="en-US" sz="4000" b="1" dirty="0">
                <a:solidFill>
                  <a:srgbClr val="7030A0"/>
                </a:solidFill>
              </a:rPr>
              <a:t> </a:t>
            </a:r>
            <a:r>
              <a:rPr lang="en-US" sz="4000" b="1" dirty="0" err="1">
                <a:solidFill>
                  <a:srgbClr val="7030A0"/>
                </a:solidFill>
              </a:rPr>
              <a:t>trình</a:t>
            </a:r>
            <a:r>
              <a:rPr lang="en-US" sz="4000" b="1" dirty="0">
                <a:solidFill>
                  <a:srgbClr val="7030A0"/>
                </a:solidFill>
              </a:rPr>
              <a:t> </a:t>
            </a:r>
            <a:r>
              <a:rPr lang="en-US" sz="4000" b="1" dirty="0" err="1">
                <a:solidFill>
                  <a:srgbClr val="7030A0"/>
                </a:solidFill>
              </a:rPr>
              <a:t>tự</a:t>
            </a:r>
            <a:r>
              <a:rPr lang="en-US" sz="4000" b="1" dirty="0">
                <a:solidFill>
                  <a:srgbClr val="7030A0"/>
                </a:solidFill>
              </a:rPr>
              <a:t> gen </a:t>
            </a:r>
            <a:r>
              <a:rPr lang="en-US" sz="4000" b="1" dirty="0" err="1">
                <a:solidFill>
                  <a:srgbClr val="7030A0"/>
                </a:solidFill>
              </a:rPr>
              <a:t>thế</a:t>
            </a:r>
            <a:r>
              <a:rPr lang="en-US" sz="4000" b="1" dirty="0">
                <a:solidFill>
                  <a:srgbClr val="7030A0"/>
                </a:solidFill>
              </a:rPr>
              <a:t> </a:t>
            </a:r>
            <a:r>
              <a:rPr lang="en-US" sz="4000" b="1" dirty="0" err="1">
                <a:solidFill>
                  <a:srgbClr val="7030A0"/>
                </a:solidFill>
              </a:rPr>
              <a:t>hệ</a:t>
            </a:r>
            <a:r>
              <a:rPr lang="en-US" sz="4000" b="1" dirty="0">
                <a:solidFill>
                  <a:srgbClr val="7030A0"/>
                </a:solidFill>
              </a:rPr>
              <a:t> </a:t>
            </a:r>
            <a:r>
              <a:rPr lang="en-US" sz="4000" b="1" dirty="0" err="1">
                <a:solidFill>
                  <a:srgbClr val="7030A0"/>
                </a:solidFill>
              </a:rPr>
              <a:t>mới</a:t>
            </a:r>
            <a:r>
              <a:rPr lang="en-US" sz="4000" b="1" dirty="0">
                <a:solidFill>
                  <a:srgbClr val="7030A0"/>
                </a:solidFill>
              </a:rPr>
              <a:t> </a:t>
            </a:r>
            <a:r>
              <a:rPr lang="en-US" sz="4000" b="1" dirty="0" err="1">
                <a:solidFill>
                  <a:srgbClr val="7030A0"/>
                </a:solidFill>
              </a:rPr>
              <a:t>trong</a:t>
            </a:r>
            <a:r>
              <a:rPr lang="en-US" sz="4000" b="1" dirty="0">
                <a:solidFill>
                  <a:srgbClr val="7030A0"/>
                </a:solidFill>
              </a:rPr>
              <a:t> </a:t>
            </a:r>
            <a:r>
              <a:rPr lang="en-US" sz="4000" b="1" dirty="0" err="1">
                <a:solidFill>
                  <a:srgbClr val="7030A0"/>
                </a:solidFill>
              </a:rPr>
              <a:t>lâm</a:t>
            </a:r>
            <a:r>
              <a:rPr lang="en-US" sz="4000" b="1" dirty="0">
                <a:solidFill>
                  <a:srgbClr val="7030A0"/>
                </a:solidFill>
              </a:rPr>
              <a:t> </a:t>
            </a:r>
            <a:r>
              <a:rPr lang="en-US" sz="4000" b="1" dirty="0" err="1">
                <a:solidFill>
                  <a:srgbClr val="7030A0"/>
                </a:solidFill>
              </a:rPr>
              <a:t>sàng</a:t>
            </a:r>
            <a:endParaRPr lang="en-US" sz="4000" b="1" dirty="0">
              <a:solidFill>
                <a:srgbClr val="7030A0"/>
              </a:solidFill>
            </a:endParaRPr>
          </a:p>
        </p:txBody>
      </p:sp>
      <p:sp>
        <p:nvSpPr>
          <p:cNvPr id="4" name="TextBox 3">
            <a:extLst>
              <a:ext uri="{FF2B5EF4-FFF2-40B4-BE49-F238E27FC236}">
                <a16:creationId xmlns:a16="http://schemas.microsoft.com/office/drawing/2014/main" id="{2B3AE357-12DA-A36F-04BF-FFFBCCF7F426}"/>
              </a:ext>
            </a:extLst>
          </p:cNvPr>
          <p:cNvSpPr txBox="1"/>
          <p:nvPr/>
        </p:nvSpPr>
        <p:spPr>
          <a:xfrm>
            <a:off x="993258" y="5551623"/>
            <a:ext cx="4215630" cy="271874"/>
          </a:xfrm>
          <a:prstGeom prst="rect">
            <a:avLst/>
          </a:prstGeom>
          <a:noFill/>
        </p:spPr>
        <p:txBody>
          <a:bodyPr wrap="square">
            <a:spAutoFit/>
          </a:bodyPr>
          <a:lstStyle/>
          <a:p>
            <a:pPr algn="ctr"/>
            <a:r>
              <a:rPr lang="en-US" sz="1100" b="0" i="0" dirty="0">
                <a:solidFill>
                  <a:srgbClr val="292929"/>
                </a:solidFill>
                <a:effectLst/>
                <a:latin typeface="Calibri Light" panose="020F0302020204030204" pitchFamily="34" charset="0"/>
                <a:ea typeface="Calibri Light" panose="020F0302020204030204" pitchFamily="34" charset="0"/>
                <a:cs typeface="Calibri Light" panose="020F0302020204030204" pitchFamily="34" charset="0"/>
              </a:rPr>
              <a:t>https://microbenotes.com/next-generation-sequencing-ngs/</a:t>
            </a:r>
            <a:endParaRPr lang="en-US" sz="1100" dirty="0">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19" name="Group 18">
            <a:extLst>
              <a:ext uri="{FF2B5EF4-FFF2-40B4-BE49-F238E27FC236}">
                <a16:creationId xmlns:a16="http://schemas.microsoft.com/office/drawing/2014/main" id="{06AC4264-19FC-D4D6-57BA-B1EA3617BA32}"/>
              </a:ext>
            </a:extLst>
          </p:cNvPr>
          <p:cNvGrpSpPr/>
          <p:nvPr/>
        </p:nvGrpSpPr>
        <p:grpSpPr>
          <a:xfrm>
            <a:off x="435601" y="1158362"/>
            <a:ext cx="5973730" cy="4292470"/>
            <a:chOff x="1322712" y="1158362"/>
            <a:chExt cx="5973730" cy="4292470"/>
          </a:xfrm>
        </p:grpSpPr>
        <p:pic>
          <p:nvPicPr>
            <p:cNvPr id="6146" name="Picture 2" descr="Next Generation Sequencing (NGS) Techniques">
              <a:extLst>
                <a:ext uri="{FF2B5EF4-FFF2-40B4-BE49-F238E27FC236}">
                  <a16:creationId xmlns:a16="http://schemas.microsoft.com/office/drawing/2014/main" id="{3627F3F2-33D3-004D-6544-3F17CD22144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5" t="1925" r="2781" b="11345"/>
            <a:stretch/>
          </p:blipFill>
          <p:spPr bwMode="auto">
            <a:xfrm>
              <a:off x="1322712" y="1158362"/>
              <a:ext cx="5973730" cy="429247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9136FAC9-9438-B8E0-0411-B78713BB7B21}"/>
                </a:ext>
              </a:extLst>
            </p:cNvPr>
            <p:cNvSpPr txBox="1"/>
            <p:nvPr/>
          </p:nvSpPr>
          <p:spPr>
            <a:xfrm>
              <a:off x="2593074" y="1247994"/>
              <a:ext cx="3502925" cy="400110"/>
            </a:xfrm>
            <a:prstGeom prst="rect">
              <a:avLst/>
            </a:prstGeom>
            <a:solidFill>
              <a:schemeClr val="bg1"/>
            </a:solidFill>
            <a:ln w="28575">
              <a:solidFill>
                <a:schemeClr val="accent2"/>
              </a:solidFill>
            </a:ln>
          </p:spPr>
          <p:txBody>
            <a:bodyPr wrap="square" rtlCol="0">
              <a:spAutoFit/>
            </a:bodyPr>
            <a:lstStyle/>
            <a:p>
              <a:pPr algn="ctr"/>
              <a:r>
                <a:rPr lang="en-US" sz="2000" b="1" dirty="0">
                  <a:latin typeface="Calibri Light" panose="020F0302020204030204" pitchFamily="34" charset="0"/>
                </a:rPr>
                <a:t>Single Nucleotide Variant (SNV)</a:t>
              </a:r>
            </a:p>
          </p:txBody>
        </p:sp>
      </p:grpSp>
      <p:sp>
        <p:nvSpPr>
          <p:cNvPr id="26" name="TextBox 25">
            <a:extLst>
              <a:ext uri="{FF2B5EF4-FFF2-40B4-BE49-F238E27FC236}">
                <a16:creationId xmlns:a16="http://schemas.microsoft.com/office/drawing/2014/main" id="{44E65219-E802-050E-10DB-D666572A0FEF}"/>
              </a:ext>
            </a:extLst>
          </p:cNvPr>
          <p:cNvSpPr txBox="1"/>
          <p:nvPr/>
        </p:nvSpPr>
        <p:spPr>
          <a:xfrm>
            <a:off x="8467468" y="5460822"/>
            <a:ext cx="3647042" cy="246221"/>
          </a:xfrm>
          <a:prstGeom prst="rect">
            <a:avLst/>
          </a:prstGeom>
          <a:noFill/>
        </p:spPr>
        <p:txBody>
          <a:bodyPr wrap="square">
            <a:spAutoFit/>
          </a:bodyPr>
          <a:lstStyle/>
          <a:p>
            <a:pPr algn="r"/>
            <a:r>
              <a:rPr lang="en-US" sz="1000" dirty="0">
                <a:latin typeface="Calibri Light" panose="020F0302020204030204" pitchFamily="34" charset="0"/>
              </a:rPr>
              <a:t>https://wellcomecollection.org/search/images?query=eaahzt2u#</a:t>
            </a:r>
          </a:p>
        </p:txBody>
      </p:sp>
      <p:grpSp>
        <p:nvGrpSpPr>
          <p:cNvPr id="34" name="Group 33">
            <a:extLst>
              <a:ext uri="{FF2B5EF4-FFF2-40B4-BE49-F238E27FC236}">
                <a16:creationId xmlns:a16="http://schemas.microsoft.com/office/drawing/2014/main" id="{77304223-8D8A-A379-D11D-5BF43DE9902D}"/>
              </a:ext>
            </a:extLst>
          </p:cNvPr>
          <p:cNvGrpSpPr/>
          <p:nvPr/>
        </p:nvGrpSpPr>
        <p:grpSpPr>
          <a:xfrm>
            <a:off x="6658113" y="1323978"/>
            <a:ext cx="2684942" cy="3862570"/>
            <a:chOff x="6735603" y="1107002"/>
            <a:chExt cx="2684942" cy="3862570"/>
          </a:xfrm>
        </p:grpSpPr>
        <p:grpSp>
          <p:nvGrpSpPr>
            <p:cNvPr id="22" name="Group 21">
              <a:extLst>
                <a:ext uri="{FF2B5EF4-FFF2-40B4-BE49-F238E27FC236}">
                  <a16:creationId xmlns:a16="http://schemas.microsoft.com/office/drawing/2014/main" id="{F935081B-FD66-5AAB-3C6F-5244C45129BD}"/>
                </a:ext>
              </a:extLst>
            </p:cNvPr>
            <p:cNvGrpSpPr/>
            <p:nvPr/>
          </p:nvGrpSpPr>
          <p:grpSpPr>
            <a:xfrm>
              <a:off x="6735603" y="1107002"/>
              <a:ext cx="2676233" cy="3862570"/>
              <a:chOff x="6735603" y="1588262"/>
              <a:chExt cx="2676233" cy="3862570"/>
            </a:xfrm>
          </p:grpSpPr>
          <p:grpSp>
            <p:nvGrpSpPr>
              <p:cNvPr id="18" name="Group 17">
                <a:extLst>
                  <a:ext uri="{FF2B5EF4-FFF2-40B4-BE49-F238E27FC236}">
                    <a16:creationId xmlns:a16="http://schemas.microsoft.com/office/drawing/2014/main" id="{EF0CF6CD-BA11-0B81-EB38-A1B68D2A126F}"/>
                  </a:ext>
                </a:extLst>
              </p:cNvPr>
              <p:cNvGrpSpPr/>
              <p:nvPr/>
            </p:nvGrpSpPr>
            <p:grpSpPr>
              <a:xfrm>
                <a:off x="6735603" y="1588262"/>
                <a:ext cx="2676233" cy="3862570"/>
                <a:chOff x="7622714" y="1588262"/>
                <a:chExt cx="2676233" cy="3862570"/>
              </a:xfrm>
            </p:grpSpPr>
            <p:grpSp>
              <p:nvGrpSpPr>
                <p:cNvPr id="12" name="Group 11">
                  <a:extLst>
                    <a:ext uri="{FF2B5EF4-FFF2-40B4-BE49-F238E27FC236}">
                      <a16:creationId xmlns:a16="http://schemas.microsoft.com/office/drawing/2014/main" id="{868D9A10-654F-357B-4BAB-20C6C14A4324}"/>
                    </a:ext>
                  </a:extLst>
                </p:cNvPr>
                <p:cNvGrpSpPr/>
                <p:nvPr/>
              </p:nvGrpSpPr>
              <p:grpSpPr>
                <a:xfrm>
                  <a:off x="7622714" y="1588262"/>
                  <a:ext cx="2676233" cy="3862570"/>
                  <a:chOff x="7622714" y="1588262"/>
                  <a:chExt cx="2676233" cy="3862570"/>
                </a:xfrm>
              </p:grpSpPr>
              <p:grpSp>
                <p:nvGrpSpPr>
                  <p:cNvPr id="5" name="Group 4">
                    <a:extLst>
                      <a:ext uri="{FF2B5EF4-FFF2-40B4-BE49-F238E27FC236}">
                        <a16:creationId xmlns:a16="http://schemas.microsoft.com/office/drawing/2014/main" id="{72B5DD85-650C-A07C-86D8-72257D02AE7F}"/>
                      </a:ext>
                    </a:extLst>
                  </p:cNvPr>
                  <p:cNvGrpSpPr/>
                  <p:nvPr/>
                </p:nvGrpSpPr>
                <p:grpSpPr>
                  <a:xfrm>
                    <a:off x="7622714" y="1857742"/>
                    <a:ext cx="2665548" cy="3432669"/>
                    <a:chOff x="8833979" y="1391989"/>
                    <a:chExt cx="2665548" cy="3432669"/>
                  </a:xfrm>
                </p:grpSpPr>
                <p:grpSp>
                  <p:nvGrpSpPr>
                    <p:cNvPr id="10" name="Group 9">
                      <a:extLst>
                        <a:ext uri="{FF2B5EF4-FFF2-40B4-BE49-F238E27FC236}">
                          <a16:creationId xmlns:a16="http://schemas.microsoft.com/office/drawing/2014/main" id="{D9CD2D97-E493-7036-BEF0-6C6281547EEF}"/>
                        </a:ext>
                      </a:extLst>
                    </p:cNvPr>
                    <p:cNvGrpSpPr/>
                    <p:nvPr/>
                  </p:nvGrpSpPr>
                  <p:grpSpPr>
                    <a:xfrm>
                      <a:off x="8867274" y="2194879"/>
                      <a:ext cx="2594811" cy="2629779"/>
                      <a:chOff x="8794192" y="1773778"/>
                      <a:chExt cx="2259001" cy="2179475"/>
                    </a:xfrm>
                  </p:grpSpPr>
                  <p:pic>
                    <p:nvPicPr>
                      <p:cNvPr id="6" name="Picture 5">
                        <a:extLst>
                          <a:ext uri="{FF2B5EF4-FFF2-40B4-BE49-F238E27FC236}">
                            <a16:creationId xmlns:a16="http://schemas.microsoft.com/office/drawing/2014/main" id="{56A3B89E-03B5-4C55-750E-4749D141510C}"/>
                          </a:ext>
                        </a:extLst>
                      </p:cNvPr>
                      <p:cNvPicPr>
                        <a:picLocks noChangeAspect="1"/>
                      </p:cNvPicPr>
                      <p:nvPr/>
                    </p:nvPicPr>
                    <p:blipFill>
                      <a:blip r:embed="rId3"/>
                      <a:srcRect r="48979"/>
                      <a:stretch/>
                    </p:blipFill>
                    <p:spPr>
                      <a:xfrm>
                        <a:off x="8810192" y="1773778"/>
                        <a:ext cx="2198467" cy="1048506"/>
                      </a:xfrm>
                      <a:prstGeom prst="rect">
                        <a:avLst/>
                      </a:prstGeom>
                    </p:spPr>
                  </p:pic>
                  <p:pic>
                    <p:nvPicPr>
                      <p:cNvPr id="8" name="Picture 7">
                        <a:extLst>
                          <a:ext uri="{FF2B5EF4-FFF2-40B4-BE49-F238E27FC236}">
                            <a16:creationId xmlns:a16="http://schemas.microsoft.com/office/drawing/2014/main" id="{8FB5BEFE-89F9-F95A-54A0-4D9F39B6C070}"/>
                          </a:ext>
                        </a:extLst>
                      </p:cNvPr>
                      <p:cNvPicPr>
                        <a:picLocks noChangeAspect="1"/>
                      </p:cNvPicPr>
                      <p:nvPr/>
                    </p:nvPicPr>
                    <p:blipFill>
                      <a:blip r:embed="rId3"/>
                      <a:srcRect l="51091"/>
                      <a:stretch/>
                    </p:blipFill>
                    <p:spPr>
                      <a:xfrm>
                        <a:off x="8945718" y="2904747"/>
                        <a:ext cx="2107475" cy="1048506"/>
                      </a:xfrm>
                      <a:prstGeom prst="rect">
                        <a:avLst/>
                      </a:prstGeom>
                    </p:spPr>
                  </p:pic>
                  <p:pic>
                    <p:nvPicPr>
                      <p:cNvPr id="9" name="Picture 8">
                        <a:extLst>
                          <a:ext uri="{FF2B5EF4-FFF2-40B4-BE49-F238E27FC236}">
                            <a16:creationId xmlns:a16="http://schemas.microsoft.com/office/drawing/2014/main" id="{4023A040-F523-7E9C-659D-0F63B9A87B9D}"/>
                          </a:ext>
                        </a:extLst>
                      </p:cNvPr>
                      <p:cNvPicPr>
                        <a:picLocks noChangeAspect="1"/>
                      </p:cNvPicPr>
                      <p:nvPr/>
                    </p:nvPicPr>
                    <p:blipFill>
                      <a:blip r:embed="rId3"/>
                      <a:srcRect r="96484"/>
                      <a:stretch/>
                    </p:blipFill>
                    <p:spPr>
                      <a:xfrm>
                        <a:off x="8794192" y="2904747"/>
                        <a:ext cx="151526" cy="1048506"/>
                      </a:xfrm>
                      <a:prstGeom prst="rect">
                        <a:avLst/>
                      </a:prstGeom>
                    </p:spPr>
                  </p:pic>
                </p:grpSp>
                <p:sp>
                  <p:nvSpPr>
                    <p:cNvPr id="11" name="TextBox 10">
                      <a:extLst>
                        <a:ext uri="{FF2B5EF4-FFF2-40B4-BE49-F238E27FC236}">
                          <a16:creationId xmlns:a16="http://schemas.microsoft.com/office/drawing/2014/main" id="{7E070832-DDB9-7377-4C58-204258429AF0}"/>
                        </a:ext>
                      </a:extLst>
                    </p:cNvPr>
                    <p:cNvSpPr txBox="1"/>
                    <p:nvPr/>
                  </p:nvSpPr>
                  <p:spPr>
                    <a:xfrm>
                      <a:off x="8833979" y="1391989"/>
                      <a:ext cx="2665548" cy="523220"/>
                    </a:xfrm>
                    <a:prstGeom prst="rect">
                      <a:avLst/>
                    </a:prstGeom>
                    <a:noFill/>
                  </p:spPr>
                  <p:txBody>
                    <a:bodyPr wrap="square" rtlCol="0">
                      <a:spAutoFit/>
                    </a:bodyPr>
                    <a:lstStyle/>
                    <a:p>
                      <a:pPr algn="ctr"/>
                      <a:r>
                        <a:rPr lang="en-US" sz="1400" b="1" dirty="0">
                          <a:latin typeface="Calibri Light" panose="020F0302020204030204" pitchFamily="34" charset="0"/>
                        </a:rPr>
                        <a:t>Copy Number Variation (CNV)</a:t>
                      </a:r>
                      <a:br>
                        <a:rPr lang="en-US" sz="1400" b="1" dirty="0">
                          <a:latin typeface="Calibri Light" panose="020F0302020204030204" pitchFamily="34" charset="0"/>
                        </a:rPr>
                      </a:br>
                      <a:r>
                        <a:rPr lang="en-US" sz="1400" b="1" dirty="0">
                          <a:latin typeface="Calibri Light" panose="020F0302020204030204" pitchFamily="34" charset="0"/>
                        </a:rPr>
                        <a:t>Low-Pass Genome Sequencing</a:t>
                      </a:r>
                    </a:p>
                  </p:txBody>
                </p:sp>
              </p:grpSp>
              <p:sp>
                <p:nvSpPr>
                  <p:cNvPr id="7" name="Rectangle: Rounded Corners 6">
                    <a:extLst>
                      <a:ext uri="{FF2B5EF4-FFF2-40B4-BE49-F238E27FC236}">
                        <a16:creationId xmlns:a16="http://schemas.microsoft.com/office/drawing/2014/main" id="{F9CC9969-9147-D7AD-5DBF-D2F0B7E23E21}"/>
                      </a:ext>
                    </a:extLst>
                  </p:cNvPr>
                  <p:cNvSpPr/>
                  <p:nvPr/>
                </p:nvSpPr>
                <p:spPr>
                  <a:xfrm>
                    <a:off x="7622715" y="1588262"/>
                    <a:ext cx="2676232" cy="3862570"/>
                  </a:xfrm>
                  <a:prstGeom prst="round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Light" panose="020F0302020204030204" pitchFamily="34" charset="0"/>
                    </a:endParaRPr>
                  </a:p>
                </p:txBody>
              </p:sp>
            </p:grpSp>
            <p:sp>
              <p:nvSpPr>
                <p:cNvPr id="17" name="Rectangle 16">
                  <a:extLst>
                    <a:ext uri="{FF2B5EF4-FFF2-40B4-BE49-F238E27FC236}">
                      <a16:creationId xmlns:a16="http://schemas.microsoft.com/office/drawing/2014/main" id="{7243AA00-0F43-EB59-998A-6B82F126C2A4}"/>
                    </a:ext>
                  </a:extLst>
                </p:cNvPr>
                <p:cNvSpPr/>
                <p:nvPr/>
              </p:nvSpPr>
              <p:spPr>
                <a:xfrm>
                  <a:off x="7830060" y="1857742"/>
                  <a:ext cx="2289755" cy="642469"/>
                </a:xfrm>
                <a:prstGeom prst="rect">
                  <a:avLst/>
                </a:prstGeom>
                <a:noFill/>
                <a:ln w="28575">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Calibri Light" panose="020F0302020204030204" pitchFamily="34" charset="0"/>
                  </a:endParaRPr>
                </a:p>
              </p:txBody>
            </p:sp>
          </p:grpSp>
          <p:sp>
            <p:nvSpPr>
              <p:cNvPr id="20" name="Arrow: Down 19">
                <a:extLst>
                  <a:ext uri="{FF2B5EF4-FFF2-40B4-BE49-F238E27FC236}">
                    <a16:creationId xmlns:a16="http://schemas.microsoft.com/office/drawing/2014/main" id="{A62C2B43-D5C9-A4AB-CD31-8C0958F8120C}"/>
                  </a:ext>
                </a:extLst>
              </p:cNvPr>
              <p:cNvSpPr/>
              <p:nvPr/>
            </p:nvSpPr>
            <p:spPr>
              <a:xfrm rot="2536163">
                <a:off x="8639030" y="3974004"/>
                <a:ext cx="300251" cy="395785"/>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Light" panose="020F0302020204030204" pitchFamily="34" charset="0"/>
                </a:endParaRPr>
              </a:p>
            </p:txBody>
          </p:sp>
        </p:grpSp>
        <p:cxnSp>
          <p:nvCxnSpPr>
            <p:cNvPr id="30" name="Straight Connector 29">
              <a:extLst>
                <a:ext uri="{FF2B5EF4-FFF2-40B4-BE49-F238E27FC236}">
                  <a16:creationId xmlns:a16="http://schemas.microsoft.com/office/drawing/2014/main" id="{067F6720-3846-2D46-4CFB-CA8174E6EF51}"/>
                </a:ext>
              </a:extLst>
            </p:cNvPr>
            <p:cNvCxnSpPr>
              <a:cxnSpLocks/>
            </p:cNvCxnSpPr>
            <p:nvPr/>
          </p:nvCxnSpPr>
          <p:spPr>
            <a:xfrm>
              <a:off x="6735603" y="2018951"/>
              <a:ext cx="268494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68201808-CEE3-9474-69E0-DAC39D7FB04A}"/>
              </a:ext>
            </a:extLst>
          </p:cNvPr>
          <p:cNvGrpSpPr/>
          <p:nvPr/>
        </p:nvGrpSpPr>
        <p:grpSpPr>
          <a:xfrm>
            <a:off x="9429568" y="1753162"/>
            <a:ext cx="2540073" cy="2804867"/>
            <a:chOff x="9507058" y="1536186"/>
            <a:chExt cx="2540073" cy="2804867"/>
          </a:xfrm>
        </p:grpSpPr>
        <p:sp>
          <p:nvSpPr>
            <p:cNvPr id="28" name="Rectangle: Rounded Corners 27">
              <a:extLst>
                <a:ext uri="{FF2B5EF4-FFF2-40B4-BE49-F238E27FC236}">
                  <a16:creationId xmlns:a16="http://schemas.microsoft.com/office/drawing/2014/main" id="{26AD25C9-82B7-966C-5C7D-B02A8D6617D7}"/>
                </a:ext>
              </a:extLst>
            </p:cNvPr>
            <p:cNvSpPr/>
            <p:nvPr/>
          </p:nvSpPr>
          <p:spPr>
            <a:xfrm>
              <a:off x="9531295" y="1536186"/>
              <a:ext cx="2502188" cy="5642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alibri Light" panose="020F0302020204030204" pitchFamily="34" charset="0"/>
                  <a:cs typeface="Calibri Light" panose="020F0302020204030204" pitchFamily="34" charset="0"/>
                </a:rPr>
                <a:t>Karyotype</a:t>
              </a:r>
            </a:p>
          </p:txBody>
        </p:sp>
        <p:pic>
          <p:nvPicPr>
            <p:cNvPr id="21" name="Picture 20">
              <a:extLst>
                <a:ext uri="{FF2B5EF4-FFF2-40B4-BE49-F238E27FC236}">
                  <a16:creationId xmlns:a16="http://schemas.microsoft.com/office/drawing/2014/main" id="{50BB4C7A-6785-3346-E42B-608DCF65BC5B}"/>
                </a:ext>
              </a:extLst>
            </p:cNvPr>
            <p:cNvPicPr>
              <a:picLocks noChangeAspect="1"/>
            </p:cNvPicPr>
            <p:nvPr/>
          </p:nvPicPr>
          <p:blipFill>
            <a:blip r:embed="rId4"/>
            <a:stretch>
              <a:fillRect/>
            </a:stretch>
          </p:blipFill>
          <p:spPr>
            <a:xfrm>
              <a:off x="9531295" y="2019698"/>
              <a:ext cx="2515836" cy="2321355"/>
            </a:xfrm>
            <a:prstGeom prst="rect">
              <a:avLst/>
            </a:prstGeom>
          </p:spPr>
        </p:pic>
        <p:sp>
          <p:nvSpPr>
            <p:cNvPr id="24" name="Arrow: Up 23">
              <a:extLst>
                <a:ext uri="{FF2B5EF4-FFF2-40B4-BE49-F238E27FC236}">
                  <a16:creationId xmlns:a16="http://schemas.microsoft.com/office/drawing/2014/main" id="{A0C78A3B-5EF3-C567-92BC-70A6DA5F8BEE}"/>
                </a:ext>
              </a:extLst>
            </p:cNvPr>
            <p:cNvSpPr/>
            <p:nvPr/>
          </p:nvSpPr>
          <p:spPr>
            <a:xfrm rot="19967583">
              <a:off x="11875857" y="3724081"/>
              <a:ext cx="88602" cy="206734"/>
            </a:xfrm>
            <a:prstGeom prst="up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Light" panose="020F0302020204030204" pitchFamily="34" charset="0"/>
              </a:endParaRPr>
            </a:p>
          </p:txBody>
        </p:sp>
        <p:cxnSp>
          <p:nvCxnSpPr>
            <p:cNvPr id="33" name="Straight Connector 32">
              <a:extLst>
                <a:ext uri="{FF2B5EF4-FFF2-40B4-BE49-F238E27FC236}">
                  <a16:creationId xmlns:a16="http://schemas.microsoft.com/office/drawing/2014/main" id="{453C6C4B-EC84-FC6B-D3B0-43D4AD60D3EE}"/>
                </a:ext>
              </a:extLst>
            </p:cNvPr>
            <p:cNvCxnSpPr>
              <a:cxnSpLocks/>
            </p:cNvCxnSpPr>
            <p:nvPr/>
          </p:nvCxnSpPr>
          <p:spPr>
            <a:xfrm flipV="1">
              <a:off x="9507058" y="2019698"/>
              <a:ext cx="2540073" cy="1162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2246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1044F-6B55-F9C9-BF68-51966B313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12B67-02CB-411A-4F65-6F84ABED5EE3}"/>
              </a:ext>
            </a:extLst>
          </p:cNvPr>
          <p:cNvSpPr txBox="1">
            <a:spLocks/>
          </p:cNvSpPr>
          <p:nvPr/>
        </p:nvSpPr>
        <p:spPr>
          <a:xfrm>
            <a:off x="838200" y="372800"/>
            <a:ext cx="10515600" cy="663574"/>
          </a:xfrm>
          <a:prstGeom prst="rect">
            <a:avLst/>
          </a:prstGeom>
        </p:spPr>
        <p:txBody>
          <a:bodyPr vert="horz" lIns="91440" tIns="45720" rIns="91440" bIns="4572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rgbClr val="7030A0"/>
                </a:solidFill>
                <a:latin typeface="Calibri Light" panose="020F0302020204030204" pitchFamily="34" charset="0"/>
                <a:cs typeface="Calibri Light" panose="020F0302020204030204" pitchFamily="34" charset="0"/>
              </a:rPr>
              <a:t>Variants in PAH</a:t>
            </a:r>
          </a:p>
        </p:txBody>
      </p:sp>
      <p:pic>
        <p:nvPicPr>
          <p:cNvPr id="10" name="Picture 9">
            <a:extLst>
              <a:ext uri="{FF2B5EF4-FFF2-40B4-BE49-F238E27FC236}">
                <a16:creationId xmlns:a16="http://schemas.microsoft.com/office/drawing/2014/main" id="{8C54DA75-FAD7-1E7D-1AEA-B6A77D5CE953}"/>
              </a:ext>
            </a:extLst>
          </p:cNvPr>
          <p:cNvPicPr>
            <a:picLocks noChangeAspect="1"/>
          </p:cNvPicPr>
          <p:nvPr/>
        </p:nvPicPr>
        <p:blipFill rotWithShape="1">
          <a:blip r:embed="rId2"/>
          <a:srcRect l="12758" t="17728" r="1263" b="6786"/>
          <a:stretch/>
        </p:blipFill>
        <p:spPr>
          <a:xfrm>
            <a:off x="1272121" y="1232545"/>
            <a:ext cx="9446428" cy="4649581"/>
          </a:xfrm>
          <a:prstGeom prst="rect">
            <a:avLst/>
          </a:prstGeom>
        </p:spPr>
      </p:pic>
      <p:sp>
        <p:nvSpPr>
          <p:cNvPr id="5" name="Rectangle 4">
            <a:extLst>
              <a:ext uri="{FF2B5EF4-FFF2-40B4-BE49-F238E27FC236}">
                <a16:creationId xmlns:a16="http://schemas.microsoft.com/office/drawing/2014/main" id="{443C4A6F-E89C-D354-0666-897408203455}"/>
              </a:ext>
            </a:extLst>
          </p:cNvPr>
          <p:cNvSpPr/>
          <p:nvPr/>
        </p:nvSpPr>
        <p:spPr>
          <a:xfrm>
            <a:off x="6593305" y="1232545"/>
            <a:ext cx="256674" cy="439291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Light" panose="020F0302020204030204" pitchFamily="34" charset="0"/>
            </a:endParaRPr>
          </a:p>
        </p:txBody>
      </p:sp>
    </p:spTree>
    <p:extLst>
      <p:ext uri="{BB962C8B-B14F-4D97-AF65-F5344CB8AC3E}">
        <p14:creationId xmlns:p14="http://schemas.microsoft.com/office/powerpoint/2010/main" val="1069081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790330" y="693037"/>
            <a:ext cx="10264151" cy="54719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8D859-1EB2-CB31-8302-0294D5012E3D}"/>
              </a:ext>
            </a:extLst>
          </p:cNvPr>
          <p:cNvSpPr>
            <a:spLocks noGrp="1"/>
          </p:cNvSpPr>
          <p:nvPr>
            <p:ph type="title"/>
          </p:nvPr>
        </p:nvSpPr>
        <p:spPr>
          <a:xfrm>
            <a:off x="106853" y="85032"/>
            <a:ext cx="10515600" cy="808067"/>
          </a:xfrm>
        </p:spPr>
        <p:txBody>
          <a:bodyPr>
            <a:normAutofit fontScale="90000"/>
          </a:bodyPr>
          <a:lstStyle/>
          <a:p>
            <a:r>
              <a:rPr lang="en-GB" sz="6000" b="1" dirty="0"/>
              <a:t>Bulk RNA-</a:t>
            </a:r>
            <a:r>
              <a:rPr lang="en-GB" sz="6000" b="1" dirty="0" err="1"/>
              <a:t>seq</a:t>
            </a:r>
            <a:endParaRPr lang="en-US" sz="6000" b="1" dirty="0"/>
          </a:p>
        </p:txBody>
      </p:sp>
      <p:pic>
        <p:nvPicPr>
          <p:cNvPr id="1026" name="Picture 2" descr="Differential expression analysis based on bulk RNA-seq. A. Gene distribution box plot based on bulk RNA-seq data GSE62019. B. Principal component analysis (PCA) based on bulk RNA-seq data GSE62019. C. Volcano map of differentially expressed genes based on bulk RNA-seq data GSE62019. D.Heat map of differentially expressed genes based on bulk RNA-seq data GSE62019. E. GSEA (FCD vs CTRL) enrichment analysis of GO enrichment results in BP, CC, MF TOP5 item histograms (arranged in descending order of NES columns). F. KEGG enrichment histogram of GSEA (FCD vs CTRL) enrichment analysis.">
            <a:extLst>
              <a:ext uri="{FF2B5EF4-FFF2-40B4-BE49-F238E27FC236}">
                <a16:creationId xmlns:a16="http://schemas.microsoft.com/office/drawing/2014/main" id="{CC82F0C5-F265-3220-47B7-A63FCF9989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4654" r="49309"/>
          <a:stretch/>
        </p:blipFill>
        <p:spPr bwMode="auto">
          <a:xfrm>
            <a:off x="7654067" y="116314"/>
            <a:ext cx="4164123" cy="335294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1DC8D8A-2C6A-AF7B-FC47-D04DCCAB9988}"/>
              </a:ext>
            </a:extLst>
          </p:cNvPr>
          <p:cNvSpPr txBox="1"/>
          <p:nvPr/>
        </p:nvSpPr>
        <p:spPr>
          <a:xfrm>
            <a:off x="511834" y="6403636"/>
            <a:ext cx="3542581" cy="369332"/>
          </a:xfrm>
          <a:prstGeom prst="rect">
            <a:avLst/>
          </a:prstGeom>
          <a:noFill/>
        </p:spPr>
        <p:txBody>
          <a:bodyPr wrap="square">
            <a:spAutoFit/>
          </a:bodyPr>
          <a:lstStyle/>
          <a:p>
            <a:r>
              <a:rPr lang="fr-FR" dirty="0"/>
              <a:t>DOI:10.21203/rs.3.rs-4253627/v1</a:t>
            </a:r>
            <a:endParaRPr lang="en-US" dirty="0"/>
          </a:p>
        </p:txBody>
      </p:sp>
      <p:pic>
        <p:nvPicPr>
          <p:cNvPr id="8" name="Picture 2" descr="Differential expression analysis based on bulk RNA-seq. A. Gene distribution box plot based on bulk RNA-seq data GSE62019. B. Principal component analysis (PCA) based on bulk RNA-seq data GSE62019. C. Volcano map of differentially expressed genes based on bulk RNA-seq data GSE62019. D.Heat map of differentially expressed genes based on bulk RNA-seq data GSE62019. E. GSEA (FCD vs CTRL) enrichment analysis of GO enrichment results in BP, CC, MF TOP5 item histograms (arranged in descending order of NES columns). F. KEGG enrichment histogram of GSEA (FCD vs CTRL) enrichment analysis.">
            <a:extLst>
              <a:ext uri="{FF2B5EF4-FFF2-40B4-BE49-F238E27FC236}">
                <a16:creationId xmlns:a16="http://schemas.microsoft.com/office/drawing/2014/main" id="{772E1E69-F558-9B41-FFBC-39698C6C0A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5304"/>
          <a:stretch/>
        </p:blipFill>
        <p:spPr bwMode="auto">
          <a:xfrm>
            <a:off x="373810" y="1016509"/>
            <a:ext cx="7005475" cy="523372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Differential expression analysis based on bulk RNA-seq. A. Gene distribution box plot based on bulk RNA-seq data GSE62019. B. Principal component analysis (PCA) based on bulk RNA-seq data GSE62019. C. Volcano map of differentially expressed genes based on bulk RNA-seq data GSE62019. D.Heat map of differentially expressed genes based on bulk RNA-seq data GSE62019. E. GSEA (FCD vs CTRL) enrichment analysis of GO enrichment results in BP, CC, MF TOP5 item histograms (arranged in descending order of NES columns). F. KEGG enrichment histogram of GSEA (FCD vs CTRL) enrichment analysis.">
            <a:extLst>
              <a:ext uri="{FF2B5EF4-FFF2-40B4-BE49-F238E27FC236}">
                <a16:creationId xmlns:a16="http://schemas.microsoft.com/office/drawing/2014/main" id="{700F86CA-FC0A-6196-C8E9-A509A4AB2B5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119" t="64654"/>
          <a:stretch/>
        </p:blipFill>
        <p:spPr bwMode="auto">
          <a:xfrm>
            <a:off x="7728017" y="3462479"/>
            <a:ext cx="4015410" cy="3352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5539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1DC8D8A-2C6A-AF7B-FC47-D04DCCAB9988}"/>
              </a:ext>
            </a:extLst>
          </p:cNvPr>
          <p:cNvSpPr txBox="1"/>
          <p:nvPr/>
        </p:nvSpPr>
        <p:spPr>
          <a:xfrm>
            <a:off x="8413630" y="6455360"/>
            <a:ext cx="3542581" cy="338554"/>
          </a:xfrm>
          <a:prstGeom prst="rect">
            <a:avLst/>
          </a:prstGeom>
          <a:noFill/>
        </p:spPr>
        <p:txBody>
          <a:bodyPr wrap="square">
            <a:spAutoFit/>
          </a:bodyPr>
          <a:lstStyle/>
          <a:p>
            <a:pPr algn="r"/>
            <a:r>
              <a:rPr lang="fr-FR" sz="1600" dirty="0"/>
              <a:t>DOI:10.1093/bib/bbs017</a:t>
            </a:r>
            <a:endParaRPr lang="en-US" sz="1600" dirty="0"/>
          </a:p>
        </p:txBody>
      </p:sp>
      <p:pic>
        <p:nvPicPr>
          <p:cNvPr id="1028" name="Picture 4" descr="Visualization of RNA-seq data from heart and liver tissue samples. Each...  | Download Scientific Diagram">
            <a:extLst>
              <a:ext uri="{FF2B5EF4-FFF2-40B4-BE49-F238E27FC236}">
                <a16:creationId xmlns:a16="http://schemas.microsoft.com/office/drawing/2014/main" id="{678CB41A-8F45-4E9C-4252-8D8CB4E0E9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7467" y="273619"/>
            <a:ext cx="8096250" cy="6391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2585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F830B9-10B6-5665-5178-E4AAA3D6E81E}"/>
              </a:ext>
            </a:extLst>
          </p:cNvPr>
          <p:cNvPicPr>
            <a:picLocks noChangeAspect="1"/>
          </p:cNvPicPr>
          <p:nvPr/>
        </p:nvPicPr>
        <p:blipFill>
          <a:blip r:embed="rId2"/>
          <a:stretch>
            <a:fillRect/>
          </a:stretch>
        </p:blipFill>
        <p:spPr>
          <a:xfrm>
            <a:off x="1154832" y="0"/>
            <a:ext cx="9882335" cy="6858000"/>
          </a:xfrm>
          <a:prstGeom prst="rect">
            <a:avLst/>
          </a:prstGeom>
        </p:spPr>
      </p:pic>
    </p:spTree>
    <p:extLst>
      <p:ext uri="{BB962C8B-B14F-4D97-AF65-F5344CB8AC3E}">
        <p14:creationId xmlns:p14="http://schemas.microsoft.com/office/powerpoint/2010/main" val="1674717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2EA1B6-C9B9-41D1-E754-AB9B588CEBCA}"/>
              </a:ext>
            </a:extLst>
          </p:cNvPr>
          <p:cNvPicPr>
            <a:picLocks noChangeAspect="1"/>
          </p:cNvPicPr>
          <p:nvPr/>
        </p:nvPicPr>
        <p:blipFill>
          <a:blip r:embed="rId2"/>
          <a:stretch>
            <a:fillRect/>
          </a:stretch>
        </p:blipFill>
        <p:spPr>
          <a:xfrm>
            <a:off x="0" y="37481"/>
            <a:ext cx="12192000" cy="6783037"/>
          </a:xfrm>
          <a:prstGeom prst="rect">
            <a:avLst/>
          </a:prstGeom>
        </p:spPr>
      </p:pic>
    </p:spTree>
    <p:extLst>
      <p:ext uri="{BB962C8B-B14F-4D97-AF65-F5344CB8AC3E}">
        <p14:creationId xmlns:p14="http://schemas.microsoft.com/office/powerpoint/2010/main" val="2581313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11FD57-E3B5-EE88-DC62-63F9A8F3C76C}"/>
              </a:ext>
            </a:extLst>
          </p:cNvPr>
          <p:cNvPicPr>
            <a:picLocks noChangeAspect="1"/>
          </p:cNvPicPr>
          <p:nvPr/>
        </p:nvPicPr>
        <p:blipFill>
          <a:blip r:embed="rId2"/>
          <a:stretch>
            <a:fillRect/>
          </a:stretch>
        </p:blipFill>
        <p:spPr>
          <a:xfrm>
            <a:off x="426561" y="0"/>
            <a:ext cx="11338877" cy="6858000"/>
          </a:xfrm>
          <a:prstGeom prst="rect">
            <a:avLst/>
          </a:prstGeom>
        </p:spPr>
      </p:pic>
    </p:spTree>
    <p:extLst>
      <p:ext uri="{BB962C8B-B14F-4D97-AF65-F5344CB8AC3E}">
        <p14:creationId xmlns:p14="http://schemas.microsoft.com/office/powerpoint/2010/main" val="919771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E8B58D-9A44-0C2A-69D1-D700FC51A41E}"/>
              </a:ext>
            </a:extLst>
          </p:cNvPr>
          <p:cNvPicPr>
            <a:picLocks noChangeAspect="1"/>
          </p:cNvPicPr>
          <p:nvPr/>
        </p:nvPicPr>
        <p:blipFill>
          <a:blip r:embed="rId2"/>
          <a:stretch>
            <a:fillRect/>
          </a:stretch>
        </p:blipFill>
        <p:spPr>
          <a:xfrm>
            <a:off x="0" y="888348"/>
            <a:ext cx="12192000" cy="5081304"/>
          </a:xfrm>
          <a:prstGeom prst="rect">
            <a:avLst/>
          </a:prstGeom>
        </p:spPr>
      </p:pic>
    </p:spTree>
    <p:extLst>
      <p:ext uri="{BB962C8B-B14F-4D97-AF65-F5344CB8AC3E}">
        <p14:creationId xmlns:p14="http://schemas.microsoft.com/office/powerpoint/2010/main" val="448584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777AE-64CD-0560-6AD5-5B54C1C6BD1F}"/>
              </a:ext>
            </a:extLst>
          </p:cNvPr>
          <p:cNvSpPr>
            <a:spLocks noGrp="1"/>
          </p:cNvSpPr>
          <p:nvPr>
            <p:ph type="title"/>
          </p:nvPr>
        </p:nvSpPr>
        <p:spPr>
          <a:xfrm>
            <a:off x="838200" y="284612"/>
            <a:ext cx="10515600" cy="819569"/>
          </a:xfrm>
        </p:spPr>
        <p:txBody>
          <a:bodyPr/>
          <a:lstStyle/>
          <a:p>
            <a:pPr algn="ctr"/>
            <a:r>
              <a:rPr lang="en-GB" b="1" dirty="0"/>
              <a:t>DNA methylation regulates gene expression</a:t>
            </a:r>
            <a:endParaRPr lang="en-US" b="1" dirty="0"/>
          </a:p>
        </p:txBody>
      </p:sp>
      <p:pic>
        <p:nvPicPr>
          <p:cNvPr id="6" name="Picture 5">
            <a:extLst>
              <a:ext uri="{FF2B5EF4-FFF2-40B4-BE49-F238E27FC236}">
                <a16:creationId xmlns:a16="http://schemas.microsoft.com/office/drawing/2014/main" id="{2CF7A896-58A4-D3FF-2FD0-9040839E8025}"/>
              </a:ext>
            </a:extLst>
          </p:cNvPr>
          <p:cNvPicPr>
            <a:picLocks noChangeAspect="1"/>
          </p:cNvPicPr>
          <p:nvPr/>
        </p:nvPicPr>
        <p:blipFill>
          <a:blip r:embed="rId2"/>
          <a:stretch>
            <a:fillRect/>
          </a:stretch>
        </p:blipFill>
        <p:spPr>
          <a:xfrm>
            <a:off x="2220296" y="1471406"/>
            <a:ext cx="7090482" cy="5021469"/>
          </a:xfrm>
          <a:prstGeom prst="rect">
            <a:avLst/>
          </a:prstGeom>
        </p:spPr>
      </p:pic>
      <p:sp>
        <p:nvSpPr>
          <p:cNvPr id="8" name="TextBox 7">
            <a:extLst>
              <a:ext uri="{FF2B5EF4-FFF2-40B4-BE49-F238E27FC236}">
                <a16:creationId xmlns:a16="http://schemas.microsoft.com/office/drawing/2014/main" id="{AA5E60F6-B98D-18BC-91D5-EAFEEB32F1AB}"/>
              </a:ext>
            </a:extLst>
          </p:cNvPr>
          <p:cNvSpPr txBox="1"/>
          <p:nvPr/>
        </p:nvSpPr>
        <p:spPr>
          <a:xfrm>
            <a:off x="5946477" y="6308209"/>
            <a:ext cx="5681931" cy="369332"/>
          </a:xfrm>
          <a:prstGeom prst="rect">
            <a:avLst/>
          </a:prstGeom>
          <a:noFill/>
        </p:spPr>
        <p:txBody>
          <a:bodyPr wrap="square">
            <a:spAutoFit/>
          </a:bodyPr>
          <a:lstStyle/>
          <a:p>
            <a:pPr algn="r"/>
            <a:r>
              <a:rPr lang="en-US" dirty="0"/>
              <a:t>https://pmc.ncbi.nlm.nih.gov/articles/PMC3083288/</a:t>
            </a:r>
          </a:p>
        </p:txBody>
      </p:sp>
    </p:spTree>
    <p:extLst>
      <p:ext uri="{BB962C8B-B14F-4D97-AF65-F5344CB8AC3E}">
        <p14:creationId xmlns:p14="http://schemas.microsoft.com/office/powerpoint/2010/main" val="3517669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etails are in the caption following the image">
            <a:extLst>
              <a:ext uri="{FF2B5EF4-FFF2-40B4-BE49-F238E27FC236}">
                <a16:creationId xmlns:a16="http://schemas.microsoft.com/office/drawing/2014/main" id="{271AE926-74FE-DB02-8A74-4E9AC93C8E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728" y="93744"/>
            <a:ext cx="10451351" cy="635018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329B372-EB3D-41E7-8593-052D6236B649}"/>
              </a:ext>
            </a:extLst>
          </p:cNvPr>
          <p:cNvSpPr txBox="1"/>
          <p:nvPr/>
        </p:nvSpPr>
        <p:spPr>
          <a:xfrm>
            <a:off x="5704936" y="6508238"/>
            <a:ext cx="6096000" cy="307777"/>
          </a:xfrm>
          <a:prstGeom prst="rect">
            <a:avLst/>
          </a:prstGeom>
          <a:noFill/>
        </p:spPr>
        <p:txBody>
          <a:bodyPr wrap="square">
            <a:spAutoFit/>
          </a:bodyPr>
          <a:lstStyle/>
          <a:p>
            <a:pPr algn="r"/>
            <a:r>
              <a:rPr lang="en-US" sz="1400" dirty="0"/>
              <a:t> https://doi.org/10.1002/bco2.445</a:t>
            </a:r>
          </a:p>
        </p:txBody>
      </p:sp>
    </p:spTree>
    <p:extLst>
      <p:ext uri="{BB962C8B-B14F-4D97-AF65-F5344CB8AC3E}">
        <p14:creationId xmlns:p14="http://schemas.microsoft.com/office/powerpoint/2010/main" val="1363177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58F80-0749-A90C-2122-7B6E00BD1687}"/>
              </a:ext>
            </a:extLst>
          </p:cNvPr>
          <p:cNvSpPr>
            <a:spLocks noGrp="1"/>
          </p:cNvSpPr>
          <p:nvPr>
            <p:ph type="title"/>
          </p:nvPr>
        </p:nvSpPr>
        <p:spPr>
          <a:xfrm>
            <a:off x="291861" y="261609"/>
            <a:ext cx="10515600" cy="673612"/>
          </a:xfrm>
        </p:spPr>
        <p:txBody>
          <a:bodyPr>
            <a:normAutofit fontScale="90000"/>
          </a:bodyPr>
          <a:lstStyle/>
          <a:p>
            <a:r>
              <a:rPr lang="en-GB" b="1" dirty="0"/>
              <a:t>Integration Analysis</a:t>
            </a:r>
            <a:endParaRPr lang="en-US" b="1" dirty="0"/>
          </a:p>
        </p:txBody>
      </p:sp>
      <p:pic>
        <p:nvPicPr>
          <p:cNvPr id="5122" name="Picture 2" descr="IGV snapshots showing the changes of histone marks and gene expression... |  Download Scientific Diagram">
            <a:extLst>
              <a:ext uri="{FF2B5EF4-FFF2-40B4-BE49-F238E27FC236}">
                <a16:creationId xmlns:a16="http://schemas.microsoft.com/office/drawing/2014/main" id="{32CC9011-6DED-15BE-7329-E4B14965AD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8595"/>
          <a:stretch/>
        </p:blipFill>
        <p:spPr bwMode="auto">
          <a:xfrm>
            <a:off x="6152670" y="1106995"/>
            <a:ext cx="5921007" cy="249159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GV snapshots showing the changes of histone marks and gene expression... |  Download Scientific Diagram">
            <a:extLst>
              <a:ext uri="{FF2B5EF4-FFF2-40B4-BE49-F238E27FC236}">
                <a16:creationId xmlns:a16="http://schemas.microsoft.com/office/drawing/2014/main" id="{ED5A6F32-419F-FACA-9975-E9341DA6A1B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5346"/>
          <a:stretch/>
        </p:blipFill>
        <p:spPr bwMode="auto">
          <a:xfrm>
            <a:off x="35902" y="1106995"/>
            <a:ext cx="6070761" cy="525929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9208332-EB4D-FBDE-6635-8451A260F5F6}"/>
              </a:ext>
            </a:extLst>
          </p:cNvPr>
          <p:cNvSpPr txBox="1"/>
          <p:nvPr/>
        </p:nvSpPr>
        <p:spPr>
          <a:xfrm>
            <a:off x="161026" y="6488668"/>
            <a:ext cx="6096000" cy="338554"/>
          </a:xfrm>
          <a:prstGeom prst="rect">
            <a:avLst/>
          </a:prstGeom>
          <a:noFill/>
        </p:spPr>
        <p:txBody>
          <a:bodyPr wrap="square">
            <a:spAutoFit/>
          </a:bodyPr>
          <a:lstStyle/>
          <a:p>
            <a:r>
              <a:rPr lang="en-US" sz="1600" dirty="0"/>
              <a:t>DOI:10.1038/s41598-021-87890-9</a:t>
            </a:r>
          </a:p>
        </p:txBody>
      </p:sp>
      <p:sp>
        <p:nvSpPr>
          <p:cNvPr id="9" name="TextBox 8">
            <a:extLst>
              <a:ext uri="{FF2B5EF4-FFF2-40B4-BE49-F238E27FC236}">
                <a16:creationId xmlns:a16="http://schemas.microsoft.com/office/drawing/2014/main" id="{1007A223-0EA9-71F8-311F-A3097346A2AA}"/>
              </a:ext>
            </a:extLst>
          </p:cNvPr>
          <p:cNvSpPr txBox="1"/>
          <p:nvPr/>
        </p:nvSpPr>
        <p:spPr>
          <a:xfrm>
            <a:off x="6106663" y="3661112"/>
            <a:ext cx="5967014" cy="2800767"/>
          </a:xfrm>
          <a:prstGeom prst="rect">
            <a:avLst/>
          </a:prstGeom>
          <a:noFill/>
        </p:spPr>
        <p:txBody>
          <a:bodyPr wrap="square">
            <a:spAutoFit/>
          </a:bodyPr>
          <a:lstStyle/>
          <a:p>
            <a:pPr algn="just"/>
            <a:r>
              <a:rPr lang="en-GB" sz="1100" b="0" i="0" dirty="0">
                <a:solidFill>
                  <a:srgbClr val="111111"/>
                </a:solidFill>
                <a:effectLst/>
                <a:latin typeface="Roboto" panose="02000000000000000000" pitchFamily="2" charset="0"/>
              </a:rPr>
              <a:t>IGV snapshots showing the changes of histone marks and gene expression in T-PLL. (a) Increased expression of TCL1A and the associated gains of H3K4me3 and H3K27ac. TCL1A was actively expressed in T-PLL but not in normal. All T-PLL cases gained both H3K4me3 and H3K27ac peaks (~ 6-kb) that covered the promoter and gene body. Based on the read density in the inputs, there are copy number gains in two T-PLL (P1 and P5). (b) Increased expression of MYC and the associated increase of H3K4me3 and H3K27ac. MYC expression was up-regulated in T-PLL. There was an overall increase in H3K4me3 and H3K27ac occupancy over an ~ 6 kb region that covers the promoter and gene body. The signal level in the inputs suggested a copy number gain in P1, P5 and P6. Promoter capture Hi-C data from 17 blood cell types suggested that an ~ 50-kb enhancer located &gt; 500 kb upstream interacted with MYC promoter in total B, naïve B, </a:t>
            </a:r>
            <a:r>
              <a:rPr lang="en-GB" sz="1100" b="0" i="0" dirty="0" err="1">
                <a:solidFill>
                  <a:srgbClr val="111111"/>
                </a:solidFill>
                <a:effectLst/>
                <a:latin typeface="Roboto" panose="02000000000000000000" pitchFamily="2" charset="0"/>
              </a:rPr>
              <a:t>fetal</a:t>
            </a:r>
            <a:r>
              <a:rPr lang="en-GB" sz="1100" b="0" i="0" dirty="0">
                <a:solidFill>
                  <a:srgbClr val="111111"/>
                </a:solidFill>
                <a:effectLst/>
                <a:latin typeface="Roboto" panose="02000000000000000000" pitchFamily="2" charset="0"/>
              </a:rPr>
              <a:t> thymus and five types of T cells. This enhancer showed a marked increase of H3K27ac in three of the T-PLL (P1-P3) compared to the normal. (c) Markedly reduced expression of CTLA4 and the associated loss of H3K4me3 and H3K27ac. The signal in the inputs suggested no copy number alteration within CTLA4 in T-PLL. N1-N3, normal; P1-P6, T-PLL. Y-axis indicates the number of reads per 200-bp (for </a:t>
            </a:r>
            <a:r>
              <a:rPr lang="en-GB" sz="1100" b="0" i="0" dirty="0" err="1">
                <a:solidFill>
                  <a:srgbClr val="111111"/>
                </a:solidFill>
                <a:effectLst/>
                <a:latin typeface="Roboto" panose="02000000000000000000" pitchFamily="2" charset="0"/>
              </a:rPr>
              <a:t>ChIP-seq</a:t>
            </a:r>
            <a:r>
              <a:rPr lang="en-GB" sz="1100" b="0" i="0" dirty="0">
                <a:solidFill>
                  <a:srgbClr val="111111"/>
                </a:solidFill>
                <a:effectLst/>
                <a:latin typeface="Roboto" panose="02000000000000000000" pitchFamily="2" charset="0"/>
              </a:rPr>
              <a:t> and input) or per base pair (for RNA-</a:t>
            </a:r>
            <a:r>
              <a:rPr lang="en-GB" sz="1100" b="0" i="0" dirty="0" err="1">
                <a:solidFill>
                  <a:srgbClr val="111111"/>
                </a:solidFill>
                <a:effectLst/>
                <a:latin typeface="Roboto" panose="02000000000000000000" pitchFamily="2" charset="0"/>
              </a:rPr>
              <a:t>seq</a:t>
            </a:r>
            <a:r>
              <a:rPr lang="en-GB" sz="1100" b="0" i="0" dirty="0">
                <a:solidFill>
                  <a:srgbClr val="111111"/>
                </a:solidFill>
                <a:effectLst/>
                <a:latin typeface="Roboto" panose="02000000000000000000" pitchFamily="2" charset="0"/>
              </a:rPr>
              <a:t>).</a:t>
            </a:r>
          </a:p>
        </p:txBody>
      </p:sp>
    </p:spTree>
    <p:extLst>
      <p:ext uri="{BB962C8B-B14F-4D97-AF65-F5344CB8AC3E}">
        <p14:creationId xmlns:p14="http://schemas.microsoft.com/office/powerpoint/2010/main" val="1449167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58F80-0749-A90C-2122-7B6E00BD1687}"/>
              </a:ext>
            </a:extLst>
          </p:cNvPr>
          <p:cNvSpPr>
            <a:spLocks noGrp="1"/>
          </p:cNvSpPr>
          <p:nvPr>
            <p:ph type="title"/>
          </p:nvPr>
        </p:nvSpPr>
        <p:spPr>
          <a:xfrm>
            <a:off x="291861" y="261609"/>
            <a:ext cx="10515600" cy="673612"/>
          </a:xfrm>
        </p:spPr>
        <p:txBody>
          <a:bodyPr>
            <a:normAutofit fontScale="90000"/>
          </a:bodyPr>
          <a:lstStyle/>
          <a:p>
            <a:r>
              <a:rPr lang="en-GB" b="1" dirty="0"/>
              <a:t>Integration Analysis</a:t>
            </a:r>
            <a:endParaRPr lang="en-US" b="1" dirty="0"/>
          </a:p>
        </p:txBody>
      </p:sp>
      <p:sp>
        <p:nvSpPr>
          <p:cNvPr id="7" name="TextBox 6">
            <a:extLst>
              <a:ext uri="{FF2B5EF4-FFF2-40B4-BE49-F238E27FC236}">
                <a16:creationId xmlns:a16="http://schemas.microsoft.com/office/drawing/2014/main" id="{19208332-EB4D-FBDE-6635-8451A260F5F6}"/>
              </a:ext>
            </a:extLst>
          </p:cNvPr>
          <p:cNvSpPr txBox="1"/>
          <p:nvPr/>
        </p:nvSpPr>
        <p:spPr>
          <a:xfrm>
            <a:off x="5187350" y="6501774"/>
            <a:ext cx="6096000" cy="338554"/>
          </a:xfrm>
          <a:prstGeom prst="rect">
            <a:avLst/>
          </a:prstGeom>
          <a:noFill/>
        </p:spPr>
        <p:txBody>
          <a:bodyPr wrap="square">
            <a:spAutoFit/>
          </a:bodyPr>
          <a:lstStyle/>
          <a:p>
            <a:pPr algn="r"/>
            <a:r>
              <a:rPr lang="en-US" sz="1600" dirty="0"/>
              <a:t>https://www.nature.com/articles/ncomms6288</a:t>
            </a:r>
          </a:p>
        </p:txBody>
      </p:sp>
      <p:pic>
        <p:nvPicPr>
          <p:cNvPr id="6146" name="Picture 2" descr="Repression of genes by the polycomb mark H3K27me3. (a,b) IGV (integrative genomics viewer) traces of ​CpG methylation of the ​cardiac troponin T type 2 (​Tnnt2) gene (a) and the ​Isl1 gene (b) in adult cardiomyocytes and ES cells and traces of histone modifications and RNA expression. (c) Heat maps of gene expression, ​CpG methylation and histone modifications of genes demethylated in adult cardiomyocytes as compared with ES cells. Displayed genes (derived from a, group II) had either very low (&lt;1 FPKM, group 1) or high gene expression (&gt;250 FPKM, group 2) in adult cardiomyocytes (Supplementary Data 2). Right panel, enriched gene ontology terms (P&lt;10−15, hypergeometric test, Bonferroni step down correction) and representative genes. TSS, transcription start site; TES, transcription end site; 5 m ​CpG, ​GpG methylation.">
            <a:extLst>
              <a:ext uri="{FF2B5EF4-FFF2-40B4-BE49-F238E27FC236}">
                <a16:creationId xmlns:a16="http://schemas.microsoft.com/office/drawing/2014/main" id="{B284D9BB-C2F7-8509-A2AD-57436C8B2A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098" y="1026021"/>
            <a:ext cx="7515944" cy="5384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1280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0DF-8DEF-2F89-255E-B1C4CB1EF811}"/>
              </a:ext>
            </a:extLst>
          </p:cNvPr>
          <p:cNvSpPr>
            <a:spLocks noGrp="1"/>
          </p:cNvSpPr>
          <p:nvPr>
            <p:ph type="title"/>
          </p:nvPr>
        </p:nvSpPr>
        <p:spPr>
          <a:xfrm>
            <a:off x="316302" y="365126"/>
            <a:ext cx="11037498" cy="836822"/>
          </a:xfrm>
        </p:spPr>
        <p:txBody>
          <a:bodyPr/>
          <a:lstStyle/>
          <a:p>
            <a:r>
              <a:rPr lang="en-GB" b="1" dirty="0"/>
              <a:t>Integration Analysis</a:t>
            </a:r>
            <a:endParaRPr lang="en-US" dirty="0"/>
          </a:p>
        </p:txBody>
      </p:sp>
      <p:pic>
        <p:nvPicPr>
          <p:cNvPr id="7170" name="Picture 2" descr="Analysis of short tandem repeat expansions and their methylation ...">
            <a:extLst>
              <a:ext uri="{FF2B5EF4-FFF2-40B4-BE49-F238E27FC236}">
                <a16:creationId xmlns:a16="http://schemas.microsoft.com/office/drawing/2014/main" id="{02AB778B-450E-EE98-8DA7-300276F0B9D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097" y="1883688"/>
            <a:ext cx="11881805" cy="371198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725E3FB-CC6D-1199-447B-C8438142C56F}"/>
              </a:ext>
            </a:extLst>
          </p:cNvPr>
          <p:cNvSpPr txBox="1"/>
          <p:nvPr/>
        </p:nvSpPr>
        <p:spPr>
          <a:xfrm>
            <a:off x="6659593" y="6236261"/>
            <a:ext cx="5267864" cy="369332"/>
          </a:xfrm>
          <a:prstGeom prst="rect">
            <a:avLst/>
          </a:prstGeom>
          <a:noFill/>
        </p:spPr>
        <p:txBody>
          <a:bodyPr wrap="square">
            <a:spAutoFit/>
          </a:bodyPr>
          <a:lstStyle/>
          <a:p>
            <a:r>
              <a:rPr lang="en-US" dirty="0"/>
              <a:t>https://www.nature.com/articles/s41587-019-0293-x</a:t>
            </a:r>
          </a:p>
        </p:txBody>
      </p:sp>
    </p:spTree>
    <p:extLst>
      <p:ext uri="{BB962C8B-B14F-4D97-AF65-F5344CB8AC3E}">
        <p14:creationId xmlns:p14="http://schemas.microsoft.com/office/powerpoint/2010/main" val="24415541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FB815-6B47-67B1-EEAC-723CDCB247D1}"/>
              </a:ext>
            </a:extLst>
          </p:cNvPr>
          <p:cNvSpPr>
            <a:spLocks noGrp="1"/>
          </p:cNvSpPr>
          <p:nvPr>
            <p:ph type="title"/>
          </p:nvPr>
        </p:nvSpPr>
        <p:spPr>
          <a:xfrm>
            <a:off x="705928" y="2360703"/>
            <a:ext cx="10515600" cy="1325563"/>
          </a:xfrm>
        </p:spPr>
        <p:txBody>
          <a:bodyPr>
            <a:normAutofit/>
          </a:bodyPr>
          <a:lstStyle/>
          <a:p>
            <a:pPr algn="ctr"/>
            <a:r>
              <a:rPr lang="en-GB" sz="6000" b="1" dirty="0"/>
              <a:t>Xin </a:t>
            </a:r>
            <a:r>
              <a:rPr lang="en-GB" sz="6000" b="1" dirty="0" err="1"/>
              <a:t>chân</a:t>
            </a:r>
            <a:r>
              <a:rPr lang="en-GB" sz="6000" b="1" dirty="0"/>
              <a:t> </a:t>
            </a:r>
            <a:r>
              <a:rPr lang="en-GB" sz="6000" b="1" dirty="0" err="1"/>
              <a:t>thành</a:t>
            </a:r>
            <a:r>
              <a:rPr lang="en-GB" sz="6000" b="1" dirty="0"/>
              <a:t> </a:t>
            </a:r>
            <a:r>
              <a:rPr lang="en-GB" sz="6000" b="1" dirty="0" err="1"/>
              <a:t>cảm</a:t>
            </a:r>
            <a:r>
              <a:rPr lang="en-GB" sz="6000" b="1" dirty="0"/>
              <a:t> </a:t>
            </a:r>
            <a:r>
              <a:rPr lang="en-GB" sz="6000" b="1" dirty="0" err="1"/>
              <a:t>ơn</a:t>
            </a:r>
            <a:r>
              <a:rPr lang="en-GB" sz="6000" b="1" dirty="0"/>
              <a:t>!</a:t>
            </a:r>
            <a:endParaRPr lang="en-US" sz="6000" b="1" dirty="0"/>
          </a:p>
        </p:txBody>
      </p:sp>
    </p:spTree>
    <p:extLst>
      <p:ext uri="{BB962C8B-B14F-4D97-AF65-F5344CB8AC3E}">
        <p14:creationId xmlns:p14="http://schemas.microsoft.com/office/powerpoint/2010/main" val="3069725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543</Words>
  <Application>Microsoft Office PowerPoint</Application>
  <PresentationFormat>Widescreen</PresentationFormat>
  <Paragraphs>43</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Roboto</vt:lpstr>
      <vt:lpstr>Office Theme</vt:lpstr>
      <vt:lpstr>Review OMICs 2025</vt:lpstr>
      <vt:lpstr>Content</vt:lpstr>
      <vt:lpstr>DNA-seq</vt:lpstr>
      <vt:lpstr>PowerPoint Presentation</vt:lpstr>
      <vt:lpstr>PowerPoint Presentation</vt:lpstr>
      <vt:lpstr>Whole genome sequencing – Shotgun Library Prep</vt:lpstr>
      <vt:lpstr>PowerPoint Presentation</vt:lpstr>
      <vt:lpstr>PowerPoint Presentation</vt:lpstr>
      <vt:lpstr>PowerPoint Presentation</vt:lpstr>
      <vt:lpstr>PowerPoint Presentation</vt:lpstr>
      <vt:lpstr>PowerPoint Presentation</vt:lpstr>
      <vt:lpstr>Bulk RNA-seq</vt:lpstr>
      <vt:lpstr>PowerPoint Presentation</vt:lpstr>
      <vt:lpstr>PowerPoint Presentation</vt:lpstr>
      <vt:lpstr>PowerPoint Presentation</vt:lpstr>
      <vt:lpstr>PowerPoint Presentation</vt:lpstr>
      <vt:lpstr>PowerPoint Presentation</vt:lpstr>
      <vt:lpstr>DNA methylation regulates gene expression</vt:lpstr>
      <vt:lpstr>PowerPoint Presentation</vt:lpstr>
      <vt:lpstr>Integration Analysis</vt:lpstr>
      <vt:lpstr>Integration Analysis</vt:lpstr>
      <vt:lpstr>Integration Analysis</vt:lpstr>
      <vt:lpstr>Xin chân thành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OMICs 2025</dc:title>
  <dc:creator>Luu Loi</dc:creator>
  <cp:lastModifiedBy>Luu Loi</cp:lastModifiedBy>
  <cp:revision>16</cp:revision>
  <dcterms:created xsi:type="dcterms:W3CDTF">2025-04-19T07:32:31Z</dcterms:created>
  <dcterms:modified xsi:type="dcterms:W3CDTF">2025-04-19T08:52:05Z</dcterms:modified>
</cp:coreProperties>
</file>