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66" r:id="rId3"/>
    <p:sldId id="267" r:id="rId4"/>
    <p:sldId id="268" r:id="rId5"/>
    <p:sldId id="269" r:id="rId6"/>
    <p:sldId id="271" r:id="rId7"/>
    <p:sldId id="272" r:id="rId8"/>
    <p:sldId id="257" r:id="rId9"/>
    <p:sldId id="273" r:id="rId10"/>
    <p:sldId id="276" r:id="rId11"/>
    <p:sldId id="283" r:id="rId12"/>
    <p:sldId id="277" r:id="rId13"/>
    <p:sldId id="274" r:id="rId14"/>
    <p:sldId id="288" r:id="rId15"/>
    <p:sldId id="279" r:id="rId16"/>
    <p:sldId id="280" r:id="rId17"/>
    <p:sldId id="265" r:id="rId18"/>
    <p:sldId id="284" r:id="rId19"/>
    <p:sldId id="278" r:id="rId20"/>
    <p:sldId id="275" r:id="rId21"/>
    <p:sldId id="285" r:id="rId22"/>
    <p:sldId id="286" r:id="rId23"/>
    <p:sldId id="28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6" autoAdjust="0"/>
    <p:restoredTop sz="85747" autoAdjust="0"/>
  </p:normalViewPr>
  <p:slideViewPr>
    <p:cSldViewPr snapToGrid="0">
      <p:cViewPr varScale="1">
        <p:scale>
          <a:sx n="76" d="100"/>
          <a:sy n="76" d="100"/>
        </p:scale>
        <p:origin x="1506" y="-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D163DA-A0BE-4C64-89B4-552E94188C8C}" type="datetimeFigureOut">
              <a:rPr lang="en-US" smtClean="0"/>
              <a:t>28/04/2025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98590-DBAF-4C11-B152-4204985F4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90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16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567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Gene-level QC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98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43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923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FF315-39A3-A748-5A94-8CBEBB84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02452-FCD3-9848-3E63-6296EB5B9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EF6434-2F89-CC5D-0A45-1809A9F1A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C67B7-D694-19D7-E72C-670F299489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01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9289-27DE-2AB2-7973-2883A598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E34491-9B65-D431-DC5D-649492BFE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A2096-1785-CD2C-E68A-60D9493136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C1BB7-5689-F1B9-80FE-858198873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38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98590-DBAF-4C11-B152-4204985F44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86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AFDD1-AE36-4155-939A-D827D1BE2B43}" type="datetime1">
              <a:rPr lang="en-US" smtClean="0"/>
              <a:t>28/04/2025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52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BCAC-5C06-4EA3-8BCE-77AF2267106B}" type="datetime1">
              <a:rPr lang="en-US" smtClean="0"/>
              <a:t>28/04/2025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057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57A12-A21A-4CA6-BC2C-BA24D2740A81}" type="datetime1">
              <a:rPr lang="en-US" smtClean="0"/>
              <a:t>28/04/2025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37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46370-EDE7-4E6F-B033-82F64696E348}" type="datetime1">
              <a:rPr lang="en-US" smtClean="0"/>
              <a:t>28/04/2025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51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E0FE3-3E2F-4A21-8690-44D94CAF63B4}" type="datetime1">
              <a:rPr lang="en-US" smtClean="0"/>
              <a:t>28/04/2025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35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5CC25-92D4-4BE0-823A-01031F3E6462}" type="datetime1">
              <a:rPr lang="en-US" smtClean="0"/>
              <a:t>28/04/2025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819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D1C7-ECAE-4B13-80CB-215F771514B7}" type="datetime1">
              <a:rPr lang="en-US" smtClean="0"/>
              <a:t>28/04/2025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621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5E07-49B4-461B-ABA9-C8AE18B774BF}" type="datetime1">
              <a:rPr lang="en-US" smtClean="0"/>
              <a:t>28/04/2025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673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625B87-43ED-443A-BB61-9E870BC0BB16}" type="datetime1">
              <a:rPr lang="en-US" smtClean="0"/>
              <a:t>28/04/2025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68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34C4F-AF53-4AFE-BAFC-458F8E8104A2}" type="datetime1">
              <a:rPr lang="en-US" smtClean="0"/>
              <a:t>28/04/2025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CF021-2E98-4CFC-B4C2-8C7842811701}" type="datetime1">
              <a:rPr lang="en-US" smtClean="0"/>
              <a:t>28/04/2025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86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DB975-BF1B-4D8C-9817-1E437B7C0FD4}" type="datetime1">
              <a:rPr lang="en-US" smtClean="0"/>
              <a:t>28/04/2025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CD698A-69EA-4EFF-86EF-72B132DA81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38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topics/biochemistry-genetics-and-molecular-biology/annexin" TargetMode="External"/><Relationship Id="rId5" Type="http://schemas.openxmlformats.org/officeDocument/2006/relationships/hyperlink" Target="https://www.sciencedirect.com/topics/biochemistry-genetics-and-molecular-biology/propidium-iodide" TargetMode="External"/><Relationship Id="rId4" Type="http://schemas.openxmlformats.org/officeDocument/2006/relationships/hyperlink" Target="https://www.sciencedirect.com/topics/agricultural-and-biological-sciences/annexin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246917-CB99-F7B2-AF4A-BA50BEDDCDA3}"/>
              </a:ext>
            </a:extLst>
          </p:cNvPr>
          <p:cNvSpPr txBox="1"/>
          <p:nvPr/>
        </p:nvSpPr>
        <p:spPr>
          <a:xfrm>
            <a:off x="1207159" y="2216038"/>
            <a:ext cx="6876331" cy="1597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800" b="1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and late genome-wide gastric epithelial transcriptome response during infection with the human carcinogen </a:t>
            </a:r>
            <a:r>
              <a:rPr lang="en-US" sz="2800" b="1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Helicobacter</a:t>
            </a:r>
            <a:r>
              <a:rPr lang="en-US" sz="2800" b="1" i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sz="2800" b="1" i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pylori</a:t>
            </a:r>
            <a:endParaRPr lang="en-US" sz="2800" b="1" i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8B7A3-E76F-20EF-F79F-850FDB300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2AF2D53-7E0E-F67C-CEEE-EDF78212F8CA}"/>
              </a:ext>
            </a:extLst>
          </p:cNvPr>
          <p:cNvSpPr txBox="1"/>
          <p:nvPr/>
        </p:nvSpPr>
        <p:spPr>
          <a:xfrm>
            <a:off x="5840082" y="3892064"/>
            <a:ext cx="2717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ElsevierSans"/>
              </a:rPr>
              <a:t>Irshad </a:t>
            </a:r>
            <a:r>
              <a:rPr lang="en-US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al, 2022</a:t>
            </a:r>
            <a:endParaRPr lang="en-US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630427-381A-2C26-86E9-552E0830853A}"/>
              </a:ext>
            </a:extLst>
          </p:cNvPr>
          <p:cNvSpPr txBox="1"/>
          <p:nvPr/>
        </p:nvSpPr>
        <p:spPr>
          <a:xfrm>
            <a:off x="2298944" y="516651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Pham </a:t>
            </a:r>
            <a:r>
              <a:rPr lang="en-US" sz="2000" b="1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</a:t>
            </a:r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Hong Dao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3984EF-05F7-E348-F67A-BFAEEDE25269}"/>
              </a:ext>
            </a:extLst>
          </p:cNvPr>
          <p:cNvSpPr txBox="1"/>
          <p:nvPr/>
        </p:nvSpPr>
        <p:spPr>
          <a:xfrm>
            <a:off x="3013499" y="1491426"/>
            <a:ext cx="3142890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presentation</a:t>
            </a:r>
          </a:p>
        </p:txBody>
      </p:sp>
      <p:pic>
        <p:nvPicPr>
          <p:cNvPr id="12" name="Picture 11" descr="A black background with blue text&#10;&#10;Description automatically generated">
            <a:extLst>
              <a:ext uri="{FF2B5EF4-FFF2-40B4-BE49-F238E27FC236}">
                <a16:creationId xmlns:a16="http://schemas.microsoft.com/office/drawing/2014/main" id="{5CD72F95-6F98-6BED-DCD0-81EFABA823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40" y="155274"/>
            <a:ext cx="3300962" cy="85114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ED58363-2DE7-463A-402F-39A73A817FE3}"/>
              </a:ext>
            </a:extLst>
          </p:cNvPr>
          <p:cNvSpPr/>
          <p:nvPr/>
        </p:nvSpPr>
        <p:spPr>
          <a:xfrm>
            <a:off x="0" y="1568"/>
            <a:ext cx="9144000" cy="1052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22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74C88D-E6C0-ADB7-0AB4-49ABFAC6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BE41EE-5D0A-EA48-F2D0-B7021AFE32BD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DCD25-F9D9-659A-8D19-21547095B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4" y="640291"/>
            <a:ext cx="3575518" cy="28070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18641B-6C8E-C240-315F-3C4FD7B2AF42}"/>
              </a:ext>
            </a:extLst>
          </p:cNvPr>
          <p:cNvSpPr txBox="1"/>
          <p:nvPr/>
        </p:nvSpPr>
        <p:spPr>
          <a:xfrm>
            <a:off x="494081" y="3745263"/>
            <a:ext cx="3875584" cy="2883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b="1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r>
              <a:rPr lang="en-US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(High temperature requirement A) 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serine proteases: both chaperone and proteolytic activities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1F1F1F"/>
                </a:solidFill>
                <a:latin typeface="ElsevierGulliver"/>
              </a:rPr>
              <a:t>HtrA</a:t>
            </a:r>
            <a:r>
              <a:rPr lang="en-US" dirty="0">
                <a:solidFill>
                  <a:srgbClr val="1F1F1F"/>
                </a:solidFill>
                <a:latin typeface="ElsevierGulliver"/>
              </a:rPr>
              <a:t> affects the host cellular signaling upon </a:t>
            </a:r>
            <a:r>
              <a:rPr lang="en-US" i="1" dirty="0">
                <a:solidFill>
                  <a:srgbClr val="1F1F1F"/>
                </a:solidFill>
                <a:latin typeface="ElsevierGulliver"/>
              </a:rPr>
              <a:t>H. pylori</a:t>
            </a:r>
            <a:r>
              <a:rPr lang="en-US" dirty="0">
                <a:solidFill>
                  <a:srgbClr val="1F1F1F"/>
                </a:solidFill>
                <a:latin typeface="ElsevierGulliver"/>
              </a:rPr>
              <a:t> infection of gastric cells remains widely unclear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endParaRPr lang="en-US" b="0" i="0" dirty="0">
              <a:solidFill>
                <a:srgbClr val="1F1F1F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480514-E792-A40E-5201-93F836D74510}"/>
              </a:ext>
            </a:extLst>
          </p:cNvPr>
          <p:cNvGrpSpPr/>
          <p:nvPr/>
        </p:nvGrpSpPr>
        <p:grpSpPr>
          <a:xfrm>
            <a:off x="4077510" y="772891"/>
            <a:ext cx="4105263" cy="4105508"/>
            <a:chOff x="4077510" y="772891"/>
            <a:chExt cx="4105263" cy="4105508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5451FEC-88F2-5359-4DF3-C8C9FC1A9CBC}"/>
                </a:ext>
              </a:extLst>
            </p:cNvPr>
            <p:cNvGrpSpPr/>
            <p:nvPr/>
          </p:nvGrpSpPr>
          <p:grpSpPr>
            <a:xfrm>
              <a:off x="4077510" y="772891"/>
              <a:ext cx="4024381" cy="4105508"/>
              <a:chOff x="3641628" y="813148"/>
              <a:chExt cx="3678906" cy="4033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7D09828-69F0-05DF-1BF4-3B605F828A03}"/>
                  </a:ext>
                </a:extLst>
              </p:cNvPr>
              <p:cNvGrpSpPr/>
              <p:nvPr/>
            </p:nvGrpSpPr>
            <p:grpSpPr>
              <a:xfrm>
                <a:off x="3641628" y="813148"/>
                <a:ext cx="3678906" cy="4033476"/>
                <a:chOff x="784761" y="759116"/>
                <a:chExt cx="3678906" cy="4033476"/>
              </a:xfrm>
            </p:grpSpPr>
            <p:pic>
              <p:nvPicPr>
                <p:cNvPr id="30" name="Picture 2" descr="E:\Hoc\project-170515\đề cương\hinh luan van\Picture00.png">
                  <a:extLst>
                    <a:ext uri="{FF2B5EF4-FFF2-40B4-BE49-F238E27FC236}">
                      <a16:creationId xmlns:a16="http://schemas.microsoft.com/office/drawing/2014/main" id="{04822555-3265-8201-346F-6ED8960930C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5263" b="33654"/>
                <a:stretch/>
              </p:blipFill>
              <p:spPr bwMode="auto">
                <a:xfrm>
                  <a:off x="784761" y="759116"/>
                  <a:ext cx="3678906" cy="144396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F620D91-C1BB-3C37-B961-494C5112F97B}"/>
                    </a:ext>
                  </a:extLst>
                </p:cNvPr>
                <p:cNvSpPr txBox="1"/>
                <p:nvPr/>
              </p:nvSpPr>
              <p:spPr>
                <a:xfrm>
                  <a:off x="808261" y="2340320"/>
                  <a:ext cx="1520962" cy="2721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r>
                    <a:rPr lang="en-US" sz="1200" dirty="0"/>
                    <a:t>Chronic inflammation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8F3B12B-8BD9-5355-8870-26FA8EAB8A16}"/>
                    </a:ext>
                  </a:extLst>
                </p:cNvPr>
                <p:cNvSpPr txBox="1"/>
                <p:nvPr/>
              </p:nvSpPr>
              <p:spPr>
                <a:xfrm>
                  <a:off x="2927170" y="2340320"/>
                  <a:ext cx="1037706" cy="2721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r>
                    <a:rPr lang="en-US" sz="1200"/>
                    <a:t>DNA damage 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750D435-D4CD-0A93-52C2-309E0FA0B72A}"/>
                    </a:ext>
                  </a:extLst>
                </p:cNvPr>
                <p:cNvSpPr txBox="1"/>
                <p:nvPr/>
              </p:nvSpPr>
              <p:spPr>
                <a:xfrm>
                  <a:off x="2896578" y="2832350"/>
                  <a:ext cx="1475284" cy="2721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r>
                    <a:rPr lang="en-US" sz="1200" dirty="0"/>
                    <a:t>DNA repair systems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325D2496-6FD1-94F4-00F4-EFB9BE79AD72}"/>
                    </a:ext>
                  </a:extLst>
                </p:cNvPr>
                <p:cNvSpPr txBox="1"/>
                <p:nvPr/>
              </p:nvSpPr>
              <p:spPr>
                <a:xfrm>
                  <a:off x="1528720" y="3232880"/>
                  <a:ext cx="922140" cy="2721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r>
                    <a:rPr lang="en-US" sz="1200" dirty="0"/>
                    <a:t>Apoptosis</a:t>
                  </a:r>
                </a:p>
              </p:txBody>
            </p:sp>
            <p:sp>
              <p:nvSpPr>
                <p:cNvPr id="27" name="Arrow: Down 26">
                  <a:extLst>
                    <a:ext uri="{FF2B5EF4-FFF2-40B4-BE49-F238E27FC236}">
                      <a16:creationId xmlns:a16="http://schemas.microsoft.com/office/drawing/2014/main" id="{595FB7F0-04C8-5EC8-ACCC-3D3C3DB018D4}"/>
                    </a:ext>
                  </a:extLst>
                </p:cNvPr>
                <p:cNvSpPr/>
                <p:nvPr/>
              </p:nvSpPr>
              <p:spPr>
                <a:xfrm>
                  <a:off x="2572497" y="2307025"/>
                  <a:ext cx="202445" cy="1563794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8BBDF553-A7CC-BD28-4FDD-4DC64D0ABBF7}"/>
                    </a:ext>
                  </a:extLst>
                </p:cNvPr>
                <p:cNvSpPr txBox="1"/>
                <p:nvPr/>
              </p:nvSpPr>
              <p:spPr>
                <a:xfrm>
                  <a:off x="1258160" y="2763784"/>
                  <a:ext cx="922140" cy="272139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wrap="square">
                  <a:spAutoFit/>
                </a:bodyPr>
                <a:lstStyle/>
                <a:p>
                  <a:r>
                    <a:rPr lang="en-US" sz="1200"/>
                    <a:t>Cell cycle</a:t>
                  </a:r>
                </a:p>
              </p:txBody>
            </p:sp>
            <p:sp>
              <p:nvSpPr>
                <p:cNvPr id="29" name="Star: 8 Points 28">
                  <a:extLst>
                    <a:ext uri="{FF2B5EF4-FFF2-40B4-BE49-F238E27FC236}">
                      <a16:creationId xmlns:a16="http://schemas.microsoft.com/office/drawing/2014/main" id="{ADA91356-CD0E-E8E8-53C5-871D41157A64}"/>
                    </a:ext>
                  </a:extLst>
                </p:cNvPr>
                <p:cNvSpPr/>
                <p:nvPr/>
              </p:nvSpPr>
              <p:spPr>
                <a:xfrm>
                  <a:off x="2211702" y="4163733"/>
                  <a:ext cx="1234321" cy="628859"/>
                </a:xfrm>
                <a:prstGeom prst="star8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0" b="1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Gastric cancer</a:t>
                  </a:r>
                </a:p>
              </p:txBody>
            </p:sp>
          </p:grpSp>
          <p:sp>
            <p:nvSpPr>
              <p:cNvPr id="38" name="Star: 8 Points 37">
                <a:extLst>
                  <a:ext uri="{FF2B5EF4-FFF2-40B4-BE49-F238E27FC236}">
                    <a16:creationId xmlns:a16="http://schemas.microsoft.com/office/drawing/2014/main" id="{012966C0-07BD-310E-9829-8AF7088E98C0}"/>
                  </a:ext>
                </a:extLst>
              </p:cNvPr>
              <p:cNvSpPr/>
              <p:nvPr/>
            </p:nvSpPr>
            <p:spPr>
              <a:xfrm>
                <a:off x="5694030" y="3716135"/>
                <a:ext cx="1226103" cy="531593"/>
              </a:xfrm>
              <a:prstGeom prst="star8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Peptic ulcer</a:t>
                </a:r>
              </a:p>
            </p:txBody>
          </p:sp>
          <p:sp>
            <p:nvSpPr>
              <p:cNvPr id="39" name="Star: 8 Points 38">
                <a:extLst>
                  <a:ext uri="{FF2B5EF4-FFF2-40B4-BE49-F238E27FC236}">
                    <a16:creationId xmlns:a16="http://schemas.microsoft.com/office/drawing/2014/main" id="{781E8174-D6E1-2CFB-5237-31298F2660F0}"/>
                  </a:ext>
                </a:extLst>
              </p:cNvPr>
              <p:cNvSpPr/>
              <p:nvPr/>
            </p:nvSpPr>
            <p:spPr>
              <a:xfrm>
                <a:off x="4278635" y="3840243"/>
                <a:ext cx="998502" cy="476828"/>
              </a:xfrm>
              <a:prstGeom prst="star8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/>
                  <a:t> Gastritis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96F89E4-50B0-2D1E-BF2A-EADA2DD2BFD2}"/>
                </a:ext>
              </a:extLst>
            </p:cNvPr>
            <p:cNvSpPr txBox="1"/>
            <p:nvPr/>
          </p:nvSpPr>
          <p:spPr>
            <a:xfrm>
              <a:off x="7457559" y="1305023"/>
              <a:ext cx="72521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HtrA</a:t>
              </a:r>
              <a:endPara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Isosceles Triangle 9">
              <a:extLst>
                <a:ext uri="{FF2B5EF4-FFF2-40B4-BE49-F238E27FC236}">
                  <a16:creationId xmlns:a16="http://schemas.microsoft.com/office/drawing/2014/main" id="{3ED80BFF-E585-136B-1C03-C07FD58A2562}"/>
                </a:ext>
              </a:extLst>
            </p:cNvPr>
            <p:cNvSpPr/>
            <p:nvPr/>
          </p:nvSpPr>
          <p:spPr>
            <a:xfrm>
              <a:off x="7151448" y="1639793"/>
              <a:ext cx="86207" cy="65509"/>
            </a:xfrm>
            <a:prstGeom prst="triangl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>
              <a:extLst>
                <a:ext uri="{FF2B5EF4-FFF2-40B4-BE49-F238E27FC236}">
                  <a16:creationId xmlns:a16="http://schemas.microsoft.com/office/drawing/2014/main" id="{F092BD0A-3379-0DE8-1257-DDDDCBDB0EFA}"/>
                </a:ext>
              </a:extLst>
            </p:cNvPr>
            <p:cNvSpPr/>
            <p:nvPr/>
          </p:nvSpPr>
          <p:spPr>
            <a:xfrm>
              <a:off x="7303848" y="1792193"/>
              <a:ext cx="86207" cy="65509"/>
            </a:xfrm>
            <a:prstGeom prst="triangl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Isosceles Triangle 11">
              <a:extLst>
                <a:ext uri="{FF2B5EF4-FFF2-40B4-BE49-F238E27FC236}">
                  <a16:creationId xmlns:a16="http://schemas.microsoft.com/office/drawing/2014/main" id="{8362473C-7E0B-E421-F89C-A8BCD0609252}"/>
                </a:ext>
              </a:extLst>
            </p:cNvPr>
            <p:cNvSpPr/>
            <p:nvPr/>
          </p:nvSpPr>
          <p:spPr>
            <a:xfrm>
              <a:off x="7166163" y="1944593"/>
              <a:ext cx="86207" cy="65509"/>
            </a:xfrm>
            <a:prstGeom prst="triangle">
              <a:avLst/>
            </a:prstGeom>
          </p:spPr>
          <p:style>
            <a:lnRef idx="1">
              <a:schemeClr val="accent5"/>
            </a:lnRef>
            <a:fillRef idx="3">
              <a:schemeClr val="accent5"/>
            </a:fillRef>
            <a:effectRef idx="2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3849D276-7E96-811D-D115-C7C1A65BE36B}"/>
              </a:ext>
            </a:extLst>
          </p:cNvPr>
          <p:cNvSpPr/>
          <p:nvPr/>
        </p:nvSpPr>
        <p:spPr>
          <a:xfrm>
            <a:off x="7332814" y="1197234"/>
            <a:ext cx="662152" cy="46665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BCE5D0-6EFC-F21A-B3E2-DB0178F99ADA}"/>
              </a:ext>
            </a:extLst>
          </p:cNvPr>
          <p:cNvSpPr txBox="1"/>
          <p:nvPr/>
        </p:nvSpPr>
        <p:spPr>
          <a:xfrm>
            <a:off x="8101891" y="1120356"/>
            <a:ext cx="884454" cy="89255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 </a:t>
            </a:r>
          </a:p>
          <a:p>
            <a:r>
              <a:rPr lang="en-US" sz="1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E-cadherin</a:t>
            </a:r>
          </a:p>
          <a:p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1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laudin8</a:t>
            </a:r>
          </a:p>
          <a:p>
            <a:r>
              <a:rPr lang="en-US" sz="1200" dirty="0" err="1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sz="1200" b="0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ccludin</a:t>
            </a:r>
            <a:r>
              <a:rPr lang="en-US" sz="12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296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57FCA1-E5CB-49A6-A054-39506149E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329E6A-2357-67C0-ABCA-C2E2DE547FC6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C15CDB-A014-5628-0551-8343173B6899}"/>
              </a:ext>
            </a:extLst>
          </p:cNvPr>
          <p:cNvSpPr txBox="1"/>
          <p:nvPr/>
        </p:nvSpPr>
        <p:spPr>
          <a:xfrm>
            <a:off x="836551" y="674792"/>
            <a:ext cx="7848564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investigate the transcriptomic responses of MKN-28 gastric epithelial cells to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Helicobacter pylori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infection using genome-wide RNA-seq analysis.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 expression profiles were compared between: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Wild-type and </a:t>
            </a:r>
            <a:r>
              <a:rPr lang="el-G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mutant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 pylori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strains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Early (2 h) and late (6 h) time points</a:t>
            </a:r>
          </a:p>
        </p:txBody>
      </p:sp>
    </p:spTree>
    <p:extLst>
      <p:ext uri="{BB962C8B-B14F-4D97-AF65-F5344CB8AC3E}">
        <p14:creationId xmlns:p14="http://schemas.microsoft.com/office/powerpoint/2010/main" val="76379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1A405-BAC8-7498-D2E9-62CF00B2E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4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D293E-0E59-D107-1196-28FC1F18AA0A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Methods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3B4A83-A71C-2D09-0323-30A6FDCFC2AD}"/>
              </a:ext>
            </a:extLst>
          </p:cNvPr>
          <p:cNvSpPr/>
          <p:nvPr/>
        </p:nvSpPr>
        <p:spPr>
          <a:xfrm>
            <a:off x="362696" y="604646"/>
            <a:ext cx="3840301" cy="52497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Infect MKN-28 cells with </a:t>
            </a:r>
            <a:r>
              <a:rPr lang="en-US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 pylori</a:t>
            </a:r>
            <a:endParaRPr lang="en-US" sz="1800" b="1" i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BBA0AB-E9AD-76D4-88E5-77984DEF9D46}"/>
              </a:ext>
            </a:extLst>
          </p:cNvPr>
          <p:cNvSpPr/>
          <p:nvPr/>
        </p:nvSpPr>
        <p:spPr>
          <a:xfrm>
            <a:off x="1028937" y="1327549"/>
            <a:ext cx="2359432" cy="52497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Library preparation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1D5E08-D7A7-CD64-2240-D74B1EA81ED8}"/>
              </a:ext>
            </a:extLst>
          </p:cNvPr>
          <p:cNvSpPr/>
          <p:nvPr/>
        </p:nvSpPr>
        <p:spPr>
          <a:xfrm>
            <a:off x="283779" y="2702289"/>
            <a:ext cx="3919218" cy="40191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C6C9DAC-7F7E-4064-B67F-A1FD328D8212}"/>
              </a:ext>
            </a:extLst>
          </p:cNvPr>
          <p:cNvSpPr/>
          <p:nvPr/>
        </p:nvSpPr>
        <p:spPr>
          <a:xfrm>
            <a:off x="915293" y="2031644"/>
            <a:ext cx="2654528" cy="524978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Sequencing</a:t>
            </a:r>
          </a:p>
          <a:p>
            <a:pPr algn="ctr"/>
            <a:r>
              <a:rPr lang="en-US" sz="1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Illumina, single-end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F9F7B34-D3B8-FF1A-9DF0-2AC827F28186}"/>
              </a:ext>
            </a:extLst>
          </p:cNvPr>
          <p:cNvSpPr/>
          <p:nvPr/>
        </p:nvSpPr>
        <p:spPr>
          <a:xfrm>
            <a:off x="1130712" y="2795179"/>
            <a:ext cx="2359432" cy="524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Quality control (QC)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839729-1653-E808-6252-E368A0E39D17}"/>
              </a:ext>
            </a:extLst>
          </p:cNvPr>
          <p:cNvSpPr/>
          <p:nvPr/>
        </p:nvSpPr>
        <p:spPr>
          <a:xfrm>
            <a:off x="5071721" y="2090514"/>
            <a:ext cx="3919218" cy="2871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E91F099-417C-8BAD-826F-BC641F8D38AC}"/>
              </a:ext>
            </a:extLst>
          </p:cNvPr>
          <p:cNvSpPr/>
          <p:nvPr/>
        </p:nvSpPr>
        <p:spPr>
          <a:xfrm>
            <a:off x="591161" y="4334163"/>
            <a:ext cx="3302792" cy="829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Mapping </a:t>
            </a:r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 aligner</a:t>
            </a:r>
          </a:p>
          <a:p>
            <a:pPr algn="ctr"/>
            <a:r>
              <a:rPr lang="en-US" sz="1400" b="1" dirty="0">
                <a:solidFill>
                  <a:schemeClr val="tx2">
                    <a:lumMod val="10000"/>
                    <a:lumOff val="9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 genome GRCh37 (FASTA) + GTF file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9CCA70E-17D8-C2EA-5C00-010B6EE09189}"/>
              </a:ext>
            </a:extLst>
          </p:cNvPr>
          <p:cNvSpPr/>
          <p:nvPr/>
        </p:nvSpPr>
        <p:spPr>
          <a:xfrm>
            <a:off x="991746" y="6134805"/>
            <a:ext cx="2582200" cy="524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Counting</a:t>
            </a:r>
          </a:p>
          <a:p>
            <a:pPr algn="ctr"/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featureCounts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C47BC95-8238-4892-F085-2C1E20E134C2}"/>
              </a:ext>
            </a:extLst>
          </p:cNvPr>
          <p:cNvSpPr/>
          <p:nvPr/>
        </p:nvSpPr>
        <p:spPr>
          <a:xfrm>
            <a:off x="5342812" y="3225488"/>
            <a:ext cx="3362913" cy="52497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</a:t>
            </a:r>
          </a:p>
          <a:p>
            <a:pPr algn="ctr"/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DESeq2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483B72A-42A2-70E2-916F-2296A515B14C}"/>
              </a:ext>
            </a:extLst>
          </p:cNvPr>
          <p:cNvSpPr/>
          <p:nvPr/>
        </p:nvSpPr>
        <p:spPr>
          <a:xfrm>
            <a:off x="5277292" y="5189035"/>
            <a:ext cx="3493951" cy="90743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Experimental Validation </a:t>
            </a:r>
          </a:p>
          <a:p>
            <a:pPr algn="ctr"/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RT-qPCR, Apoptosis assay,…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05E1359-EDCB-DF56-1EE2-70579D3CA781}"/>
              </a:ext>
            </a:extLst>
          </p:cNvPr>
          <p:cNvSpPr/>
          <p:nvPr/>
        </p:nvSpPr>
        <p:spPr>
          <a:xfrm>
            <a:off x="5361003" y="4201836"/>
            <a:ext cx="3344722" cy="52497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Pathway analysis</a:t>
            </a:r>
          </a:p>
          <a:p>
            <a:pPr algn="ctr"/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GO, KEGG,..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99D290-CB24-D995-9C37-8634F661009E}"/>
              </a:ext>
            </a:extLst>
          </p:cNvPr>
          <p:cNvSpPr/>
          <p:nvPr/>
        </p:nvSpPr>
        <p:spPr>
          <a:xfrm>
            <a:off x="1488273" y="3568737"/>
            <a:ext cx="1770430" cy="524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Trimming</a:t>
            </a:r>
          </a:p>
          <a:p>
            <a:pPr algn="ctr"/>
            <a:r>
              <a:rPr 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cutadapt</a:t>
            </a:r>
            <a:endParaRPr lang="en-US" b="1" dirty="0">
              <a:solidFill>
                <a:schemeClr val="accent3">
                  <a:lumMod val="20000"/>
                  <a:lumOff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EE7349-800E-C081-2E77-F0540F12803F}"/>
              </a:ext>
            </a:extLst>
          </p:cNvPr>
          <p:cNvSpPr/>
          <p:nvPr/>
        </p:nvSpPr>
        <p:spPr>
          <a:xfrm>
            <a:off x="5358969" y="2280670"/>
            <a:ext cx="3344722" cy="52497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DGE QC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5549D6-8B97-4E44-B9F5-C01593838BC9}"/>
              </a:ext>
            </a:extLst>
          </p:cNvPr>
          <p:cNvSpPr txBox="1"/>
          <p:nvPr/>
        </p:nvSpPr>
        <p:spPr>
          <a:xfrm>
            <a:off x="5517619" y="600819"/>
            <a:ext cx="4581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" b="1" dirty="0">
                <a:solidFill>
                  <a:schemeClr val="accent5"/>
                </a:solidFill>
              </a:rPr>
              <a:t>ANALYSIS WORKFLOW</a:t>
            </a: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75B5509-9872-CED4-0FDA-73B97D59E8B3}"/>
              </a:ext>
            </a:extLst>
          </p:cNvPr>
          <p:cNvSpPr/>
          <p:nvPr/>
        </p:nvSpPr>
        <p:spPr>
          <a:xfrm>
            <a:off x="1251159" y="5384361"/>
            <a:ext cx="2155882" cy="5249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Aligment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QC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B81FB505-1FF8-C8DE-236C-B48BEE3BE47C}"/>
              </a:ext>
            </a:extLst>
          </p:cNvPr>
          <p:cNvSpPr/>
          <p:nvPr/>
        </p:nvSpPr>
        <p:spPr>
          <a:xfrm>
            <a:off x="2170393" y="1848769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A9660E3-746A-E25F-88D7-85DD28983105}"/>
              </a:ext>
            </a:extLst>
          </p:cNvPr>
          <p:cNvSpPr/>
          <p:nvPr/>
        </p:nvSpPr>
        <p:spPr>
          <a:xfrm>
            <a:off x="2112584" y="1154040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E7595440-B73B-4CCD-24F1-804C385CA762}"/>
              </a:ext>
            </a:extLst>
          </p:cNvPr>
          <p:cNvSpPr/>
          <p:nvPr/>
        </p:nvSpPr>
        <p:spPr>
          <a:xfrm>
            <a:off x="2169334" y="2555771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FC88E5CC-17F4-3942-1B66-8773980F155C}"/>
              </a:ext>
            </a:extLst>
          </p:cNvPr>
          <p:cNvSpPr/>
          <p:nvPr/>
        </p:nvSpPr>
        <p:spPr>
          <a:xfrm>
            <a:off x="2215589" y="3357002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ED9FD18E-5452-18FA-8B7E-31E1F04DE203}"/>
              </a:ext>
            </a:extLst>
          </p:cNvPr>
          <p:cNvSpPr/>
          <p:nvPr/>
        </p:nvSpPr>
        <p:spPr>
          <a:xfrm>
            <a:off x="2240815" y="5185800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DBF49190-E6C5-6045-27F8-483FC2C08076}"/>
              </a:ext>
            </a:extLst>
          </p:cNvPr>
          <p:cNvSpPr/>
          <p:nvPr/>
        </p:nvSpPr>
        <p:spPr>
          <a:xfrm>
            <a:off x="2203222" y="4118178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13D63923-1ADA-3000-F790-DC5D2C173520}"/>
              </a:ext>
            </a:extLst>
          </p:cNvPr>
          <p:cNvSpPr/>
          <p:nvPr/>
        </p:nvSpPr>
        <p:spPr>
          <a:xfrm>
            <a:off x="2273397" y="5943593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Down 33">
            <a:extLst>
              <a:ext uri="{FF2B5EF4-FFF2-40B4-BE49-F238E27FC236}">
                <a16:creationId xmlns:a16="http://schemas.microsoft.com/office/drawing/2014/main" id="{59BDA599-9845-E613-1936-6138446DBE9C}"/>
              </a:ext>
            </a:extLst>
          </p:cNvPr>
          <p:cNvSpPr/>
          <p:nvPr/>
        </p:nvSpPr>
        <p:spPr>
          <a:xfrm>
            <a:off x="6910755" y="2040449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D5879DA8-E679-CEF2-7819-3B83D4CC1B6E}"/>
              </a:ext>
            </a:extLst>
          </p:cNvPr>
          <p:cNvSpPr/>
          <p:nvPr/>
        </p:nvSpPr>
        <p:spPr>
          <a:xfrm>
            <a:off x="6927406" y="2946739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Down 35">
            <a:extLst>
              <a:ext uri="{FF2B5EF4-FFF2-40B4-BE49-F238E27FC236}">
                <a16:creationId xmlns:a16="http://schemas.microsoft.com/office/drawing/2014/main" id="{748CFD8D-1AD7-49EF-0E49-5C8CB7715770}"/>
              </a:ext>
            </a:extLst>
          </p:cNvPr>
          <p:cNvSpPr/>
          <p:nvPr/>
        </p:nvSpPr>
        <p:spPr>
          <a:xfrm>
            <a:off x="6941072" y="3881105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8F89D2B2-5536-E931-9D45-8CCD7F372FE1}"/>
              </a:ext>
            </a:extLst>
          </p:cNvPr>
          <p:cNvSpPr/>
          <p:nvPr/>
        </p:nvSpPr>
        <p:spPr>
          <a:xfrm>
            <a:off x="6992574" y="4847003"/>
            <a:ext cx="227023" cy="17657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40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E7DDE-F956-4407-4D5C-52883E0D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6C079-8677-F0EB-8983-F6DDDAE8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49B94B-C164-6FC3-5CDE-6B3F7C7BA46C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Methods</a:t>
            </a:r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9D4AC-BC6B-2F19-3DE8-2F0005136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28" y="4818213"/>
            <a:ext cx="8437705" cy="1207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94BBDC1-A82F-32FD-31A5-38780649F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480" y="997662"/>
            <a:ext cx="2201772" cy="35196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A0660B9-CABF-1908-6CA4-1A44B8135954}"/>
              </a:ext>
            </a:extLst>
          </p:cNvPr>
          <p:cNvSpPr txBox="1"/>
          <p:nvPr/>
        </p:nvSpPr>
        <p:spPr>
          <a:xfrm>
            <a:off x="2032571" y="935527"/>
            <a:ext cx="3352931" cy="31700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 samples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Mock (Ctrl)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Hpwt_2h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Hpmut_2h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Hpwt_6h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Hpmut_6h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Performed in quadruplicate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3FC41E-081D-148E-003B-78D8F87494A4}"/>
              </a:ext>
            </a:extLst>
          </p:cNvPr>
          <p:cNvSpPr txBox="1"/>
          <p:nvPr/>
        </p:nvSpPr>
        <p:spPr>
          <a:xfrm>
            <a:off x="435128" y="4377874"/>
            <a:ext cx="12975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countData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84F037-8E0F-099E-749A-56E0E4018B70}"/>
              </a:ext>
            </a:extLst>
          </p:cNvPr>
          <p:cNvSpPr txBox="1"/>
          <p:nvPr/>
        </p:nvSpPr>
        <p:spPr>
          <a:xfrm>
            <a:off x="6457950" y="600508"/>
            <a:ext cx="994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colData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766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73692-AB1C-8620-EFFD-059E766A4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3CE0BD-70BC-B419-C2AA-F813B57D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9ECD07-4842-4263-359C-D38B4F2F0FA9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- DGE QC analysis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0615B-37C8-6CA9-F625-6D4CA277006F}"/>
              </a:ext>
            </a:extLst>
          </p:cNvPr>
          <p:cNvSpPr txBox="1"/>
          <p:nvPr/>
        </p:nvSpPr>
        <p:spPr>
          <a:xfrm>
            <a:off x="1262350" y="6026990"/>
            <a:ext cx="780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ElsevierGulliver"/>
              </a:rPr>
              <a:t>D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istinct difference between the uninfected control and cells infected 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E6BA57-6746-FBC0-10F5-21304EDEFFEC}"/>
              </a:ext>
            </a:extLst>
          </p:cNvPr>
          <p:cNvSpPr txBox="1"/>
          <p:nvPr/>
        </p:nvSpPr>
        <p:spPr>
          <a:xfrm>
            <a:off x="2633173" y="682946"/>
            <a:ext cx="458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Principle component analysis (PCA)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FB9152-3B9E-896C-E35C-17A3B2A870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350" y="1304040"/>
            <a:ext cx="7024710" cy="47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654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03435-C81C-8E04-B131-D80FAB32D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2C325A-79ED-4501-089D-F7C0B6D2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211553-1F37-3362-E31A-45D6C6765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37"/>
          <a:stretch/>
        </p:blipFill>
        <p:spPr>
          <a:xfrm>
            <a:off x="747126" y="1015676"/>
            <a:ext cx="7843346" cy="50393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6F5BFB-8BFB-A584-B792-EE6D618C895D}"/>
              </a:ext>
            </a:extLst>
          </p:cNvPr>
          <p:cNvSpPr txBox="1"/>
          <p:nvPr/>
        </p:nvSpPr>
        <p:spPr>
          <a:xfrm>
            <a:off x="2875164" y="646344"/>
            <a:ext cx="458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Hierarchical Clustering Heatmap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5BC6FE-4B03-2919-C331-67110835E181}"/>
              </a:ext>
            </a:extLst>
          </p:cNvPr>
          <p:cNvSpPr txBox="1"/>
          <p:nvPr/>
        </p:nvSpPr>
        <p:spPr>
          <a:xfrm>
            <a:off x="214221" y="6121237"/>
            <a:ext cx="8376251" cy="607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07000"/>
              </a:lnSpc>
              <a:spcAft>
                <a:spcPts val="800"/>
              </a:spcAft>
            </a:pPr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Sample-to-sample heatmap of </a:t>
            </a:r>
            <a:r>
              <a:rPr lang="en-GB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rlog</a:t>
            </a:r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transformed read counts in uninfected MKN-28 cells (C</a:t>
            </a:r>
            <a:r>
              <a:rPr lang="en-GB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trl</a:t>
            </a:r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MKN-28 infected with </a:t>
            </a:r>
            <a:r>
              <a:rPr lang="en-GB" sz="16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 pylori</a:t>
            </a:r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wt</a:t>
            </a:r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GB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GB" sz="16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r>
              <a:rPr lang="en-GB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mutant bacteria for 2 or 6 hours.</a:t>
            </a:r>
            <a:endParaRPr lang="en-U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AAD869-FB31-FEE5-97E7-8E4BD8A8C29E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DGE QC analysis  </a:t>
            </a:r>
          </a:p>
        </p:txBody>
      </p:sp>
    </p:spTree>
    <p:extLst>
      <p:ext uri="{BB962C8B-B14F-4D97-AF65-F5344CB8AC3E}">
        <p14:creationId xmlns:p14="http://schemas.microsoft.com/office/powerpoint/2010/main" val="224766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showing a line&#10;&#10;AI-generated content may be incorrect.">
            <a:extLst>
              <a:ext uri="{FF2B5EF4-FFF2-40B4-BE49-F238E27FC236}">
                <a16:creationId xmlns:a16="http://schemas.microsoft.com/office/drawing/2014/main" id="{BAD964BC-7C4E-D9E9-644A-A0F03239EF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73" y="1232893"/>
            <a:ext cx="2915153" cy="19554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DA2D71-F2FF-38CF-D0B6-E8A38B76E92C}"/>
              </a:ext>
            </a:extLst>
          </p:cNvPr>
          <p:cNvSpPr txBox="1"/>
          <p:nvPr/>
        </p:nvSpPr>
        <p:spPr>
          <a:xfrm>
            <a:off x="751510" y="1394197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Ctrl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3CF7B38-9380-A6B1-C4BC-D468A65DE3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7700" y="3314700"/>
            <a:ext cx="2206206" cy="220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sz="1350"/>
          </a:p>
        </p:txBody>
      </p:sp>
      <p:pic>
        <p:nvPicPr>
          <p:cNvPr id="9" name="Picture 8" descr="A black dotted line with red line&#10;&#10;AI-generated content may be incorrect.">
            <a:extLst>
              <a:ext uri="{FF2B5EF4-FFF2-40B4-BE49-F238E27FC236}">
                <a16:creationId xmlns:a16="http://schemas.microsoft.com/office/drawing/2014/main" id="{53EA2EB4-136A-97F7-57CE-7F830D70E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543" y="1232893"/>
            <a:ext cx="2957707" cy="19839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8D13A8-DD9F-0927-F1C1-83ABD65C751B}"/>
              </a:ext>
            </a:extLst>
          </p:cNvPr>
          <p:cNvSpPr txBox="1"/>
          <p:nvPr/>
        </p:nvSpPr>
        <p:spPr>
          <a:xfrm>
            <a:off x="3577674" y="1416400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Hpwt_2h</a:t>
            </a:r>
          </a:p>
        </p:txBody>
      </p:sp>
      <p:pic>
        <p:nvPicPr>
          <p:cNvPr id="12" name="Picture 11" descr="A graph of a dotted line&#10;&#10;AI-generated content may be incorrect.">
            <a:extLst>
              <a:ext uri="{FF2B5EF4-FFF2-40B4-BE49-F238E27FC236}">
                <a16:creationId xmlns:a16="http://schemas.microsoft.com/office/drawing/2014/main" id="{94AE06B5-E05F-9A80-CEEA-08E795045A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684" y="1331454"/>
            <a:ext cx="2768220" cy="18568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104FB6B-5D30-FFDB-9F65-8C1F39929855}"/>
              </a:ext>
            </a:extLst>
          </p:cNvPr>
          <p:cNvSpPr txBox="1"/>
          <p:nvPr/>
        </p:nvSpPr>
        <p:spPr>
          <a:xfrm>
            <a:off x="6635871" y="1416400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Hpmut_2h</a:t>
            </a:r>
          </a:p>
        </p:txBody>
      </p:sp>
      <p:pic>
        <p:nvPicPr>
          <p:cNvPr id="15" name="Picture 14" descr="A graph of a dotted line&#10;&#10;AI-generated content may be incorrect.">
            <a:extLst>
              <a:ext uri="{FF2B5EF4-FFF2-40B4-BE49-F238E27FC236}">
                <a16:creationId xmlns:a16="http://schemas.microsoft.com/office/drawing/2014/main" id="{61DDF9DF-57EB-DDCE-39E8-1FCF4F9089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671751"/>
            <a:ext cx="2945062" cy="1975513"/>
          </a:xfrm>
          <a:prstGeom prst="rect">
            <a:avLst/>
          </a:prstGeom>
        </p:spPr>
      </p:pic>
      <p:pic>
        <p:nvPicPr>
          <p:cNvPr id="17" name="Picture 16" descr="A graph of a dotted line&#10;&#10;AI-generated content may be incorrect.">
            <a:extLst>
              <a:ext uri="{FF2B5EF4-FFF2-40B4-BE49-F238E27FC236}">
                <a16:creationId xmlns:a16="http://schemas.microsoft.com/office/drawing/2014/main" id="{B622B39A-ACAD-CD83-E084-CCF407E40A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489" y="3400395"/>
            <a:ext cx="3216794" cy="215778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B0752A-A681-228A-CA2D-7E5BF5C2B165}"/>
              </a:ext>
            </a:extLst>
          </p:cNvPr>
          <p:cNvSpPr txBox="1"/>
          <p:nvPr/>
        </p:nvSpPr>
        <p:spPr>
          <a:xfrm>
            <a:off x="1362842" y="3533251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Hpwt_6h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491CA6-8C17-76B1-3C23-68A1A8EB85C5}"/>
              </a:ext>
            </a:extLst>
          </p:cNvPr>
          <p:cNvSpPr txBox="1"/>
          <p:nvPr/>
        </p:nvSpPr>
        <p:spPr>
          <a:xfrm>
            <a:off x="5111152" y="3603040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Hpmut_6h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7651A79D-1AA2-D79F-F207-8092E341D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8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2DB971-2A73-8C5E-C803-AAFC09B7F2F7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 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936B2C3-70EA-9F44-43B7-D971C6F0F6C4}"/>
              </a:ext>
            </a:extLst>
          </p:cNvPr>
          <p:cNvSpPr txBox="1"/>
          <p:nvPr/>
        </p:nvSpPr>
        <p:spPr>
          <a:xfrm>
            <a:off x="1174630" y="5829333"/>
            <a:ext cx="6911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F1F1F"/>
                </a:solidFill>
                <a:latin typeface="Roboto" panose="02000000000000000000" pitchFamily="2" charset="0"/>
              </a:rPr>
              <a:t>M</a:t>
            </a: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ean &lt; </a:t>
            </a:r>
            <a:r>
              <a:rPr lang="en-US" dirty="0">
                <a:solidFill>
                  <a:srgbClr val="1F1F1F"/>
                </a:solidFill>
                <a:latin typeface="Roboto" panose="02000000000000000000" pitchFamily="2" charset="0"/>
              </a:rPr>
              <a:t>V</a:t>
            </a:r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ariance =&gt; using the Negative Binomial model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CCCE0F-EAE6-AF79-2EA1-C8346C71353A}"/>
              </a:ext>
            </a:extLst>
          </p:cNvPr>
          <p:cNvSpPr txBox="1"/>
          <p:nvPr/>
        </p:nvSpPr>
        <p:spPr>
          <a:xfrm>
            <a:off x="406061" y="685986"/>
            <a:ext cx="2512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Modeling count data</a:t>
            </a:r>
          </a:p>
        </p:txBody>
      </p:sp>
    </p:spTree>
    <p:extLst>
      <p:ext uri="{BB962C8B-B14F-4D97-AF65-F5344CB8AC3E}">
        <p14:creationId xmlns:p14="http://schemas.microsoft.com/office/powerpoint/2010/main" val="129291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0FB9B-053B-7467-3E4B-4D3161C4B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DFE5D-915E-EF6F-F3B7-E95401AF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E95870-0C8E-79CF-86A1-1C7A4FB2FC1B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  </a:t>
            </a:r>
          </a:p>
        </p:txBody>
      </p:sp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ABC0C031-5877-9203-4DAA-83D063447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8" b="3268"/>
          <a:stretch/>
        </p:blipFill>
        <p:spPr>
          <a:xfrm>
            <a:off x="755624" y="1778793"/>
            <a:ext cx="6871325" cy="37378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7E14CA-F024-EBB0-1B3A-D3C5F577E340}"/>
              </a:ext>
            </a:extLst>
          </p:cNvPr>
          <p:cNvSpPr txBox="1"/>
          <p:nvPr/>
        </p:nvSpPr>
        <p:spPr>
          <a:xfrm>
            <a:off x="1345704" y="731658"/>
            <a:ext cx="6452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solidFill>
                  <a:srgbClr val="1F1F1F"/>
                </a:solidFill>
                <a:effectLst/>
                <a:latin typeface="Roboto" panose="02000000000000000000" pitchFamily="2" charset="0"/>
              </a:rPr>
              <a:t>Shrink gene-wise dispersion estimates toward the values predicted by the curve</a:t>
            </a:r>
          </a:p>
        </p:txBody>
      </p:sp>
    </p:spTree>
    <p:extLst>
      <p:ext uri="{BB962C8B-B14F-4D97-AF65-F5344CB8AC3E}">
        <p14:creationId xmlns:p14="http://schemas.microsoft.com/office/powerpoint/2010/main" val="2408957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2B7B-F4DC-87FA-6F3F-4834573C2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485239-4A1E-27B4-C01F-374B9047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2F1A34-0ADB-D35A-AE3A-1ACB7948CD99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    </a:t>
            </a:r>
          </a:p>
        </p:txBody>
      </p:sp>
      <p:pic>
        <p:nvPicPr>
          <p:cNvPr id="4" name="Picture 3" descr="A graph of a number of dots&#10;&#10;AI-generated content may be incorrect.">
            <a:extLst>
              <a:ext uri="{FF2B5EF4-FFF2-40B4-BE49-F238E27FC236}">
                <a16:creationId xmlns:a16="http://schemas.microsoft.com/office/drawing/2014/main" id="{3EA3229E-E065-6AF3-143D-090F5D864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73" y="3429000"/>
            <a:ext cx="3801760" cy="2550176"/>
          </a:xfrm>
          <a:prstGeom prst="rect">
            <a:avLst/>
          </a:prstGeom>
        </p:spPr>
      </p:pic>
      <p:pic>
        <p:nvPicPr>
          <p:cNvPr id="5" name="Picture 4" descr="A graph of a number of dots&#10;&#10;AI-generated content may be incorrect.">
            <a:extLst>
              <a:ext uri="{FF2B5EF4-FFF2-40B4-BE49-F238E27FC236}">
                <a16:creationId xmlns:a16="http://schemas.microsoft.com/office/drawing/2014/main" id="{FF866BEF-308F-F2ED-91E6-8D48EA19FC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01" y="589929"/>
            <a:ext cx="3877740" cy="2601143"/>
          </a:xfrm>
          <a:prstGeom prst="rect">
            <a:avLst/>
          </a:prstGeom>
        </p:spPr>
      </p:pic>
      <p:pic>
        <p:nvPicPr>
          <p:cNvPr id="7" name="Picture 6" descr="A graph of a number of dots&#10;&#10;AI-generated content may be incorrect.">
            <a:extLst>
              <a:ext uri="{FF2B5EF4-FFF2-40B4-BE49-F238E27FC236}">
                <a16:creationId xmlns:a16="http://schemas.microsoft.com/office/drawing/2014/main" id="{D663071F-B4A4-2954-A1AF-7B10E14528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5465" y="646039"/>
            <a:ext cx="3739885" cy="25086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E5CD87-69CD-89EA-AC67-3C0E68290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3258" y="3463419"/>
            <a:ext cx="3739884" cy="25086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4B7BEA-BB38-D331-F86C-439D2E73C541}"/>
              </a:ext>
            </a:extLst>
          </p:cNvPr>
          <p:cNvSpPr txBox="1"/>
          <p:nvPr/>
        </p:nvSpPr>
        <p:spPr>
          <a:xfrm>
            <a:off x="686757" y="5921510"/>
            <a:ext cx="77285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MA plot of gene expression profiles in MKN-28 cells after infection with either </a:t>
            </a:r>
            <a:r>
              <a:rPr lang="en-US" b="1" i="1" dirty="0">
                <a:solidFill>
                  <a:srgbClr val="1F1F1F"/>
                </a:solidFill>
                <a:effectLst/>
                <a:latin typeface="ElsevierGulliver"/>
              </a:rPr>
              <a:t>H. pylori </a:t>
            </a:r>
            <a:r>
              <a:rPr lang="en-US" b="1" i="0" dirty="0" err="1">
                <a:solidFill>
                  <a:srgbClr val="1F1F1F"/>
                </a:solidFill>
                <a:effectLst/>
                <a:latin typeface="ElsevierGulliver"/>
              </a:rPr>
              <a:t>wt</a:t>
            </a:r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 or </a:t>
            </a:r>
            <a:r>
              <a:rPr lang="en-US" b="1" i="0" dirty="0" err="1">
                <a:solidFill>
                  <a:srgbClr val="1F1F1F"/>
                </a:solidFill>
                <a:effectLst/>
                <a:latin typeface="ElsevierGulliver"/>
              </a:rPr>
              <a:t>ΔhtrA</a:t>
            </a:r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 mutant for 2 or 6 hours. 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DEG numbers after adjusting to p value &lt; 0.05 and log</a:t>
            </a:r>
            <a:r>
              <a:rPr lang="en-US" b="0" i="0" baseline="-25000" dirty="0">
                <a:solidFill>
                  <a:srgbClr val="1F1F1F"/>
                </a:solidFill>
                <a:effectLst/>
                <a:latin typeface="ElsevierGulliver"/>
              </a:rPr>
              <a:t>2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 fold change of ≤ −0.58 or ≥0.58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2B9234-84A8-739A-B7F8-99D47CF07AB0}"/>
              </a:ext>
            </a:extLst>
          </p:cNvPr>
          <p:cNvSpPr txBox="1"/>
          <p:nvPr/>
        </p:nvSpPr>
        <p:spPr>
          <a:xfrm>
            <a:off x="1920324" y="669396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Hpwt_2h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184A6F-D714-9153-108B-B8164254D9BC}"/>
              </a:ext>
            </a:extLst>
          </p:cNvPr>
          <p:cNvSpPr txBox="1"/>
          <p:nvPr/>
        </p:nvSpPr>
        <p:spPr>
          <a:xfrm>
            <a:off x="6067036" y="687145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Hpmut_2h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7C9B83-6BB5-1FDB-0A22-F912E9AB67DD}"/>
              </a:ext>
            </a:extLst>
          </p:cNvPr>
          <p:cNvSpPr txBox="1"/>
          <p:nvPr/>
        </p:nvSpPr>
        <p:spPr>
          <a:xfrm>
            <a:off x="1970060" y="3524220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Hpwt_6h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E135C4-73D3-E96F-4046-4327421E3962}"/>
              </a:ext>
            </a:extLst>
          </p:cNvPr>
          <p:cNvSpPr txBox="1"/>
          <p:nvPr/>
        </p:nvSpPr>
        <p:spPr>
          <a:xfrm>
            <a:off x="5975546" y="3515345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Hpmut_6h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269C0B-7C36-3480-3312-6F92C9540ABD}"/>
              </a:ext>
            </a:extLst>
          </p:cNvPr>
          <p:cNvSpPr txBox="1"/>
          <p:nvPr/>
        </p:nvSpPr>
        <p:spPr>
          <a:xfrm>
            <a:off x="3134116" y="538251"/>
            <a:ext cx="9093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Up: 93       Down: 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369F1C-5098-2462-8588-CB1FD9F10947}"/>
              </a:ext>
            </a:extLst>
          </p:cNvPr>
          <p:cNvSpPr txBox="1"/>
          <p:nvPr/>
        </p:nvSpPr>
        <p:spPr>
          <a:xfrm>
            <a:off x="7223676" y="565521"/>
            <a:ext cx="90933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Up: 118       Down: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B2B30E-A727-FBAD-E7DC-4DDF293B3786}"/>
              </a:ext>
            </a:extLst>
          </p:cNvPr>
          <p:cNvSpPr txBox="1"/>
          <p:nvPr/>
        </p:nvSpPr>
        <p:spPr>
          <a:xfrm>
            <a:off x="3087265" y="3340128"/>
            <a:ext cx="1106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Up: 895       Down: 1283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5E410B-C1D3-E2C2-AECA-0D64EF2D50B7}"/>
              </a:ext>
            </a:extLst>
          </p:cNvPr>
          <p:cNvSpPr txBox="1"/>
          <p:nvPr/>
        </p:nvSpPr>
        <p:spPr>
          <a:xfrm>
            <a:off x="7191593" y="3387436"/>
            <a:ext cx="110663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Up: 990       Down: 1328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134D3-31D5-7AEE-9895-415CFE345506}"/>
              </a:ext>
            </a:extLst>
          </p:cNvPr>
          <p:cNvSpPr txBox="1"/>
          <p:nvPr/>
        </p:nvSpPr>
        <p:spPr>
          <a:xfrm>
            <a:off x="112020" y="3038291"/>
            <a:ext cx="18083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library(ggplot2)</a:t>
            </a:r>
          </a:p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dplyr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library(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ggrepel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endParaRPr lang="en-US" sz="1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830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FCFA61-2A57-E57A-62F1-95D6AD91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 descr="A close-up of a graph&#10;&#10;AI-generated content may be incorrect.">
            <a:extLst>
              <a:ext uri="{FF2B5EF4-FFF2-40B4-BE49-F238E27FC236}">
                <a16:creationId xmlns:a16="http://schemas.microsoft.com/office/drawing/2014/main" id="{112F285A-2309-3C33-57C1-A0535AFC2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820" y="572548"/>
            <a:ext cx="7304751" cy="49112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B519FD-7557-FCA4-2A7C-6BEBA0A95FA5}"/>
              </a:ext>
            </a:extLst>
          </p:cNvPr>
          <p:cNvSpPr txBox="1"/>
          <p:nvPr/>
        </p:nvSpPr>
        <p:spPr>
          <a:xfrm>
            <a:off x="828136" y="5491120"/>
            <a:ext cx="81582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 expression profiles of MKN-28 cells after infection with either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 pylori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wt</a:t>
            </a:r>
            <a:r>
              <a:rPr lang="en-US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b="1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</a:t>
            </a:r>
            <a:r>
              <a:rPr lang="en-US" b="1" i="1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mutant for 2 or 6 h.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Clustered heatmap of DEGs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 a log</a:t>
            </a:r>
            <a:r>
              <a:rPr lang="en-US" b="0" i="0" baseline="-25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fold change of ≤ −0.58 or ≥ 0.58. L</a:t>
            </a:r>
            <a:r>
              <a:rPr lang="en-US" b="0" i="0" baseline="-25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FC – log</a:t>
            </a:r>
            <a:r>
              <a:rPr lang="en-US" b="0" i="0" baseline="-25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fold change.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75E53B-E40D-B1C4-CE25-07ACB185811F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E7AB0A-2F00-2257-7567-92DCE8A26084}"/>
              </a:ext>
            </a:extLst>
          </p:cNvPr>
          <p:cNvSpPr txBox="1"/>
          <p:nvPr/>
        </p:nvSpPr>
        <p:spPr>
          <a:xfrm>
            <a:off x="190764" y="572548"/>
            <a:ext cx="4581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library(ggplot2)</a:t>
            </a:r>
          </a:p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pheatmap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3632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F141-275A-DB8C-E857-F8D713DF3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7BACA0-17CE-68F8-495C-8D86BB33F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4910" y="6472015"/>
            <a:ext cx="441434" cy="365125"/>
          </a:xfrm>
        </p:spPr>
        <p:txBody>
          <a:bodyPr/>
          <a:lstStyle/>
          <a:p>
            <a:fld id="{F0CD698A-69EA-4EFF-86EF-72B132DA81B6}" type="slidenum">
              <a:rPr lang="en-US" smtClean="0"/>
              <a:t>12</a:t>
            </a:fld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98B876-258F-3807-9DD0-DE59DEB09CB9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DD4209-13E9-F195-158C-47992159C5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21" r="22310"/>
          <a:stretch/>
        </p:blipFill>
        <p:spPr>
          <a:xfrm>
            <a:off x="630491" y="3599165"/>
            <a:ext cx="2924405" cy="2548112"/>
          </a:xfrm>
          <a:prstGeom prst="rect">
            <a:avLst/>
          </a:prstGeom>
        </p:spPr>
      </p:pic>
      <p:pic>
        <p:nvPicPr>
          <p:cNvPr id="15" name="Picture 14" descr="A graph of a number of red dots&#10;&#10;AI-generated content may be incorrect.">
            <a:extLst>
              <a:ext uri="{FF2B5EF4-FFF2-40B4-BE49-F238E27FC236}">
                <a16:creationId xmlns:a16="http://schemas.microsoft.com/office/drawing/2014/main" id="{584C1A0D-5BFE-DDA2-FE7C-C352E25778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0" r="20881"/>
          <a:stretch/>
        </p:blipFill>
        <p:spPr>
          <a:xfrm>
            <a:off x="693578" y="875084"/>
            <a:ext cx="2730036" cy="2342830"/>
          </a:xfrm>
          <a:prstGeom prst="rect">
            <a:avLst/>
          </a:prstGeom>
        </p:spPr>
      </p:pic>
      <p:pic>
        <p:nvPicPr>
          <p:cNvPr id="17" name="Picture 16" descr="A graph of a number of red dots&#10;&#10;AI-generated content may be incorrect.">
            <a:extLst>
              <a:ext uri="{FF2B5EF4-FFF2-40B4-BE49-F238E27FC236}">
                <a16:creationId xmlns:a16="http://schemas.microsoft.com/office/drawing/2014/main" id="{AB1D46E8-50F5-E6F8-CEE8-3E4E513725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03" r="19886"/>
          <a:stretch/>
        </p:blipFill>
        <p:spPr>
          <a:xfrm>
            <a:off x="3898808" y="874945"/>
            <a:ext cx="2730036" cy="2275028"/>
          </a:xfrm>
          <a:prstGeom prst="rect">
            <a:avLst/>
          </a:prstGeom>
        </p:spPr>
      </p:pic>
      <p:pic>
        <p:nvPicPr>
          <p:cNvPr id="19" name="Picture 18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18D2338D-BA94-5B71-51B9-78A75594C5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2" r="19460"/>
          <a:stretch/>
        </p:blipFill>
        <p:spPr>
          <a:xfrm>
            <a:off x="3865706" y="3504363"/>
            <a:ext cx="3155222" cy="2637698"/>
          </a:xfrm>
          <a:prstGeom prst="rect">
            <a:avLst/>
          </a:prstGeom>
        </p:spPr>
      </p:pic>
      <p:pic>
        <p:nvPicPr>
          <p:cNvPr id="21" name="Picture 20" descr="A graph of different colored dots&#10;&#10;AI-generated content may be incorrect.">
            <a:extLst>
              <a:ext uri="{FF2B5EF4-FFF2-40B4-BE49-F238E27FC236}">
                <a16:creationId xmlns:a16="http://schemas.microsoft.com/office/drawing/2014/main" id="{511C4704-2BE9-8333-8A76-14DA5C648C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73" t="35587" b="38437"/>
          <a:stretch/>
        </p:blipFill>
        <p:spPr>
          <a:xfrm>
            <a:off x="6971946" y="2625944"/>
            <a:ext cx="1271587" cy="137057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CB80F3D-411A-7DD9-D14B-F32EA2E96C0A}"/>
              </a:ext>
            </a:extLst>
          </p:cNvPr>
          <p:cNvSpPr txBox="1"/>
          <p:nvPr/>
        </p:nvSpPr>
        <p:spPr>
          <a:xfrm>
            <a:off x="1576534" y="556557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Hpwt_2h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614CFA-48DD-AE86-22D2-4208C354C6D2}"/>
              </a:ext>
            </a:extLst>
          </p:cNvPr>
          <p:cNvSpPr txBox="1"/>
          <p:nvPr/>
        </p:nvSpPr>
        <p:spPr>
          <a:xfrm>
            <a:off x="5102623" y="615705"/>
            <a:ext cx="11066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Hpmut_2h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5F8871-425F-1448-1638-306863F64799}"/>
              </a:ext>
            </a:extLst>
          </p:cNvPr>
          <p:cNvSpPr txBox="1"/>
          <p:nvPr/>
        </p:nvSpPr>
        <p:spPr>
          <a:xfrm>
            <a:off x="1536260" y="3243170"/>
            <a:ext cx="103194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Hpwt_6h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4EE64C-2237-4D3C-7875-A2D52D5582C0}"/>
              </a:ext>
            </a:extLst>
          </p:cNvPr>
          <p:cNvSpPr txBox="1"/>
          <p:nvPr/>
        </p:nvSpPr>
        <p:spPr>
          <a:xfrm>
            <a:off x="5134550" y="3234295"/>
            <a:ext cx="1031941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Hpmut_6h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7EE713-55AF-6B27-1F74-0FBE2EB0DA0E}"/>
              </a:ext>
            </a:extLst>
          </p:cNvPr>
          <p:cNvSpPr txBox="1"/>
          <p:nvPr/>
        </p:nvSpPr>
        <p:spPr>
          <a:xfrm>
            <a:off x="504392" y="6060083"/>
            <a:ext cx="7895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The volcano plots of DEGs in MKN-28 cells after infection with </a:t>
            </a:r>
            <a:r>
              <a:rPr lang="en-US" b="1" i="1" dirty="0">
                <a:solidFill>
                  <a:srgbClr val="1F1F1F"/>
                </a:solidFill>
                <a:effectLst/>
                <a:latin typeface="ElsevierGulliver"/>
              </a:rPr>
              <a:t>H. pylori</a:t>
            </a:r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en-US" b="1" i="0" dirty="0" err="1">
                <a:solidFill>
                  <a:srgbClr val="1F1F1F"/>
                </a:solidFill>
                <a:effectLst/>
                <a:latin typeface="ElsevierGulliver"/>
              </a:rPr>
              <a:t>wt</a:t>
            </a:r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 or </a:t>
            </a:r>
            <a:r>
              <a:rPr lang="en-US" b="1" i="0" dirty="0" err="1">
                <a:solidFill>
                  <a:srgbClr val="1F1F1F"/>
                </a:solidFill>
                <a:effectLst/>
                <a:latin typeface="ElsevierGulliver"/>
              </a:rPr>
              <a:t>Δ</a:t>
            </a:r>
            <a:r>
              <a:rPr lang="en-US" b="1" i="1" dirty="0" err="1">
                <a:solidFill>
                  <a:srgbClr val="1F1F1F"/>
                </a:solidFill>
                <a:effectLst/>
                <a:latin typeface="ElsevierGulliver"/>
              </a:rPr>
              <a:t>htrA</a:t>
            </a:r>
            <a:r>
              <a:rPr lang="en-US" b="1" i="0" dirty="0">
                <a:solidFill>
                  <a:srgbClr val="1F1F1F"/>
                </a:solidFill>
                <a:effectLst/>
                <a:latin typeface="ElsevierGulliver"/>
              </a:rPr>
              <a:t> mutant for 2 or 6 h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2FD07-7266-F453-3AA9-58631CBF4E03}"/>
              </a:ext>
            </a:extLst>
          </p:cNvPr>
          <p:cNvSpPr txBox="1"/>
          <p:nvPr/>
        </p:nvSpPr>
        <p:spPr>
          <a:xfrm>
            <a:off x="6534807" y="1209243"/>
            <a:ext cx="2451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ut-off: </a:t>
            </a:r>
            <a:r>
              <a:rPr lang="en-US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value = 10</a:t>
            </a:r>
            <a:r>
              <a:rPr lang="en-US" i="0" baseline="30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-5</a:t>
            </a:r>
            <a:r>
              <a:rPr lang="en-US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absolute log</a:t>
            </a:r>
            <a:r>
              <a:rPr lang="en-US" i="0" baseline="-25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fold = 1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60C907-85E6-0B96-F416-6D3552942368}"/>
              </a:ext>
            </a:extLst>
          </p:cNvPr>
          <p:cNvSpPr txBox="1"/>
          <p:nvPr/>
        </p:nvSpPr>
        <p:spPr>
          <a:xfrm>
            <a:off x="6692463" y="4550055"/>
            <a:ext cx="24515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ut-off: </a:t>
            </a:r>
            <a:r>
              <a:rPr lang="en-US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value = 10</a:t>
            </a:r>
            <a:r>
              <a:rPr lang="en-US" i="0" baseline="30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-5</a:t>
            </a:r>
            <a:r>
              <a:rPr lang="en-US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absolute log</a:t>
            </a:r>
            <a:r>
              <a:rPr lang="en-US" i="0" baseline="-25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fold = 1.5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3E3292-CAFB-49F0-C5CB-EBF0D667775C}"/>
              </a:ext>
            </a:extLst>
          </p:cNvPr>
          <p:cNvSpPr txBox="1"/>
          <p:nvPr/>
        </p:nvSpPr>
        <p:spPr>
          <a:xfrm>
            <a:off x="157656" y="6441109"/>
            <a:ext cx="4581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library(ggplot2)</a:t>
            </a:r>
          </a:p>
        </p:txBody>
      </p:sp>
    </p:spTree>
    <p:extLst>
      <p:ext uri="{BB962C8B-B14F-4D97-AF65-F5344CB8AC3E}">
        <p14:creationId xmlns:p14="http://schemas.microsoft.com/office/powerpoint/2010/main" val="3031050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81BFC-06E3-7029-4484-1F463910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7EC638-EAE5-3CF0-D90E-6A5B073E9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509794"/>
            <a:ext cx="2057400" cy="365125"/>
          </a:xfrm>
        </p:spPr>
        <p:txBody>
          <a:bodyPr/>
          <a:lstStyle/>
          <a:p>
            <a:fld id="{F0CD698A-69EA-4EFF-86EF-72B132DA81B6}" type="slidenum">
              <a:rPr lang="en-US" smtClean="0"/>
              <a:t>13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F73401-0E30-322D-784E-67714F515753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231D8A-59A5-8A7B-8A18-B25A59AD8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9570" y="625905"/>
            <a:ext cx="1941444" cy="16939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FDD344-EA7B-B7C1-D766-F78277A5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488" y="2373120"/>
            <a:ext cx="1941444" cy="17181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12E593-060A-80C7-EE3C-58B3CDC446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3488" y="4144493"/>
            <a:ext cx="1941444" cy="2492588"/>
          </a:xfrm>
          <a:prstGeom prst="rect">
            <a:avLst/>
          </a:prstGeom>
        </p:spPr>
      </p:pic>
      <p:pic>
        <p:nvPicPr>
          <p:cNvPr id="13" name="Picture 12" descr="A diagram of a number and number&#10;&#10;AI-generated content may be incorrect.">
            <a:extLst>
              <a:ext uri="{FF2B5EF4-FFF2-40B4-BE49-F238E27FC236}">
                <a16:creationId xmlns:a16="http://schemas.microsoft.com/office/drawing/2014/main" id="{53E7E91F-7111-1365-0C73-47056DF08F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2" t="26208" r="8815"/>
          <a:stretch/>
        </p:blipFill>
        <p:spPr>
          <a:xfrm>
            <a:off x="1507672" y="1535397"/>
            <a:ext cx="4016828" cy="2420243"/>
          </a:xfrm>
          <a:prstGeom prst="rect">
            <a:avLst/>
          </a:prstGeom>
        </p:spPr>
      </p:pic>
      <p:pic>
        <p:nvPicPr>
          <p:cNvPr id="14" name="Picture 13" descr="A diagram of a number and number&#10;&#10;AI-generated content may be incorrect.">
            <a:extLst>
              <a:ext uri="{FF2B5EF4-FFF2-40B4-BE49-F238E27FC236}">
                <a16:creationId xmlns:a16="http://schemas.microsoft.com/office/drawing/2014/main" id="{647B644F-98F5-134C-2268-FBCCC7AE55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02" t="5156" r="27494" b="84179"/>
          <a:stretch/>
        </p:blipFill>
        <p:spPr>
          <a:xfrm>
            <a:off x="2471698" y="998325"/>
            <a:ext cx="2078222" cy="349835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F7FE9FF-A4CD-50F8-ACC5-9C08704CE5DB}"/>
              </a:ext>
            </a:extLst>
          </p:cNvPr>
          <p:cNvCxnSpPr>
            <a:cxnSpLocks/>
          </p:cNvCxnSpPr>
          <p:nvPr/>
        </p:nvCxnSpPr>
        <p:spPr>
          <a:xfrm>
            <a:off x="3473628" y="2852055"/>
            <a:ext cx="209985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1561027-C4FF-5A32-359D-38E4DB8EC9F7}"/>
              </a:ext>
            </a:extLst>
          </p:cNvPr>
          <p:cNvSpPr/>
          <p:nvPr/>
        </p:nvSpPr>
        <p:spPr>
          <a:xfrm>
            <a:off x="5573486" y="2645226"/>
            <a:ext cx="821871" cy="85997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PTGS2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IL8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PTGS2</a:t>
            </a:r>
          </a:p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C9orf169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55E89FA-6FAE-F138-1BE8-E9709FB57396}"/>
              </a:ext>
            </a:extLst>
          </p:cNvPr>
          <p:cNvCxnSpPr>
            <a:cxnSpLocks/>
          </p:cNvCxnSpPr>
          <p:nvPr/>
        </p:nvCxnSpPr>
        <p:spPr>
          <a:xfrm>
            <a:off x="4474571" y="2073727"/>
            <a:ext cx="10989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08E0852B-4160-0D18-5381-ED3C788DEBF6}"/>
              </a:ext>
            </a:extLst>
          </p:cNvPr>
          <p:cNvSpPr/>
          <p:nvPr/>
        </p:nvSpPr>
        <p:spPr>
          <a:xfrm>
            <a:off x="5575560" y="1943104"/>
            <a:ext cx="914400" cy="24492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TNF</a:t>
            </a: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31CFDC7-F93E-5154-95A5-B0311CC0E619}"/>
              </a:ext>
            </a:extLst>
          </p:cNvPr>
          <p:cNvSpPr/>
          <p:nvPr/>
        </p:nvSpPr>
        <p:spPr>
          <a:xfrm>
            <a:off x="443211" y="1552949"/>
            <a:ext cx="821871" cy="145150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HSPA, PFKFB4, 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DOCK8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MAP1B, GRB7, DKK1, NFATC2 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9D58A53-0E56-CA2C-18B4-0F6619AC8047}"/>
              </a:ext>
            </a:extLst>
          </p:cNvPr>
          <p:cNvCxnSpPr>
            <a:cxnSpLocks/>
          </p:cNvCxnSpPr>
          <p:nvPr/>
        </p:nvCxnSpPr>
        <p:spPr>
          <a:xfrm>
            <a:off x="1279614" y="2144484"/>
            <a:ext cx="219401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6D8DD1D-7494-D59B-4CD0-8B0E78396FE9}"/>
              </a:ext>
            </a:extLst>
          </p:cNvPr>
          <p:cNvSpPr txBox="1"/>
          <p:nvPr/>
        </p:nvSpPr>
        <p:spPr>
          <a:xfrm>
            <a:off x="722537" y="5594851"/>
            <a:ext cx="64287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B. RT-qPCR of representative MKN-28 genes associated with affected inflammatory (</a:t>
            </a:r>
            <a:r>
              <a:rPr lang="en-US" sz="1600" b="1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IL8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apoptotic (</a:t>
            </a:r>
            <a:r>
              <a:rPr lang="en-US" sz="1600" b="1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TNF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and carcinogenic (</a:t>
            </a:r>
            <a:r>
              <a:rPr lang="en-US" sz="1600" b="1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DOCK8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pathways 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02045C-7D45-7141-C232-D20A39AA1722}"/>
              </a:ext>
            </a:extLst>
          </p:cNvPr>
          <p:cNvSpPr txBox="1"/>
          <p:nvPr/>
        </p:nvSpPr>
        <p:spPr>
          <a:xfrm>
            <a:off x="312876" y="787369"/>
            <a:ext cx="360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E15DB8-1FD8-0CB2-BE2E-123E6BF3311F}"/>
              </a:ext>
            </a:extLst>
          </p:cNvPr>
          <p:cNvSpPr txBox="1"/>
          <p:nvPr/>
        </p:nvSpPr>
        <p:spPr>
          <a:xfrm>
            <a:off x="6457950" y="853047"/>
            <a:ext cx="3605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endParaRPr lang="en-US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4FA223-7F4B-6DAD-AA69-EB715D5E3FD2}"/>
              </a:ext>
            </a:extLst>
          </p:cNvPr>
          <p:cNvSpPr txBox="1"/>
          <p:nvPr/>
        </p:nvSpPr>
        <p:spPr>
          <a:xfrm>
            <a:off x="1804692" y="1644333"/>
            <a:ext cx="719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n=19</a:t>
            </a:r>
            <a:endParaRPr lang="en-US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7D972D6-90E1-F118-28F9-B817599BE287}"/>
              </a:ext>
            </a:extLst>
          </p:cNvPr>
          <p:cNvSpPr txBox="1"/>
          <p:nvPr/>
        </p:nvSpPr>
        <p:spPr>
          <a:xfrm>
            <a:off x="2549471" y="1254178"/>
            <a:ext cx="719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n=438</a:t>
            </a:r>
            <a:endParaRPr 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FE1105-BB6C-8055-C1FE-98E0BAB4D684}"/>
              </a:ext>
            </a:extLst>
          </p:cNvPr>
          <p:cNvSpPr txBox="1"/>
          <p:nvPr/>
        </p:nvSpPr>
        <p:spPr>
          <a:xfrm>
            <a:off x="3895642" y="1231432"/>
            <a:ext cx="719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n=485</a:t>
            </a:r>
            <a:endParaRPr 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5BEC97-13F0-7E05-09EC-352DE92EE28A}"/>
              </a:ext>
            </a:extLst>
          </p:cNvPr>
          <p:cNvSpPr txBox="1"/>
          <p:nvPr/>
        </p:nvSpPr>
        <p:spPr>
          <a:xfrm>
            <a:off x="4717514" y="1645090"/>
            <a:ext cx="719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n=24</a:t>
            </a:r>
            <a:endParaRPr lang="en-US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4660AF-46BE-31CA-C9BE-974470540F22}"/>
              </a:ext>
            </a:extLst>
          </p:cNvPr>
          <p:cNvSpPr txBox="1"/>
          <p:nvPr/>
        </p:nvSpPr>
        <p:spPr>
          <a:xfrm>
            <a:off x="722538" y="3900151"/>
            <a:ext cx="57674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A. Venn diagram representing the shared DEGs in different groups of MKN-28 infected by </a:t>
            </a:r>
            <a:r>
              <a:rPr lang="en-US" sz="1600" b="1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 pylori </a:t>
            </a:r>
            <a:r>
              <a:rPr lang="en-US" sz="1600" b="1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wt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lang="en-US" sz="1600" b="1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ΔhtrA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mutant for 2 or 6 h</a:t>
            </a:r>
            <a:r>
              <a:rPr lang="en-US" sz="16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(adjusted p value &lt; 0.05, log</a:t>
            </a:r>
            <a:r>
              <a:rPr lang="en-US" sz="1600" i="0" baseline="-2500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sz="16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fold change of ≤ −1 or ≥ 1).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467469-2996-757E-7DF9-81ADAE7B855F}"/>
              </a:ext>
            </a:extLst>
          </p:cNvPr>
          <p:cNvSpPr txBox="1"/>
          <p:nvPr/>
        </p:nvSpPr>
        <p:spPr>
          <a:xfrm>
            <a:off x="239068" y="6234741"/>
            <a:ext cx="2749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VennDiagram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 library(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ggVennDiagram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37143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DC77-F61B-CDA6-AC2C-61EA5E254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F79064-2955-D132-5DF6-685AE1D5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0A1706-5CEB-6721-8D89-30D9029C439D}"/>
              </a:ext>
            </a:extLst>
          </p:cNvPr>
          <p:cNvSpPr txBox="1"/>
          <p:nvPr/>
        </p:nvSpPr>
        <p:spPr>
          <a:xfrm>
            <a:off x="785006" y="5775024"/>
            <a:ext cx="76631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TNF signaling pathway (hsa04668) affected by </a:t>
            </a:r>
            <a:r>
              <a:rPr lang="en-US" b="0" i="1" dirty="0">
                <a:solidFill>
                  <a:srgbClr val="1F1F1F"/>
                </a:solidFill>
                <a:effectLst/>
                <a:latin typeface="ElsevierGulliver"/>
              </a:rPr>
              <a:t>H. pylori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ElsevierGulliver"/>
              </a:rPr>
              <a:t>Δ</a:t>
            </a:r>
            <a:r>
              <a:rPr lang="en-US" b="0" i="1" dirty="0" err="1">
                <a:solidFill>
                  <a:srgbClr val="1F1F1F"/>
                </a:solidFill>
                <a:effectLst/>
                <a:latin typeface="ElsevierGulliver"/>
              </a:rPr>
              <a:t>htrA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 infection for 2-h was enriched using the KEGG enrichment assay. Red and green colors reflect up- and down-regulation levels in log</a:t>
            </a:r>
            <a:r>
              <a:rPr lang="en-US" b="0" i="0" baseline="-25000" dirty="0">
                <a:solidFill>
                  <a:srgbClr val="1F1F1F"/>
                </a:solidFill>
                <a:effectLst/>
                <a:latin typeface="ElsevierGulliver"/>
              </a:rPr>
              <a:t>2</a:t>
            </a:r>
            <a:r>
              <a:rPr lang="en-US" b="0" i="0" dirty="0">
                <a:solidFill>
                  <a:srgbClr val="1F1F1F"/>
                </a:solidFill>
                <a:effectLst/>
                <a:latin typeface="ElsevierGulliver"/>
              </a:rPr>
              <a:t> fold change, respectively.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41FBC-CC77-5677-16BE-250F644125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64" y="858829"/>
            <a:ext cx="6451702" cy="47741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B83738-48D8-FFBE-CC47-FFD9DD77C3A8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- Pathway analysis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1F9F1-BA0E-BD2D-0D54-F16EA05077DE}"/>
              </a:ext>
            </a:extLst>
          </p:cNvPr>
          <p:cNvSpPr txBox="1"/>
          <p:nvPr/>
        </p:nvSpPr>
        <p:spPr>
          <a:xfrm>
            <a:off x="152926" y="538251"/>
            <a:ext cx="198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pathview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186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D3583-4068-0D3B-65C3-A43DC1C3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76105C-C233-F6CC-575A-E4DB6F14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697D9-2144-7729-C43E-ACA1BA3B0B4C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Differential expression analysis - Pathway analysis    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BAD88E4-070A-5F54-F44F-811CDF44B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755" y="591160"/>
            <a:ext cx="4287470" cy="35613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884EB4-8297-2717-A1E5-FA4FFF431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67" y="591161"/>
            <a:ext cx="4311359" cy="35613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4E7FEE-2C0C-D276-44DA-D9149738CC31}"/>
              </a:ext>
            </a:extLst>
          </p:cNvPr>
          <p:cNvSpPr txBox="1"/>
          <p:nvPr/>
        </p:nvSpPr>
        <p:spPr>
          <a:xfrm>
            <a:off x="84067" y="4177198"/>
            <a:ext cx="52014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1F1F1F"/>
                </a:solidFill>
                <a:effectLst/>
                <a:latin typeface="ElsevierGulliver"/>
              </a:rPr>
              <a:t>Gene Ontology (GO) term enrichment of biological pathways in MKN-28 cells affected after 6-h infection with </a:t>
            </a:r>
            <a:r>
              <a:rPr lang="en-US" sz="1600" b="1" i="1" dirty="0">
                <a:solidFill>
                  <a:srgbClr val="1F1F1F"/>
                </a:solidFill>
                <a:effectLst/>
                <a:latin typeface="ElsevierGulliver"/>
              </a:rPr>
              <a:t>H. pylori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en-US" sz="1600" b="1" i="0" dirty="0" err="1">
                <a:solidFill>
                  <a:srgbClr val="1F1F1F"/>
                </a:solidFill>
                <a:effectLst/>
                <a:latin typeface="ElsevierGulliver"/>
              </a:rPr>
              <a:t>wt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ElsevierGulliver"/>
              </a:rPr>
              <a:t> (A) or </a:t>
            </a:r>
            <a:r>
              <a:rPr lang="en-US" sz="1600" b="1" i="0" dirty="0" err="1">
                <a:solidFill>
                  <a:srgbClr val="1F1F1F"/>
                </a:solidFill>
                <a:effectLst/>
                <a:latin typeface="ElsevierGulliver"/>
              </a:rPr>
              <a:t>Δ</a:t>
            </a:r>
            <a:r>
              <a:rPr lang="en-US" sz="1600" b="1" i="1" dirty="0" err="1">
                <a:solidFill>
                  <a:srgbClr val="1F1F1F"/>
                </a:solidFill>
                <a:effectLst/>
                <a:latin typeface="ElsevierGulliver"/>
              </a:rPr>
              <a:t>htrA</a:t>
            </a:r>
            <a:r>
              <a:rPr lang="en-US" sz="1600" b="1" i="0" dirty="0">
                <a:solidFill>
                  <a:srgbClr val="1F1F1F"/>
                </a:solidFill>
                <a:effectLst/>
                <a:latin typeface="ElsevierGulliver"/>
              </a:rPr>
              <a:t> (B). 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ElsevierGulliver"/>
              </a:rPr>
              <a:t>(adjusted p value &lt; 0.05, log</a:t>
            </a:r>
            <a:r>
              <a:rPr lang="en-US" sz="1600" b="0" i="0" baseline="-25000" dirty="0">
                <a:solidFill>
                  <a:srgbClr val="1F1F1F"/>
                </a:solidFill>
                <a:effectLst/>
                <a:latin typeface="ElsevierGulliver"/>
              </a:rPr>
              <a:t>2</a:t>
            </a:r>
            <a:r>
              <a:rPr lang="en-US" sz="1600" b="0" i="0" dirty="0">
                <a:solidFill>
                  <a:srgbClr val="1F1F1F"/>
                </a:solidFill>
                <a:effectLst/>
                <a:latin typeface="ElsevierGulliver"/>
              </a:rPr>
              <a:t> fold change &lt; −0.58 or &gt;0.58)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606DFA-A96E-445F-13B2-63E96598D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96" y="4205391"/>
            <a:ext cx="2147903" cy="25336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823887-DA51-ABF5-C505-219543137B00}"/>
              </a:ext>
            </a:extLst>
          </p:cNvPr>
          <p:cNvSpPr txBox="1"/>
          <p:nvPr/>
        </p:nvSpPr>
        <p:spPr>
          <a:xfrm>
            <a:off x="2140261" y="5644258"/>
            <a:ext cx="37297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Quantification of annexin V-stained apoptotic cells as the percentage of total cells assessed by fluorescence/phase contrast microscopy.</a:t>
            </a: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479325-0AC2-A5A2-BE14-808B7D572A86}"/>
              </a:ext>
            </a:extLst>
          </p:cNvPr>
          <p:cNvSpPr txBox="1"/>
          <p:nvPr/>
        </p:nvSpPr>
        <p:spPr>
          <a:xfrm>
            <a:off x="197069" y="5859701"/>
            <a:ext cx="22875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clusterProfiler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org.Hs.eg.db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library(</a:t>
            </a:r>
            <a:r>
              <a:rPr lang="en-US" sz="1400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enrichplot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3885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E85A4-2E9D-0110-8E79-3566EC12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BB8A25-150E-6A50-962C-CDEF095AE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2454C0-E672-1FDF-81FB-572AA3667A08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CDED9F-2EB0-B260-F419-ABBE70C4F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52" y="626337"/>
            <a:ext cx="6346198" cy="28908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5ADD40-0EAA-695C-204E-AE08403CACAB}"/>
              </a:ext>
            </a:extLst>
          </p:cNvPr>
          <p:cNvSpPr txBox="1"/>
          <p:nvPr/>
        </p:nvSpPr>
        <p:spPr>
          <a:xfrm>
            <a:off x="1075603" y="3540829"/>
            <a:ext cx="7439747" cy="206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US" sz="20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ost differentially expressed genes at 6 h post infection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transcriptomes  revealed </a:t>
            </a:r>
            <a:r>
              <a:rPr lang="en-US" sz="2000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r>
              <a:rPr lang="en-US" sz="20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-dependent targeting of genes associated with inflammation and apoptosis  (e.g. </a:t>
            </a:r>
            <a:r>
              <a:rPr lang="en-US" sz="2000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IL8</a:t>
            </a:r>
            <a:r>
              <a:rPr lang="en-US" sz="20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TNF )</a:t>
            </a:r>
          </a:p>
          <a:p>
            <a:pPr marL="285750" indent="-285750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F1F1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sz="20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ranscription of various carcinogenesis-associated genes (e.g. </a:t>
            </a:r>
            <a:r>
              <a:rPr lang="en-US" sz="2000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DOCK8</a:t>
            </a:r>
            <a:r>
              <a:rPr lang="en-US" sz="20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was affected by </a:t>
            </a:r>
            <a:r>
              <a:rPr lang="en-US" sz="2000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 pylori</a:t>
            </a:r>
            <a:r>
              <a:rPr lang="en-US" sz="200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independent of </a:t>
            </a:r>
            <a:r>
              <a:rPr lang="en-US" sz="2000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7E0BC1-12D6-C929-E861-246A4EF79946}"/>
              </a:ext>
            </a:extLst>
          </p:cNvPr>
          <p:cNvSpPr txBox="1"/>
          <p:nvPr/>
        </p:nvSpPr>
        <p:spPr>
          <a:xfrm>
            <a:off x="802466" y="5615394"/>
            <a:ext cx="81649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1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H. pylori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disturbs previously unknown molecular pathways in an </a:t>
            </a:r>
            <a:r>
              <a:rPr lang="en-US" sz="2000" b="0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-dependent and </a:t>
            </a:r>
            <a:r>
              <a:rPr lang="en-US" sz="2000" b="0" i="0" dirty="0" err="1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HtrA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-independent manner, and provide valuable new insights of this significant pathogen in humans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C0A8C37-B20C-261D-D8DA-99BD60294AA2}"/>
              </a:ext>
            </a:extLst>
          </p:cNvPr>
          <p:cNvSpPr/>
          <p:nvPr/>
        </p:nvSpPr>
        <p:spPr>
          <a:xfrm>
            <a:off x="353148" y="5776486"/>
            <a:ext cx="384678" cy="524978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242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084B8-6A0A-DE93-BCBF-30079DD8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8F3620-FA3B-9ECF-5780-4D4EB2DF0B87}"/>
              </a:ext>
            </a:extLst>
          </p:cNvPr>
          <p:cNvSpPr/>
          <p:nvPr/>
        </p:nvSpPr>
        <p:spPr>
          <a:xfrm>
            <a:off x="630620" y="1343221"/>
            <a:ext cx="8078251" cy="1898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XIN CHÂN THÀNH CẢM ƠN SỰ HƯỚNG DẪN NHIỆT TÌNH CỦA THẦY VÀ CÁC BẠN!</a:t>
            </a:r>
          </a:p>
        </p:txBody>
      </p:sp>
      <p:pic>
        <p:nvPicPr>
          <p:cNvPr id="1026" name="Picture 2" descr="Thank You Emoji Vector Images (over 240)">
            <a:extLst>
              <a:ext uri="{FF2B5EF4-FFF2-40B4-BE49-F238E27FC236}">
                <a16:creationId xmlns:a16="http://schemas.microsoft.com/office/drawing/2014/main" id="{058A766C-3E43-1695-9B22-BE21A22F4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7376" y="3429000"/>
            <a:ext cx="2742707" cy="328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5788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BAA4E8-56E4-BA2B-410A-D05D333F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08D675-C144-99A1-97AC-658763FA0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466" y="700045"/>
            <a:ext cx="5915068" cy="5838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E9DF13-EFA2-A9BA-22CF-C13784F55F75}"/>
              </a:ext>
            </a:extLst>
          </p:cNvPr>
          <p:cNvSpPr txBox="1"/>
          <p:nvPr/>
        </p:nvSpPr>
        <p:spPr>
          <a:xfrm>
            <a:off x="1614466" y="136524"/>
            <a:ext cx="5915068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Table S1. Basic quality control of raw reads after RNA-seq.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996003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062AB-3E43-DAE0-FC9E-D3D19F01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4E4811-8628-7446-A2DF-6DEBD66D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19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BA8B45-C509-B4BF-AB6B-C72A77698F97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 </a:t>
            </a:r>
          </a:p>
        </p:txBody>
      </p:sp>
      <p:pic>
        <p:nvPicPr>
          <p:cNvPr id="7" name="Picture 6" descr="A chart with numbers and colors&#10;&#10;AI-generated content may be incorrect.">
            <a:extLst>
              <a:ext uri="{FF2B5EF4-FFF2-40B4-BE49-F238E27FC236}">
                <a16:creationId xmlns:a16="http://schemas.microsoft.com/office/drawing/2014/main" id="{86AD7787-315B-E3E1-D046-749B57871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640" y="1362060"/>
            <a:ext cx="6162720" cy="41338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B06D20-BCF0-7A9E-EC64-0B95A1CC6339}"/>
              </a:ext>
            </a:extLst>
          </p:cNvPr>
          <p:cNvSpPr txBox="1"/>
          <p:nvPr/>
        </p:nvSpPr>
        <p:spPr>
          <a:xfrm>
            <a:off x="625707" y="765489"/>
            <a:ext cx="70276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Select top 20 most expressed genes</a:t>
            </a:r>
          </a:p>
        </p:txBody>
      </p:sp>
    </p:spTree>
    <p:extLst>
      <p:ext uri="{BB962C8B-B14F-4D97-AF65-F5344CB8AC3E}">
        <p14:creationId xmlns:p14="http://schemas.microsoft.com/office/powerpoint/2010/main" val="3553529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06DFE-E5F1-903D-8806-AB363038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E89C3E-804B-6F7A-6F54-543BBAEE1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20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EECCAF-04B0-9AD6-B7C7-4137752C5694}"/>
              </a:ext>
            </a:extLst>
          </p:cNvPr>
          <p:cNvSpPr/>
          <p:nvPr/>
        </p:nvSpPr>
        <p:spPr>
          <a:xfrm>
            <a:off x="1" y="13273"/>
            <a:ext cx="9144000" cy="524978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-970242"/>
              <a:satOff val="-55952"/>
              <a:lumOff val="5752"/>
              <a:alphaOff val="0"/>
            </a:schemeClr>
          </a:fillRef>
          <a:effectRef idx="0">
            <a:schemeClr val="accent2">
              <a:hueOff val="-970242"/>
              <a:satOff val="-55952"/>
              <a:lumOff val="5752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9215D-D1BC-F721-9046-39F37823677A}"/>
              </a:ext>
            </a:extLst>
          </p:cNvPr>
          <p:cNvSpPr txBox="1"/>
          <p:nvPr/>
        </p:nvSpPr>
        <p:spPr>
          <a:xfrm>
            <a:off x="2491382" y="747189"/>
            <a:ext cx="4582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Top 20 genes with most variance</a:t>
            </a:r>
          </a:p>
        </p:txBody>
      </p:sp>
      <p:pic>
        <p:nvPicPr>
          <p:cNvPr id="6" name="Picture 5" descr="A chart with numbers and letters&#10;&#10;AI-generated content may be incorrect.">
            <a:extLst>
              <a:ext uri="{FF2B5EF4-FFF2-40B4-BE49-F238E27FC236}">
                <a16:creationId xmlns:a16="http://schemas.microsoft.com/office/drawing/2014/main" id="{0F6A2BD2-0F0B-03CC-ACE8-EFDD6BD0D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639" y="1357297"/>
            <a:ext cx="6575281" cy="4420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796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409B9CA-3ACA-31E0-DB19-8BC1FC2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21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F59AE95-BCE1-A624-F1DE-59222A675747}"/>
              </a:ext>
            </a:extLst>
          </p:cNvPr>
          <p:cNvGrpSpPr/>
          <p:nvPr/>
        </p:nvGrpSpPr>
        <p:grpSpPr>
          <a:xfrm>
            <a:off x="648663" y="852336"/>
            <a:ext cx="4282447" cy="5280193"/>
            <a:chOff x="395621" y="418991"/>
            <a:chExt cx="4282447" cy="528019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880267-7012-B0BD-D4C0-E48885E1A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5879" y="418991"/>
              <a:ext cx="4227583" cy="323285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B7697A-16E4-E45D-4573-37A663097F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5621" y="3651847"/>
              <a:ext cx="4282447" cy="2047337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F2813E0-CBB8-938D-52B2-0B276FD6ABA4}"/>
              </a:ext>
            </a:extLst>
          </p:cNvPr>
          <p:cNvSpPr txBox="1"/>
          <p:nvPr/>
        </p:nvSpPr>
        <p:spPr>
          <a:xfrm>
            <a:off x="5316132" y="2053867"/>
            <a:ext cx="36229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1F1F1F"/>
                </a:solidFill>
                <a:effectLst/>
                <a:latin typeface="ElsevierGulliver"/>
              </a:rPr>
              <a:t>C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) Epifluorescence microscopy of MKN-28 cell monolayers infected with </a:t>
            </a:r>
            <a:r>
              <a:rPr lang="en-US" sz="1400" b="0" i="1" dirty="0">
                <a:solidFill>
                  <a:srgbClr val="1F1F1F"/>
                </a:solidFill>
                <a:effectLst/>
                <a:latin typeface="ElsevierGulliver"/>
              </a:rPr>
              <a:t>H. pylori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en-US" sz="1400" b="0" i="0" dirty="0" err="1">
                <a:solidFill>
                  <a:srgbClr val="1F1F1F"/>
                </a:solidFill>
                <a:effectLst/>
                <a:latin typeface="ElsevierGulliver"/>
              </a:rPr>
              <a:t>wt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 or </a:t>
            </a:r>
            <a:r>
              <a:rPr lang="el-GR" sz="1400" b="0" i="0" dirty="0">
                <a:solidFill>
                  <a:srgbClr val="1F1F1F"/>
                </a:solidFill>
                <a:effectLst/>
                <a:latin typeface="ElsevierGulliver"/>
              </a:rPr>
              <a:t>Δ</a:t>
            </a:r>
            <a:r>
              <a:rPr lang="en-US" sz="1400" b="0" i="1" dirty="0" err="1">
                <a:solidFill>
                  <a:srgbClr val="1F1F1F"/>
                </a:solidFill>
                <a:effectLst/>
                <a:latin typeface="ElsevierGulliver"/>
              </a:rPr>
              <a:t>htrA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 mutant for 2 or 6 h and stained with 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  <a:hlinkClick r:id="rId4" tooltip="Learn more about annexin from ScienceDirect's AI-generated Topic Pages"/>
              </a:rPr>
              <a:t>annexin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 V and 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  <a:hlinkClick r:id="rId5" tooltip="Learn more about propidium iodide from ScienceDirect's AI-generated Topic Pages"/>
              </a:rPr>
              <a:t>propidium iodide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 (PI) to visualize apoptotic (green) and necrotic (red) cells, respectively. The right panel shows the 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  <a:hlinkClick r:id="rId6" tooltip="Learn more about annexin from ScienceDirect's AI-generated Topic Pages"/>
              </a:rPr>
              <a:t>annexin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 V and PI staining merged with phase contrast imaging. Treatment with 200 </a:t>
            </a:r>
            <a:r>
              <a:rPr lang="el-GR" sz="1400" b="0" i="0" dirty="0">
                <a:solidFill>
                  <a:srgbClr val="1F1F1F"/>
                </a:solidFill>
                <a:effectLst/>
                <a:latin typeface="ElsevierGulliver"/>
              </a:rPr>
              <a:t>μ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M H</a:t>
            </a:r>
            <a:r>
              <a:rPr lang="en-US" sz="1400" b="0" i="0" baseline="-25000" dirty="0">
                <a:solidFill>
                  <a:srgbClr val="1F1F1F"/>
                </a:solidFill>
                <a:effectLst/>
                <a:latin typeface="ElsevierGulliver"/>
              </a:rPr>
              <a:t>2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O</a:t>
            </a:r>
            <a:r>
              <a:rPr lang="en-US" sz="1400" b="0" i="0" baseline="-25000" dirty="0">
                <a:solidFill>
                  <a:srgbClr val="1F1F1F"/>
                </a:solidFill>
                <a:effectLst/>
                <a:latin typeface="ElsevierGulliver"/>
              </a:rPr>
              <a:t>2</a:t>
            </a:r>
            <a:r>
              <a:rPr lang="en-US" sz="1400" b="0" i="0" dirty="0">
                <a:solidFill>
                  <a:srgbClr val="1F1F1F"/>
                </a:solidFill>
                <a:effectLst/>
                <a:latin typeface="ElsevierGulliver"/>
              </a:rPr>
              <a:t> served as positive control.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42646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F30BE8-192D-6BD3-AC9B-D60F2ADF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4F65E685-5AF0-760A-3334-CF20E0BF0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736" y="859107"/>
            <a:ext cx="7332654" cy="49299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CFC1F5-955F-C0DF-124B-3F729AFC32C3}"/>
              </a:ext>
            </a:extLst>
          </p:cNvPr>
          <p:cNvSpPr txBox="1"/>
          <p:nvPr/>
        </p:nvSpPr>
        <p:spPr>
          <a:xfrm>
            <a:off x="2286000" y="581422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DGE analysis using LRT in DESeq2</a:t>
            </a:r>
          </a:p>
        </p:txBody>
      </p:sp>
    </p:spTree>
    <p:extLst>
      <p:ext uri="{BB962C8B-B14F-4D97-AF65-F5344CB8AC3E}">
        <p14:creationId xmlns:p14="http://schemas.microsoft.com/office/powerpoint/2010/main" val="3299752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73C09B-8569-7910-5AD7-61A2E3C5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CD698A-69EA-4EFF-86EF-72B132DA81B6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 descr="A graph with red blue and purple dots&#10;&#10;AI-generated content may be incorrect.">
            <a:extLst>
              <a:ext uri="{FF2B5EF4-FFF2-40B4-BE49-F238E27FC236}">
                <a16:creationId xmlns:a16="http://schemas.microsoft.com/office/drawing/2014/main" id="{C40091D5-05E0-DF9C-F622-8416EB607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95" y="915236"/>
            <a:ext cx="6076809" cy="40856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E66845-1B6E-376A-51F6-AC6DEC4E17F7}"/>
              </a:ext>
            </a:extLst>
          </p:cNvPr>
          <p:cNvSpPr txBox="1"/>
          <p:nvPr/>
        </p:nvSpPr>
        <p:spPr>
          <a:xfrm>
            <a:off x="832419" y="5329598"/>
            <a:ext cx="812870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rgbClr val="1F1F1F"/>
                </a:solidFill>
                <a:effectLst/>
                <a:latin typeface="ElsevierGulliver"/>
              </a:rPr>
              <a:t>Gene Ontology (GO) term enrichment of biological pathways in MKN-28 cells affected after 6-h infection with </a:t>
            </a:r>
            <a:r>
              <a:rPr lang="en-US" sz="1800" b="1" i="1" dirty="0">
                <a:solidFill>
                  <a:srgbClr val="1F1F1F"/>
                </a:solidFill>
                <a:effectLst/>
                <a:latin typeface="ElsevierGulliver"/>
              </a:rPr>
              <a:t>H. pylori</a:t>
            </a:r>
            <a:r>
              <a:rPr lang="en-US" sz="1800" b="1" i="0" dirty="0">
                <a:solidFill>
                  <a:srgbClr val="1F1F1F"/>
                </a:solidFill>
                <a:effectLst/>
                <a:latin typeface="ElsevierGulliver"/>
              </a:rPr>
              <a:t> </a:t>
            </a:r>
            <a:r>
              <a:rPr lang="en-US" sz="1800" b="1" i="0" dirty="0" err="1">
                <a:solidFill>
                  <a:srgbClr val="1F1F1F"/>
                </a:solidFill>
                <a:effectLst/>
                <a:latin typeface="ElsevierGulliver"/>
              </a:rPr>
              <a:t>wt</a:t>
            </a:r>
            <a:r>
              <a:rPr lang="en-US" sz="1800" b="1" i="0" dirty="0">
                <a:solidFill>
                  <a:srgbClr val="1F1F1F"/>
                </a:solidFill>
                <a:effectLst/>
                <a:latin typeface="ElsevierGulliver"/>
              </a:rPr>
              <a:t> 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ElsevierGulliver"/>
              </a:rPr>
              <a:t>(adjusted p value &lt; 0.05, log</a:t>
            </a:r>
            <a:r>
              <a:rPr lang="en-US" sz="1800" b="0" i="0" baseline="-25000" dirty="0">
                <a:solidFill>
                  <a:srgbClr val="1F1F1F"/>
                </a:solidFill>
                <a:effectLst/>
                <a:latin typeface="ElsevierGulliver"/>
              </a:rPr>
              <a:t>2</a:t>
            </a:r>
            <a:r>
              <a:rPr lang="en-US" sz="1800" b="0" i="0" dirty="0">
                <a:solidFill>
                  <a:srgbClr val="1F1F1F"/>
                </a:solidFill>
                <a:effectLst/>
                <a:latin typeface="ElsevierGulliver"/>
              </a:rPr>
              <a:t> fold change &lt; −0.58 or &gt;0.58)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1864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13785</TotalTime>
  <Words>1063</Words>
  <Application>Microsoft Office PowerPoint</Application>
  <PresentationFormat>On-screen Show (4:3)</PresentationFormat>
  <Paragraphs>167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ElsevierGulliver</vt:lpstr>
      <vt:lpstr>ElsevierSans</vt:lpstr>
      <vt:lpstr>Roboto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Đào Phạm Thị Hồng</dc:creator>
  <cp:lastModifiedBy>Đào Phạm Thị Hồng</cp:lastModifiedBy>
  <cp:revision>100</cp:revision>
  <dcterms:created xsi:type="dcterms:W3CDTF">2025-04-16T16:27:51Z</dcterms:created>
  <dcterms:modified xsi:type="dcterms:W3CDTF">2025-04-28T08:40:26Z</dcterms:modified>
</cp:coreProperties>
</file>