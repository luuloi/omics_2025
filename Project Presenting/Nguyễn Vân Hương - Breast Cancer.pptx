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44"/>
  </p:notesMasterIdLst>
  <p:handoutMasterIdLst>
    <p:handoutMasterId r:id="rId45"/>
  </p:handoutMasterIdLst>
  <p:sldIdLst>
    <p:sldId id="299" r:id="rId2"/>
    <p:sldId id="256" r:id="rId3"/>
    <p:sldId id="271" r:id="rId4"/>
    <p:sldId id="257" r:id="rId5"/>
    <p:sldId id="259" r:id="rId6"/>
    <p:sldId id="261" r:id="rId7"/>
    <p:sldId id="258" r:id="rId8"/>
    <p:sldId id="262" r:id="rId9"/>
    <p:sldId id="263" r:id="rId10"/>
    <p:sldId id="264" r:id="rId11"/>
    <p:sldId id="265" r:id="rId12"/>
    <p:sldId id="272" r:id="rId13"/>
    <p:sldId id="277" r:id="rId14"/>
    <p:sldId id="278" r:id="rId15"/>
    <p:sldId id="279" r:id="rId16"/>
    <p:sldId id="268" r:id="rId17"/>
    <p:sldId id="267" r:id="rId18"/>
    <p:sldId id="280" r:id="rId19"/>
    <p:sldId id="282" r:id="rId20"/>
    <p:sldId id="295" r:id="rId21"/>
    <p:sldId id="281" r:id="rId22"/>
    <p:sldId id="283" r:id="rId23"/>
    <p:sldId id="284" r:id="rId24"/>
    <p:sldId id="296" r:id="rId25"/>
    <p:sldId id="266" r:id="rId26"/>
    <p:sldId id="269" r:id="rId27"/>
    <p:sldId id="270" r:id="rId28"/>
    <p:sldId id="285" r:id="rId29"/>
    <p:sldId id="286" r:id="rId30"/>
    <p:sldId id="287" r:id="rId31"/>
    <p:sldId id="288" r:id="rId32"/>
    <p:sldId id="298" r:id="rId33"/>
    <p:sldId id="273" r:id="rId34"/>
    <p:sldId id="274" r:id="rId35"/>
    <p:sldId id="289" r:id="rId36"/>
    <p:sldId id="290" r:id="rId37"/>
    <p:sldId id="291" r:id="rId38"/>
    <p:sldId id="292" r:id="rId39"/>
    <p:sldId id="293" r:id="rId40"/>
    <p:sldId id="294" r:id="rId41"/>
    <p:sldId id="297" r:id="rId42"/>
    <p:sldId id="275"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240"/>
    <p:restoredTop sz="79736"/>
  </p:normalViewPr>
  <p:slideViewPr>
    <p:cSldViewPr snapToGrid="0">
      <p:cViewPr>
        <p:scale>
          <a:sx n="70" d="100"/>
          <a:sy n="70" d="100"/>
        </p:scale>
        <p:origin x="-1666"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31E1923-A7A2-4607-AB24-BCDEEF212DD7}" type="datetimeFigureOut">
              <a:rPr lang="en-US" smtClean="0"/>
              <a:t>4/28/2025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6A75957-E107-4236-86F8-93D8BB5E587F}" type="slidenum">
              <a:rPr lang="en-US" smtClean="0"/>
              <a:t>‹#›</a:t>
            </a:fld>
            <a:endParaRPr lang="en-US"/>
          </a:p>
        </p:txBody>
      </p:sp>
    </p:spTree>
    <p:extLst>
      <p:ext uri="{BB962C8B-B14F-4D97-AF65-F5344CB8AC3E}">
        <p14:creationId xmlns:p14="http://schemas.microsoft.com/office/powerpoint/2010/main" val="12794360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F3AB2B-749A-0944-A8DF-5A9C5EA3E97D}" type="datetimeFigureOut">
              <a:rPr lang="x-none" smtClean="0"/>
              <a:t>28/04/2025</a:t>
            </a:fld>
            <a:endParaRPr lang="x-non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A16C1-2B3B-F944-A5C7-F33D2537EAD5}" type="slidenum">
              <a:rPr lang="x-none" smtClean="0"/>
              <a:t>‹#›</a:t>
            </a:fld>
            <a:endParaRPr lang="x-none"/>
          </a:p>
        </p:txBody>
      </p:sp>
    </p:spTree>
    <p:extLst>
      <p:ext uri="{BB962C8B-B14F-4D97-AF65-F5344CB8AC3E}">
        <p14:creationId xmlns:p14="http://schemas.microsoft.com/office/powerpoint/2010/main" val="21505673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pmc-ncbi-nlm-nih-gov.translate.goog/articles/PMC11765579/?_x_tr_sl=en&amp;_x_tr_tl=vi&amp;_x_tr_hl=vi&amp;_x_tr_pto=wapp#ijms-26-00770-t002"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pmc-ncbi-nlm-nih-gov.translate.goog/articles/PMC11765579/?_x_tr_sl=en&amp;_x_tr_tl=vi&amp;_x_tr_hl=vi&amp;_x_tr_pto=wapp#ijms-26-00770-f005"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1200" b="1" dirty="0">
                <a:solidFill>
                  <a:srgbClr val="000000"/>
                </a:solidFill>
              </a:rPr>
              <a:t>Ung thư vú</a:t>
            </a:r>
            <a:r>
              <a:rPr lang="vi-VN" sz="1200" dirty="0">
                <a:solidFill>
                  <a:srgbClr val="000000"/>
                </a:solidFill>
              </a:rPr>
              <a:t> có nhiều loại khác nhau, mỗi loại lại có những đặc điểm riêng về cách gen hoạt động và cách tế bào phát triển. Trong số đó, </a:t>
            </a:r>
            <a:r>
              <a:rPr lang="vi-VN" sz="1200" b="1" dirty="0">
                <a:solidFill>
                  <a:srgbClr val="000000"/>
                </a:solidFill>
              </a:rPr>
              <a:t>ung thư vú bộ ba âm tính (TNBC)</a:t>
            </a:r>
            <a:r>
              <a:rPr lang="vi-VN" sz="1200" dirty="0">
                <a:solidFill>
                  <a:srgbClr val="000000"/>
                </a:solidFill>
              </a:rPr>
              <a:t> là loại khó điều trị nhất vì nó không có các "mục tiêu" mà thuốc có thể nhắm vào.</a:t>
            </a:r>
          </a:p>
          <a:p>
            <a:pPr algn="l"/>
            <a:r>
              <a:rPr lang="vi-VN" sz="1200" dirty="0">
                <a:solidFill>
                  <a:srgbClr val="000000"/>
                </a:solidFill>
              </a:rPr>
              <a:t>Nghiên cứu này tìm hiểu các </a:t>
            </a:r>
            <a:r>
              <a:rPr lang="vi-VN" sz="1200" b="1" dirty="0">
                <a:solidFill>
                  <a:srgbClr val="000000"/>
                </a:solidFill>
              </a:rPr>
              <a:t>dấu hiệu đặc biệt trên histone</a:t>
            </a:r>
            <a:r>
              <a:rPr lang="vi-VN" sz="1200" dirty="0">
                <a:solidFill>
                  <a:srgbClr val="000000"/>
                </a:solidFill>
              </a:rPr>
              <a:t> – là những protein gắn với DNA trong tế bào – để xem có điểm nào khác biệt giữa các loại ung thư vú. Họ đã dùng </a:t>
            </a:r>
            <a:r>
              <a:rPr lang="vi-VN" sz="1200" b="1" dirty="0">
                <a:solidFill>
                  <a:srgbClr val="000000"/>
                </a:solidFill>
              </a:rPr>
              <a:t>hơn 20 loại dấu hiệu histone</a:t>
            </a:r>
            <a:r>
              <a:rPr lang="vi-VN" sz="1200" dirty="0">
                <a:solidFill>
                  <a:srgbClr val="000000"/>
                </a:solidFill>
              </a:rPr>
              <a:t> khác nhau để kiểm tra mẫu mô từ người bệnh, người bình thường, và từ các dòng tế bào ung thư trong phòng thí nghiệm.</a:t>
            </a:r>
          </a:p>
          <a:p>
            <a:pPr algn="l"/>
            <a:r>
              <a:rPr lang="vi-VN" sz="1200" dirty="0">
                <a:solidFill>
                  <a:srgbClr val="000000"/>
                </a:solidFill>
              </a:rPr>
              <a:t>Ngoài ra, nhóm nghiên cứu cũng thử một loại thuốc mới tên là </a:t>
            </a:r>
            <a:r>
              <a:rPr lang="vi-VN" sz="1200" b="1" dirty="0">
                <a:solidFill>
                  <a:srgbClr val="000000"/>
                </a:solidFill>
              </a:rPr>
              <a:t>UNC0642</a:t>
            </a:r>
            <a:r>
              <a:rPr lang="vi-VN" sz="1200" dirty="0">
                <a:solidFill>
                  <a:srgbClr val="000000"/>
                </a:solidFill>
              </a:rPr>
              <a:t>, có khả năng </a:t>
            </a:r>
            <a:r>
              <a:rPr lang="vi-VN" sz="1200" b="1" dirty="0">
                <a:solidFill>
                  <a:srgbClr val="000000"/>
                </a:solidFill>
              </a:rPr>
              <a:t>ức chế G9a</a:t>
            </a:r>
            <a:r>
              <a:rPr lang="vi-VN" sz="1200" dirty="0">
                <a:solidFill>
                  <a:srgbClr val="000000"/>
                </a:solidFill>
              </a:rPr>
              <a:t> – một loại enzyme ảnh hưởng đến histone. Kết quả cho thấy, khi dùng thuốc này, tế bào ung thư (nhất là TNBC) </a:t>
            </a:r>
            <a:r>
              <a:rPr lang="vi-VN" sz="1200" b="1" dirty="0">
                <a:solidFill>
                  <a:srgbClr val="000000"/>
                </a:solidFill>
              </a:rPr>
              <a:t>phát triển chậm lại</a:t>
            </a:r>
            <a:r>
              <a:rPr lang="vi-VN" sz="1200" dirty="0">
                <a:solidFill>
                  <a:srgbClr val="000000"/>
                </a:solidFill>
              </a:rPr>
              <a:t>, và một số gen quan trọng trong tế bào cũng thay đổi hoạt động – có gen gây ung thư bị kìm hãm, có gen chống ung thư thì được kích hoạt.</a:t>
            </a:r>
          </a:p>
          <a:p>
            <a:pPr algn="l"/>
            <a:r>
              <a:rPr lang="vi-VN" sz="1200" dirty="0">
                <a:solidFill>
                  <a:srgbClr val="000000"/>
                </a:solidFill>
              </a:rPr>
              <a:t>Một trong những dấu hiệu quan trọng nhất là </a:t>
            </a:r>
            <a:r>
              <a:rPr lang="vi-VN" sz="1200" b="1" dirty="0">
                <a:solidFill>
                  <a:srgbClr val="000000"/>
                </a:solidFill>
              </a:rPr>
              <a:t>H3K9me2</a:t>
            </a:r>
            <a:r>
              <a:rPr lang="vi-VN" sz="1200" dirty="0">
                <a:solidFill>
                  <a:srgbClr val="000000"/>
                </a:solidFill>
              </a:rPr>
              <a:t>, xuất hiện nhiều hơn trong TNBC so với các loại ung thư khác. Điều này giúp nhận biết và phân biệt TNBC dễ hơn, đồng thời </a:t>
            </a:r>
            <a:r>
              <a:rPr lang="vi-VN" sz="1200" b="1" dirty="0">
                <a:solidFill>
                  <a:srgbClr val="000000"/>
                </a:solidFill>
              </a:rPr>
              <a:t>dự đoán mức độ nghiêm trọng của bệnh</a:t>
            </a:r>
            <a:r>
              <a:rPr lang="vi-VN" sz="1200" dirty="0">
                <a:solidFill>
                  <a:srgbClr val="000000"/>
                </a:solidFill>
              </a:rPr>
              <a:t>.</a:t>
            </a:r>
          </a:p>
          <a:p>
            <a:pPr algn="l"/>
            <a:r>
              <a:rPr lang="vi-VN" sz="1200" dirty="0">
                <a:solidFill>
                  <a:srgbClr val="000000"/>
                </a:solidFill>
              </a:rPr>
              <a:t>Nghiên cứu cho thấy </a:t>
            </a:r>
            <a:r>
              <a:rPr lang="vi-VN" sz="1200" b="1" dirty="0">
                <a:solidFill>
                  <a:srgbClr val="000000"/>
                </a:solidFill>
              </a:rPr>
              <a:t>ức chế G9a có thể là cách điều trị tiềm năng</a:t>
            </a:r>
            <a:r>
              <a:rPr lang="vi-VN" sz="1200" dirty="0">
                <a:solidFill>
                  <a:srgbClr val="000000"/>
                </a:solidFill>
              </a:rPr>
              <a:t> cho ung thư vú, đặc biệt là TNBC. Điều này mở ra cơ hội cho các loại thuốc mới, nhắm vào </a:t>
            </a:r>
            <a:r>
              <a:rPr lang="vi-VN" sz="1200" b="1" dirty="0">
                <a:solidFill>
                  <a:srgbClr val="000000"/>
                </a:solidFill>
              </a:rPr>
              <a:t>cơ chế biểu sinh</a:t>
            </a:r>
            <a:r>
              <a:rPr lang="vi-VN" sz="1200" dirty="0">
                <a:solidFill>
                  <a:srgbClr val="000000"/>
                </a:solidFill>
              </a:rPr>
              <a:t> (epigenetics – cách gen hoạt động chứ không phải bản thân gen bị lỗi).</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2</a:t>
            </a:fld>
            <a:endParaRPr lang="x-none"/>
          </a:p>
        </p:txBody>
      </p:sp>
    </p:spTree>
    <p:extLst>
      <p:ext uri="{BB962C8B-B14F-4D97-AF65-F5344CB8AC3E}">
        <p14:creationId xmlns:p14="http://schemas.microsoft.com/office/powerpoint/2010/main" val="3826382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b="0" i="0" u="none" strike="noStrike" dirty="0">
                <a:solidFill>
                  <a:srgbClr val="000000"/>
                </a:solidFill>
                <a:effectLst/>
                <a:latin typeface="-webkit-standard"/>
              </a:rPr>
              <a:t>Thì </a:t>
            </a:r>
            <a:r>
              <a:rPr lang="vi-VN" b="1" i="0" u="none" strike="noStrike" dirty="0">
                <a:solidFill>
                  <a:srgbClr val="000000"/>
                </a:solidFill>
                <a:effectLst/>
              </a:rPr>
              <a:t>"% IHC" có thể ám chỉ tỷ lệ phần trăm tế bào ung thư có biểu hiện một loại protein nào đó</a:t>
            </a:r>
            <a:r>
              <a:rPr lang="vi-VN" b="0" i="0" u="none" strike="noStrike" dirty="0">
                <a:solidFill>
                  <a:srgbClr val="000000"/>
                </a:solidFill>
                <a:effectLst/>
                <a:latin typeface="-webkit-standard"/>
              </a:rPr>
              <a:t> (như HER2, ER, PR, Ki-67...), tức là bao nhiêu </a:t>
            </a:r>
            <a:r>
              <a:rPr lang="vi-VN" b="1" i="0" u="none" strike="noStrike" dirty="0">
                <a:solidFill>
                  <a:srgbClr val="000000"/>
                </a:solidFill>
                <a:effectLst/>
              </a:rPr>
              <a:t>% tế bào được nhuộm dương tính</a:t>
            </a:r>
            <a:r>
              <a:rPr lang="vi-VN" b="0" i="0" u="none" strike="noStrike" dirty="0">
                <a:solidFill>
                  <a:srgbClr val="000000"/>
                </a:solidFill>
                <a:effectLst/>
                <a:latin typeface="-webkit-standard"/>
              </a:rPr>
              <a:t> với kháng thể tương ứng.</a:t>
            </a:r>
          </a:p>
          <a:p>
            <a:pPr algn="l"/>
            <a:r>
              <a:rPr lang="vi-VN" b="1" i="0" u="none" strike="noStrike" dirty="0">
                <a:solidFill>
                  <a:srgbClr val="000000"/>
                </a:solidFill>
                <a:effectLst/>
              </a:rPr>
              <a:t>%ICC</a:t>
            </a:r>
            <a:r>
              <a:rPr lang="vi-VN" b="0" i="0" u="none" strike="noStrike" dirty="0">
                <a:solidFill>
                  <a:srgbClr val="000000"/>
                </a:solidFill>
                <a:effectLst/>
              </a:rPr>
              <a:t> thường được hiểu là: </a:t>
            </a:r>
            <a:r>
              <a:rPr lang="vi-VN" b="1" dirty="0"/>
              <a:t>Tỷ lệ phần trăm tế bào dương tính với một marker cụ thể khi dùng kỹ thuật miễn dịch tế bào học (ICC)</a:t>
            </a:r>
            <a:endParaRPr lang="vi-VN" dirty="0"/>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6</a:t>
            </a:fld>
            <a:endParaRPr lang="x-none"/>
          </a:p>
        </p:txBody>
      </p:sp>
    </p:spTree>
    <p:extLst>
      <p:ext uri="{BB962C8B-B14F-4D97-AF65-F5344CB8AC3E}">
        <p14:creationId xmlns:p14="http://schemas.microsoft.com/office/powerpoint/2010/main" val="537522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l"/>
            <a:r>
              <a:rPr lang="vi-VN" b="0" i="0" u="none" strike="noStrike" dirty="0">
                <a:solidFill>
                  <a:srgbClr val="000000"/>
                </a:solidFill>
                <a:effectLst/>
              </a:rPr>
              <a:t>Để xác định sự biểu hiện toàn cầu của các biomarker histone trong mẫu mô, nghiên cứu đã tiến hành nhuộm IHC trên hai nhóm bệnh nhân ung thư vú (BC) (Hình 1). Phân tích bao gồm 12 loại sửa đổi histone, 7 yếu tố điều chỉnh histone, 2 đột biến oncohistone và histone H3 dùng làm tín hiệu đối chứng (Hình 2A). Những sửa đổi histone và yếu tố điều chỉnh này được chọn vì vai trò của chúng trong việc làm thay đổi sự biểu hiện gen trong ung thư vú và sẽ được gọi là "biomarker histone" (Bảng S1) [9].</a:t>
            </a:r>
          </a:p>
          <a:p>
            <a:pPr algn="l"/>
            <a:r>
              <a:rPr lang="vi-VN" b="0" i="0" u="none" strike="noStrike" dirty="0">
                <a:solidFill>
                  <a:srgbClr val="000000"/>
                </a:solidFill>
                <a:effectLst/>
              </a:rPr>
              <a:t>Nhóm đầu tiên, gọi là nhóm khám phá, bao gồm 196 điểm mô (Hình 2B). Những điểm này được lấy từ 98 bệnh nhân (Bảng 1), với mỗi bệnh nhân có hai điểm mô. Tuổi trung bình của bệnh nhân là 50,4 tuổi. Phần lớn bệnh nhân được phân loại là grade 2 (80,6%) và giai đoạn ung thư lâm sàng II (67,3%). Về phân loại TNM, 48,0% bệnh nhân thuộc nhóm T2 (kích thước khối u) và 68,4% thuộc nhóm N0 (không có di căn hạch bạch huyết).</a:t>
            </a:r>
          </a:p>
          <a:p>
            <a:pPr algn="l"/>
            <a:r>
              <a:rPr lang="vi-VN" b="0" i="0" u="none" strike="noStrike" dirty="0">
                <a:solidFill>
                  <a:srgbClr val="000000"/>
                </a:solidFill>
                <a:effectLst/>
              </a:rPr>
              <a:t>Mỗi điểm nhuộm IHC của các biomarker histone được chấm điểm bằng cách kết hợp diện tích và mật độ của vùng nhuộm, sử dụng phần mềm Image J. Các mẫu sau đó được phân thành hai nhóm: điểm IHC cao và điểm IHC thấp (Hình 2C).</a:t>
            </a:r>
          </a:p>
          <a:p>
            <a:pPr algn="l"/>
            <a:r>
              <a:rPr lang="vi-VN" b="0" i="0" u="none" strike="noStrike" dirty="0">
                <a:solidFill>
                  <a:srgbClr val="000000"/>
                </a:solidFill>
                <a:effectLst/>
              </a:rPr>
              <a:t>Hai nhóm mô của bệnh nhân trong nghiên cứu này được phân thành theo điểm IHC (immunohistochemistry) – một phương pháp nhuộm để đánh giá sự biểu hiện của biomarker histone. Cụ thể:</a:t>
            </a:r>
          </a:p>
          <a:p>
            <a:pPr algn="l">
              <a:buFont typeface="+mj-lt"/>
              <a:buAutoNum type="arabicPeriod"/>
            </a:pPr>
            <a:r>
              <a:rPr lang="vi-VN" b="1" i="0" u="none" strike="noStrike" dirty="0">
                <a:solidFill>
                  <a:srgbClr val="000000"/>
                </a:solidFill>
                <a:effectLst/>
              </a:rPr>
              <a:t>Nhóm có điểm IHC cao (high IHC score)</a:t>
            </a:r>
            <a:r>
              <a:rPr lang="vi-VN" b="0" i="0" u="none" strike="noStrike" dirty="0">
                <a:solidFill>
                  <a:srgbClr val="000000"/>
                </a:solidFill>
                <a:effectLst/>
              </a:rPr>
              <a:t>: Những mẫu mô này có mức độ biểu hiện biomarker histone cao, tức là vùng nhuộm có diện tích và mật độ cao hơn.</a:t>
            </a:r>
          </a:p>
          <a:p>
            <a:pPr algn="l">
              <a:buFont typeface="+mj-lt"/>
              <a:buAutoNum type="arabicPeriod"/>
            </a:pPr>
            <a:r>
              <a:rPr lang="vi-VN" b="1" i="0" u="none" strike="noStrike" dirty="0">
                <a:solidFill>
                  <a:srgbClr val="000000"/>
                </a:solidFill>
                <a:effectLst/>
              </a:rPr>
              <a:t>Nhóm có điểm IHC thấp (low IHC score)</a:t>
            </a:r>
            <a:r>
              <a:rPr lang="vi-VN" b="0" i="0" u="none" strike="noStrike" dirty="0">
                <a:solidFill>
                  <a:srgbClr val="000000"/>
                </a:solidFill>
                <a:effectLst/>
              </a:rPr>
              <a:t>: Những mẫu mô này có mức độ biểu hiện biomarker histone thấp, tức là vùng nhuộm có diện tích và mật độ thấp hơn.</a:t>
            </a:r>
          </a:p>
          <a:p>
            <a:pPr algn="l"/>
            <a:r>
              <a:rPr lang="vi-VN" b="0" i="0" u="none" strike="noStrike" dirty="0">
                <a:solidFill>
                  <a:srgbClr val="000000"/>
                </a:solidFill>
                <a:effectLst/>
              </a:rPr>
              <a:t>Vì vậy, hai nhóm này được phân loại dựa trên mức độ biểu hiện các biomarker histone trong mô bệnh nhân ung thư vú, giúp nghiên cứu đánh giá sự khác biệt trong mức độ biểu hiện của các biomarker histone trong các mẫu mô khác nhau.</a:t>
            </a:r>
          </a:p>
          <a:p>
            <a:pPr algn="l"/>
            <a:r>
              <a:rPr lang="vi-VN" b="0" i="0" u="none" strike="noStrike" dirty="0">
                <a:solidFill>
                  <a:srgbClr val="000000"/>
                </a:solidFill>
                <a:effectLst/>
              </a:rPr>
              <a:t>Nghiên cứu đã sử dụng </a:t>
            </a:r>
            <a:r>
              <a:rPr lang="vi-VN" b="1" i="0" u="none" strike="noStrike" dirty="0">
                <a:solidFill>
                  <a:srgbClr val="000000"/>
                </a:solidFill>
                <a:effectLst/>
              </a:rPr>
              <a:t>phân tích hồi quy logistic</a:t>
            </a:r>
            <a:r>
              <a:rPr lang="vi-VN" b="0" i="0" u="none" strike="noStrike" dirty="0">
                <a:solidFill>
                  <a:srgbClr val="000000"/>
                </a:solidFill>
                <a:effectLst/>
              </a:rPr>
              <a:t> để tìm hiểu mối quan hệ giữa điểm IHC (cao so với thấp) và các dấu ấn sinh học histone (các biomarker histone). Trong đó, các đột biến oncohistone không được phát hiện trong mẫu mô nào, vì vậy chúng được loại bỏ khỏi phân tích.</a:t>
            </a:r>
          </a:p>
          <a:p>
            <a:pPr algn="l"/>
            <a:r>
              <a:rPr lang="vi-VN" b="0" i="0" u="none" strike="noStrike" dirty="0">
                <a:solidFill>
                  <a:srgbClr val="000000"/>
                </a:solidFill>
                <a:effectLst/>
              </a:rPr>
              <a:t>Sau đó, </a:t>
            </a:r>
            <a:r>
              <a:rPr lang="vi-VN" b="1" i="0" u="none" strike="noStrike" dirty="0">
                <a:solidFill>
                  <a:srgbClr val="000000"/>
                </a:solidFill>
                <a:effectLst/>
              </a:rPr>
              <a:t>phân tích hồi quy đơn biến</a:t>
            </a:r>
            <a:r>
              <a:rPr lang="vi-VN" b="0" i="0" u="none" strike="noStrike" dirty="0">
                <a:solidFill>
                  <a:srgbClr val="000000"/>
                </a:solidFill>
                <a:effectLst/>
              </a:rPr>
              <a:t> được thực hiện để xem từng dấu ấn histone có liên quan như thế nào đến điểm IHC. Các dấu ấn histone có giá trị p dưới 0,05 trong phân tích đơn biến sẽ được đưa vào phân tích tiếp theo, là </a:t>
            </a:r>
            <a:r>
              <a:rPr lang="vi-VN" b="1" i="0" u="none" strike="noStrike" dirty="0">
                <a:solidFill>
                  <a:srgbClr val="000000"/>
                </a:solidFill>
                <a:effectLst/>
              </a:rPr>
              <a:t>hồi quy đa biến</a:t>
            </a:r>
            <a:r>
              <a:rPr lang="vi-VN" b="0" i="0" u="none" strike="noStrike" dirty="0">
                <a:solidFill>
                  <a:srgbClr val="000000"/>
                </a:solidFill>
                <a:effectLst/>
              </a:rPr>
              <a:t>.</a:t>
            </a:r>
          </a:p>
          <a:p>
            <a:pPr algn="l"/>
            <a:r>
              <a:rPr lang="vi-VN" b="0" i="0" u="none" strike="noStrike" dirty="0">
                <a:solidFill>
                  <a:srgbClr val="000000"/>
                </a:solidFill>
                <a:effectLst/>
              </a:rPr>
              <a:t>Kết quả cho thấy, các dấu ấn histone như </a:t>
            </a:r>
            <a:r>
              <a:rPr lang="vi-VN" b="1" i="0" u="none" strike="noStrike" dirty="0">
                <a:solidFill>
                  <a:srgbClr val="000000"/>
                </a:solidFill>
                <a:effectLst/>
              </a:rPr>
              <a:t>H3K9me2</a:t>
            </a:r>
            <a:r>
              <a:rPr lang="vi-VN" b="0" i="0" u="none" strike="noStrike" dirty="0">
                <a:solidFill>
                  <a:srgbClr val="000000"/>
                </a:solidFill>
                <a:effectLst/>
              </a:rPr>
              <a:t>, </a:t>
            </a:r>
            <a:r>
              <a:rPr lang="vi-VN" b="1" i="0" u="none" strike="noStrike" dirty="0">
                <a:solidFill>
                  <a:srgbClr val="000000"/>
                </a:solidFill>
                <a:effectLst/>
              </a:rPr>
              <a:t>H3K36me2</a:t>
            </a:r>
            <a:r>
              <a:rPr lang="vi-VN" b="0" i="0" u="none" strike="noStrike" dirty="0">
                <a:solidFill>
                  <a:srgbClr val="000000"/>
                </a:solidFill>
                <a:effectLst/>
              </a:rPr>
              <a:t>, và </a:t>
            </a:r>
            <a:r>
              <a:rPr lang="vi-VN" b="1" i="0" u="none" strike="noStrike" dirty="0">
                <a:solidFill>
                  <a:srgbClr val="000000"/>
                </a:solidFill>
                <a:effectLst/>
              </a:rPr>
              <a:t>H3K79me (me1/2/3)</a:t>
            </a:r>
            <a:r>
              <a:rPr lang="vi-VN" b="0" i="0" u="none" strike="noStrike" dirty="0">
                <a:solidFill>
                  <a:srgbClr val="000000"/>
                </a:solidFill>
                <a:effectLst/>
              </a:rPr>
              <a:t> có thể dự đoán độc lập sự thay đổi điểm IHC ở nhóm </a:t>
            </a:r>
            <a:r>
              <a:rPr lang="vi-VN" b="1" i="0" u="none" strike="noStrike" dirty="0">
                <a:solidFill>
                  <a:srgbClr val="000000"/>
                </a:solidFill>
                <a:effectLst/>
              </a:rPr>
              <a:t>TNBC</a:t>
            </a:r>
            <a:r>
              <a:rPr lang="vi-VN" b="0" i="0" u="none" strike="noStrike" dirty="0">
                <a:solidFill>
                  <a:srgbClr val="000000"/>
                </a:solidFill>
                <a:effectLst/>
              </a:rPr>
              <a:t> (ung thư vú dạng ba âm tính) so với các nhóm khác.</a:t>
            </a:r>
          </a:p>
          <a:p>
            <a:pPr algn="l"/>
            <a:r>
              <a:rPr lang="vi-VN" b="0" i="0" u="none" strike="noStrike" dirty="0">
                <a:solidFill>
                  <a:srgbClr val="000000"/>
                </a:solidFill>
                <a:effectLst/>
              </a:rPr>
              <a:t>Ngoài ra, </a:t>
            </a:r>
            <a:r>
              <a:rPr lang="vi-VN" b="1" i="0" u="none" strike="noStrike" dirty="0">
                <a:solidFill>
                  <a:srgbClr val="000000"/>
                </a:solidFill>
                <a:effectLst/>
              </a:rPr>
              <a:t>G9a</a:t>
            </a:r>
            <a:r>
              <a:rPr lang="vi-VN" b="0" i="0" u="none" strike="noStrike" dirty="0">
                <a:solidFill>
                  <a:srgbClr val="000000"/>
                </a:solidFill>
                <a:effectLst/>
              </a:rPr>
              <a:t>, một yếu tố điều chỉnh histone, là yếu tố duy nhất có sự khác biệt đáng kể ở nhóm TNBC và được xem là yếu tố dự báo phụ thuộc. Các dấu ấn histone như </a:t>
            </a:r>
            <a:r>
              <a:rPr lang="vi-VN" b="1" i="0" u="none" strike="noStrike" dirty="0">
                <a:solidFill>
                  <a:srgbClr val="000000"/>
                </a:solidFill>
                <a:effectLst/>
              </a:rPr>
              <a:t>H3K9me2</a:t>
            </a:r>
            <a:r>
              <a:rPr lang="vi-VN" b="0" i="0" u="none" strike="noStrike" dirty="0">
                <a:solidFill>
                  <a:srgbClr val="000000"/>
                </a:solidFill>
                <a:effectLst/>
              </a:rPr>
              <a:t> và </a:t>
            </a:r>
            <a:r>
              <a:rPr lang="vi-VN" b="1" i="0" u="none" strike="noStrike" dirty="0">
                <a:solidFill>
                  <a:srgbClr val="000000"/>
                </a:solidFill>
                <a:effectLst/>
              </a:rPr>
              <a:t>H3K36me2</a:t>
            </a:r>
            <a:r>
              <a:rPr lang="vi-VN" b="0" i="0" u="none" strike="noStrike" dirty="0">
                <a:solidFill>
                  <a:srgbClr val="000000"/>
                </a:solidFill>
                <a:effectLst/>
              </a:rPr>
              <a:t>, cùng với </a:t>
            </a:r>
            <a:r>
              <a:rPr lang="vi-VN" b="1" i="0" u="none" strike="noStrike" dirty="0">
                <a:solidFill>
                  <a:srgbClr val="000000"/>
                </a:solidFill>
                <a:effectLst/>
              </a:rPr>
              <a:t>H3K4me2</a:t>
            </a:r>
            <a:r>
              <a:rPr lang="vi-VN" b="0" i="0" u="none" strike="noStrike" dirty="0">
                <a:solidFill>
                  <a:srgbClr val="000000"/>
                </a:solidFill>
                <a:effectLst/>
              </a:rPr>
              <a:t>, cũng được xác định là những yếu tố quan trọng để dự đoán phân nhóm </a:t>
            </a:r>
            <a:r>
              <a:rPr lang="vi-VN" b="1" i="0" u="none" strike="noStrike" dirty="0">
                <a:solidFill>
                  <a:srgbClr val="000000"/>
                </a:solidFill>
                <a:effectLst/>
              </a:rPr>
              <a:t>lòng ống A</a:t>
            </a:r>
            <a:r>
              <a:rPr lang="vi-VN" b="0" i="0" u="none" strike="noStrike" dirty="0">
                <a:solidFill>
                  <a:srgbClr val="000000"/>
                </a:solidFill>
                <a:effectLst/>
              </a:rPr>
              <a:t> và </a:t>
            </a:r>
            <a:r>
              <a:rPr lang="vi-VN" b="1" i="0" u="none" strike="noStrike" dirty="0">
                <a:solidFill>
                  <a:srgbClr val="000000"/>
                </a:solidFill>
                <a:effectLst/>
              </a:rPr>
              <a:t>lòng ống B</a:t>
            </a:r>
            <a:r>
              <a:rPr lang="vi-VN" b="0" i="0" u="none" strike="noStrike" dirty="0">
                <a:solidFill>
                  <a:srgbClr val="000000"/>
                </a:solidFill>
                <a:effectLst/>
              </a:rPr>
              <a:t>.</a:t>
            </a:r>
          </a:p>
          <a:p>
            <a:pPr algn="l"/>
            <a:r>
              <a:rPr lang="vi-VN" b="0" i="0" u="none" strike="noStrike" dirty="0">
                <a:solidFill>
                  <a:srgbClr val="000000"/>
                </a:solidFill>
                <a:effectLst/>
              </a:rPr>
              <a:t>Tóm lại, phân tích này giúp chỉ ra rằng các dấu ấn histone có thể là những yếu tố quan trọng trong việc dự đoán sự thay đổi điểm IHC và có liên quan đến các phân nhóm ung thư vú khác nhau.</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8</a:t>
            </a:fld>
            <a:endParaRPr lang="x-none"/>
          </a:p>
        </p:txBody>
      </p:sp>
    </p:spTree>
    <p:extLst>
      <p:ext uri="{BB962C8B-B14F-4D97-AF65-F5344CB8AC3E}">
        <p14:creationId xmlns:p14="http://schemas.microsoft.com/office/powerpoint/2010/main" val="39273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l"/>
            <a:r>
              <a:rPr lang="vi-VN" b="0" i="0" u="none" strike="noStrike" dirty="0">
                <a:solidFill>
                  <a:srgbClr val="000000"/>
                </a:solidFill>
                <a:effectLst/>
              </a:rPr>
              <a:t>Mục tiêu của nghiên cứu này là so sánh mức độ biểu hiện của các biomarker histone được chọn giữa mô ung thư vú và mô vú khỏe mạnh. Vì hạn chế về vật liệu, phân tích chỉ tập trung vào histone H3, ba sửa đổi histone đặc biệt (H3K4me2, H3K9me2, và H3K9ac), cùng hai yếu tố điều chỉnh tương ứng (G9a và LSD1).</a:t>
            </a:r>
          </a:p>
          <a:p>
            <a:pPr algn="l">
              <a:buFont typeface="+mj-lt"/>
              <a:buAutoNum type="arabicPeriod"/>
            </a:pPr>
            <a:r>
              <a:rPr lang="vi-VN" b="1" i="0" u="none" strike="noStrike" dirty="0">
                <a:solidFill>
                  <a:srgbClr val="000000"/>
                </a:solidFill>
                <a:effectLst/>
              </a:rPr>
              <a:t>Hình ảnh IHC đại diện</a:t>
            </a:r>
            <a:r>
              <a:rPr lang="vi-VN" b="0" i="0" u="none" strike="noStrike" dirty="0">
                <a:solidFill>
                  <a:srgbClr val="000000"/>
                </a:solidFill>
                <a:effectLst/>
              </a:rPr>
              <a:t>: Hình ảnh nhuộm IHC cho </a:t>
            </a:r>
            <a:r>
              <a:rPr lang="vi-VN" b="1" i="0" u="none" strike="noStrike" dirty="0">
                <a:solidFill>
                  <a:srgbClr val="000000"/>
                </a:solidFill>
                <a:effectLst/>
              </a:rPr>
              <a:t>ung thư vú luminal A</a:t>
            </a:r>
            <a:r>
              <a:rPr lang="vi-VN" b="0" i="0" u="none" strike="noStrike" dirty="0">
                <a:solidFill>
                  <a:srgbClr val="000000"/>
                </a:solidFill>
                <a:effectLst/>
              </a:rPr>
              <a:t> và </a:t>
            </a:r>
            <a:r>
              <a:rPr lang="vi-VN" b="1" i="0" u="none" strike="noStrike" dirty="0">
                <a:solidFill>
                  <a:srgbClr val="000000"/>
                </a:solidFill>
                <a:effectLst/>
              </a:rPr>
              <a:t>TNBC</a:t>
            </a:r>
            <a:r>
              <a:rPr lang="vi-VN" b="0" i="0" u="none" strike="noStrike" dirty="0">
                <a:solidFill>
                  <a:srgbClr val="000000"/>
                </a:solidFill>
                <a:effectLst/>
              </a:rPr>
              <a:t> (ung thư vú dạng ba âm tính) được trình bày cạnh nhau (Hình 4A). Các hình ảnh IHC của hai predictor độc lập của TNBC, </a:t>
            </a:r>
            <a:r>
              <a:rPr lang="vi-VN" b="1" i="0" u="none" strike="noStrike" dirty="0">
                <a:solidFill>
                  <a:srgbClr val="000000"/>
                </a:solidFill>
                <a:effectLst/>
              </a:rPr>
              <a:t>H3K36me2</a:t>
            </a:r>
            <a:r>
              <a:rPr lang="vi-VN" b="0" i="0" u="none" strike="noStrike" dirty="0">
                <a:solidFill>
                  <a:srgbClr val="000000"/>
                </a:solidFill>
                <a:effectLst/>
              </a:rPr>
              <a:t> và </a:t>
            </a:r>
            <a:r>
              <a:rPr lang="vi-VN" b="1" i="0" u="none" strike="noStrike" dirty="0">
                <a:solidFill>
                  <a:srgbClr val="000000"/>
                </a:solidFill>
                <a:effectLst/>
              </a:rPr>
              <a:t>H3K79me</a:t>
            </a:r>
            <a:r>
              <a:rPr lang="vi-VN" b="0" i="0" u="none" strike="noStrike" dirty="0">
                <a:solidFill>
                  <a:srgbClr val="000000"/>
                </a:solidFill>
                <a:effectLst/>
              </a:rPr>
              <a:t>, được trình bày cùng với </a:t>
            </a:r>
            <a:r>
              <a:rPr lang="vi-VN" b="1" i="0" u="none" strike="noStrike" dirty="0">
                <a:solidFill>
                  <a:srgbClr val="000000"/>
                </a:solidFill>
                <a:effectLst/>
              </a:rPr>
              <a:t>LSD1</a:t>
            </a:r>
            <a:r>
              <a:rPr lang="vi-VN" b="0" i="0" u="none" strike="noStrike" dirty="0">
                <a:solidFill>
                  <a:srgbClr val="000000"/>
                </a:solidFill>
                <a:effectLst/>
              </a:rPr>
              <a:t>.</a:t>
            </a:r>
          </a:p>
          <a:p>
            <a:pPr algn="l">
              <a:buFont typeface="+mj-lt"/>
              <a:buAutoNum type="arabicPeriod"/>
            </a:pPr>
            <a:r>
              <a:rPr lang="vi-VN" b="1" i="0" u="none" strike="noStrike" dirty="0">
                <a:solidFill>
                  <a:srgbClr val="000000"/>
                </a:solidFill>
                <a:effectLst/>
              </a:rPr>
              <a:t>Biểu hiện nhóm biomarker histone</a:t>
            </a:r>
            <a:r>
              <a:rPr lang="vi-VN" b="0" i="0" u="none" strike="noStrike" dirty="0">
                <a:solidFill>
                  <a:srgbClr val="000000"/>
                </a:solidFill>
                <a:effectLst/>
              </a:rPr>
              <a:t>: Các biomarker histone và yếu tố điều chỉnh tương ứng thể hiện các mẫu biểu hiện nhóm, được thể hiện qua </a:t>
            </a:r>
            <a:r>
              <a:rPr lang="vi-VN" b="1" i="0" u="none" strike="noStrike" dirty="0">
                <a:solidFill>
                  <a:srgbClr val="000000"/>
                </a:solidFill>
                <a:effectLst/>
              </a:rPr>
              <a:t>phân tích heatmap</a:t>
            </a:r>
            <a:r>
              <a:rPr lang="vi-VN" b="0" i="0" u="none" strike="noStrike" dirty="0">
                <a:solidFill>
                  <a:srgbClr val="000000"/>
                </a:solidFill>
                <a:effectLst/>
              </a:rPr>
              <a:t> (Hình 3B).</a:t>
            </a:r>
          </a:p>
          <a:p>
            <a:pPr marL="742950" lvl="1" indent="-285750" algn="l">
              <a:buFont typeface="+mj-lt"/>
              <a:buAutoNum type="arabicPeriod"/>
            </a:pPr>
            <a:r>
              <a:rPr lang="vi-VN" b="0" i="0" u="none" strike="noStrike" dirty="0">
                <a:solidFill>
                  <a:srgbClr val="000000"/>
                </a:solidFill>
                <a:effectLst/>
              </a:rPr>
              <a:t>Các biomarker histone thường liên quan đến </a:t>
            </a:r>
            <a:r>
              <a:rPr lang="vi-VN" b="1" i="0" u="none" strike="noStrike" dirty="0">
                <a:solidFill>
                  <a:srgbClr val="000000"/>
                </a:solidFill>
                <a:effectLst/>
              </a:rPr>
              <a:t>ức chế phiên mã</a:t>
            </a:r>
            <a:r>
              <a:rPr lang="vi-VN" b="0" i="0" u="none" strike="noStrike" dirty="0">
                <a:solidFill>
                  <a:srgbClr val="000000"/>
                </a:solidFill>
                <a:effectLst/>
              </a:rPr>
              <a:t> (H3K9me2, G9a, và LSD1) có biểu hiện cao hơn ở </a:t>
            </a:r>
            <a:r>
              <a:rPr lang="vi-VN" b="1" i="0" u="none" strike="noStrike" dirty="0">
                <a:solidFill>
                  <a:srgbClr val="000000"/>
                </a:solidFill>
                <a:effectLst/>
              </a:rPr>
              <a:t>TNBC</a:t>
            </a:r>
            <a:r>
              <a:rPr lang="vi-VN" b="0" i="0" u="none" strike="noStrike" dirty="0">
                <a:solidFill>
                  <a:srgbClr val="000000"/>
                </a:solidFill>
                <a:effectLst/>
              </a:rPr>
              <a:t> so với </a:t>
            </a:r>
            <a:r>
              <a:rPr lang="vi-VN" b="1" i="0" u="none" strike="noStrike" dirty="0">
                <a:solidFill>
                  <a:srgbClr val="000000"/>
                </a:solidFill>
                <a:effectLst/>
              </a:rPr>
              <a:t>luminal A</a:t>
            </a:r>
            <a:r>
              <a:rPr lang="vi-VN" b="0" i="0" u="none" strike="noStrike" dirty="0">
                <a:solidFill>
                  <a:srgbClr val="000000"/>
                </a:solidFill>
                <a:effectLst/>
              </a:rPr>
              <a:t> và cũng cao hơn trong mô ung thư vú so với mô vú khỏe mạnh.</a:t>
            </a:r>
          </a:p>
          <a:p>
            <a:pPr marL="742950" lvl="1" indent="-285750" algn="l">
              <a:buFont typeface="+mj-lt"/>
              <a:buAutoNum type="arabicPeriod"/>
            </a:pPr>
            <a:r>
              <a:rPr lang="vi-VN" b="0" i="0" u="none" strike="noStrike" dirty="0">
                <a:solidFill>
                  <a:srgbClr val="000000"/>
                </a:solidFill>
                <a:effectLst/>
              </a:rPr>
              <a:t>Ngược lại, các biomarker histone liên quan đến </a:t>
            </a:r>
            <a:r>
              <a:rPr lang="vi-VN" b="1" i="0" u="none" strike="noStrike" dirty="0">
                <a:solidFill>
                  <a:srgbClr val="000000"/>
                </a:solidFill>
                <a:effectLst/>
              </a:rPr>
              <a:t>kích hoạt phiên mã</a:t>
            </a:r>
            <a:r>
              <a:rPr lang="vi-VN" b="0" i="0" u="none" strike="noStrike" dirty="0">
                <a:solidFill>
                  <a:srgbClr val="000000"/>
                </a:solidFill>
                <a:effectLst/>
              </a:rPr>
              <a:t> (H3K4me2 và H3K9ac) có xu hướng giảm dần, với mức độ thấp nhất ở </a:t>
            </a:r>
            <a:r>
              <a:rPr lang="vi-VN" b="1" i="0" u="none" strike="noStrike" dirty="0">
                <a:solidFill>
                  <a:srgbClr val="000000"/>
                </a:solidFill>
                <a:effectLst/>
              </a:rPr>
              <a:t>TNBC</a:t>
            </a:r>
            <a:r>
              <a:rPr lang="vi-VN" b="0" i="0" u="none" strike="noStrike" dirty="0">
                <a:solidFill>
                  <a:srgbClr val="000000"/>
                </a:solidFill>
                <a:effectLst/>
              </a:rPr>
              <a:t>, mức trung gian ở </a:t>
            </a:r>
            <a:r>
              <a:rPr lang="vi-VN" b="1" i="0" u="none" strike="noStrike" dirty="0">
                <a:solidFill>
                  <a:srgbClr val="000000"/>
                </a:solidFill>
                <a:effectLst/>
              </a:rPr>
              <a:t>luminal A</a:t>
            </a:r>
            <a:r>
              <a:rPr lang="vi-VN" b="0" i="0" u="none" strike="noStrike" dirty="0">
                <a:solidFill>
                  <a:srgbClr val="000000"/>
                </a:solidFill>
                <a:effectLst/>
              </a:rPr>
              <a:t>, và cao nhất ở </a:t>
            </a:r>
            <a:r>
              <a:rPr lang="vi-VN" b="1" i="0" u="none" strike="noStrike" dirty="0">
                <a:solidFill>
                  <a:srgbClr val="000000"/>
                </a:solidFill>
                <a:effectLst/>
              </a:rPr>
              <a:t>mô vú khỏe mạnh</a:t>
            </a:r>
            <a:r>
              <a:rPr lang="vi-VN" b="0" i="0" u="none" strike="noStrike" dirty="0">
                <a:solidFill>
                  <a:srgbClr val="000000"/>
                </a:solidFill>
                <a:effectLst/>
              </a:rPr>
              <a:t>.</a:t>
            </a:r>
          </a:p>
          <a:p>
            <a:pPr algn="l"/>
            <a:r>
              <a:rPr lang="vi-VN" b="1" i="0" u="none" strike="noStrike" dirty="0">
                <a:solidFill>
                  <a:srgbClr val="000000"/>
                </a:solidFill>
                <a:effectLst/>
              </a:rPr>
              <a:t>Ý nghĩa của kết quả</a:t>
            </a:r>
            <a:r>
              <a:rPr lang="vi-VN" b="0" i="0" u="none" strike="noStrike" dirty="0">
                <a:solidFill>
                  <a:srgbClr val="000000"/>
                </a:solidFill>
                <a:effectLst/>
              </a:rPr>
              <a:t>:</a:t>
            </a:r>
          </a:p>
          <a:p>
            <a:pPr algn="l">
              <a:buFont typeface="Arial" panose="020B0604020202020204" pitchFamily="34" charset="0"/>
              <a:buChar char="•"/>
            </a:pPr>
            <a:r>
              <a:rPr lang="vi-VN" b="0" i="0" u="none" strike="noStrike" dirty="0">
                <a:solidFill>
                  <a:srgbClr val="000000"/>
                </a:solidFill>
                <a:effectLst/>
              </a:rPr>
              <a:t>Các biomarker histone như </a:t>
            </a:r>
            <a:r>
              <a:rPr lang="vi-VN" b="1" i="0" u="none" strike="noStrike" dirty="0">
                <a:solidFill>
                  <a:srgbClr val="000000"/>
                </a:solidFill>
                <a:effectLst/>
              </a:rPr>
              <a:t>H3K9me2, G9a, và LSD1</a:t>
            </a:r>
            <a:r>
              <a:rPr lang="vi-VN" b="0" i="0" u="none" strike="noStrike" dirty="0">
                <a:solidFill>
                  <a:srgbClr val="000000"/>
                </a:solidFill>
                <a:effectLst/>
              </a:rPr>
              <a:t> có vẻ đóng vai trò quan trọng trong sự phát triển và tiến triển của </a:t>
            </a:r>
            <a:r>
              <a:rPr lang="vi-VN" b="1" i="0" u="none" strike="noStrike" dirty="0">
                <a:solidFill>
                  <a:srgbClr val="000000"/>
                </a:solidFill>
                <a:effectLst/>
              </a:rPr>
              <a:t>TNBC</a:t>
            </a:r>
            <a:r>
              <a:rPr lang="vi-VN" b="0" i="0" u="none" strike="noStrike" dirty="0">
                <a:solidFill>
                  <a:srgbClr val="000000"/>
                </a:solidFill>
                <a:effectLst/>
              </a:rPr>
              <a:t>, với mức độ biểu hiện cao hơn so với </a:t>
            </a:r>
            <a:r>
              <a:rPr lang="vi-VN" b="1" i="0" u="none" strike="noStrike" dirty="0">
                <a:solidFill>
                  <a:srgbClr val="000000"/>
                </a:solidFill>
                <a:effectLst/>
              </a:rPr>
              <a:t>luminal A</a:t>
            </a:r>
            <a:r>
              <a:rPr lang="vi-VN" b="0" i="0" u="none" strike="noStrike" dirty="0">
                <a:solidFill>
                  <a:srgbClr val="000000"/>
                </a:solidFill>
                <a:effectLst/>
              </a:rPr>
              <a:t> và mô vú khỏe mạnh. Điều này có thể cho thấy sự liên quan giữa chúng với cơ chế </a:t>
            </a:r>
            <a:r>
              <a:rPr lang="vi-VN" b="1" i="0" u="none" strike="noStrike" dirty="0">
                <a:solidFill>
                  <a:srgbClr val="000000"/>
                </a:solidFill>
                <a:effectLst/>
              </a:rPr>
              <a:t>ức chế phiên mã</a:t>
            </a:r>
            <a:r>
              <a:rPr lang="vi-VN" b="0" i="0" u="none" strike="noStrike" dirty="0">
                <a:solidFill>
                  <a:srgbClr val="000000"/>
                </a:solidFill>
                <a:effectLst/>
              </a:rPr>
              <a:t> trong ung thư vú.</a:t>
            </a:r>
          </a:p>
          <a:p>
            <a:pPr algn="l">
              <a:buFont typeface="Arial" panose="020B0604020202020204" pitchFamily="34" charset="0"/>
              <a:buChar char="•"/>
            </a:pPr>
            <a:r>
              <a:rPr lang="vi-VN" b="0" i="0" u="none" strike="noStrike" dirty="0">
                <a:solidFill>
                  <a:srgbClr val="000000"/>
                </a:solidFill>
                <a:effectLst/>
              </a:rPr>
              <a:t>Trong khi đó, </a:t>
            </a:r>
            <a:r>
              <a:rPr lang="vi-VN" b="1" i="0" u="none" strike="noStrike" dirty="0">
                <a:solidFill>
                  <a:srgbClr val="000000"/>
                </a:solidFill>
                <a:effectLst/>
              </a:rPr>
              <a:t>H3K4me2 và H3K9ac</a:t>
            </a:r>
            <a:r>
              <a:rPr lang="vi-VN" b="0" i="0" u="none" strike="noStrike" dirty="0">
                <a:solidFill>
                  <a:srgbClr val="000000"/>
                </a:solidFill>
                <a:effectLst/>
              </a:rPr>
              <a:t>, liên quan đến </a:t>
            </a:r>
            <a:r>
              <a:rPr lang="vi-VN" b="1" i="0" u="none" strike="noStrike" dirty="0">
                <a:solidFill>
                  <a:srgbClr val="000000"/>
                </a:solidFill>
                <a:effectLst/>
              </a:rPr>
              <a:t>kích hoạt phiên mã</a:t>
            </a:r>
            <a:r>
              <a:rPr lang="vi-VN" b="0" i="0" u="none" strike="noStrike" dirty="0">
                <a:solidFill>
                  <a:srgbClr val="000000"/>
                </a:solidFill>
                <a:effectLst/>
              </a:rPr>
              <a:t>, thể hiện xu hướng giảm ở các mẫu ung thư (đặc biệt là TNBC) so với mô vú khỏe mạnh, có thể phản ánh sự thay đổi trong hoạt động gen ở các dạng ung thư vú khác nhau.</a:t>
            </a:r>
          </a:p>
          <a:p>
            <a:pPr algn="l"/>
            <a:r>
              <a:rPr lang="vi-VN" b="0" i="0" u="none" strike="noStrike" dirty="0">
                <a:solidFill>
                  <a:srgbClr val="000000"/>
                </a:solidFill>
                <a:effectLst/>
              </a:rPr>
              <a:t>Tóm lại, nghiên cứu này giúp hiểu rõ hơn về cách các biểu hiện histone có thể phân biệt các loại ung thư vú và mô vú khỏe mạnh, đồng thời cung cấp thông tin quan trọng về cơ chế điều hòa gene trong các dạng ung thư vú khác nhau.</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9</a:t>
            </a:fld>
            <a:endParaRPr lang="x-none"/>
          </a:p>
        </p:txBody>
      </p:sp>
    </p:spTree>
    <p:extLst>
      <p:ext uri="{BB962C8B-B14F-4D97-AF65-F5344CB8AC3E}">
        <p14:creationId xmlns:p14="http://schemas.microsoft.com/office/powerpoint/2010/main" val="3995977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l"/>
            <a:r>
              <a:rPr lang="vi-VN" b="1" i="0" u="none" strike="noStrike" dirty="0">
                <a:solidFill>
                  <a:srgbClr val="000000"/>
                </a:solidFill>
                <a:effectLst/>
              </a:rPr>
              <a:t>1. Mô hình thí nghiệm</a:t>
            </a:r>
          </a:p>
          <a:p>
            <a:pPr algn="l">
              <a:buFont typeface="Arial" panose="020B0604020202020204" pitchFamily="34" charset="0"/>
              <a:buChar char="•"/>
            </a:pPr>
            <a:r>
              <a:rPr lang="vi-VN" b="1" i="0" u="none" strike="noStrike" dirty="0">
                <a:solidFill>
                  <a:srgbClr val="000000"/>
                </a:solidFill>
                <a:effectLst/>
              </a:rPr>
              <a:t>Dòng tế bào MCF-7</a:t>
            </a:r>
            <a:r>
              <a:rPr lang="vi-VN" b="0" i="0" u="none" strike="noStrike" dirty="0">
                <a:solidFill>
                  <a:srgbClr val="000000"/>
                </a:solidFill>
                <a:effectLst/>
              </a:rPr>
              <a:t>: là dòng ung thư vú dương tính với thụ thể estrogen (ER+) rất phổ biến.</a:t>
            </a:r>
          </a:p>
          <a:p>
            <a:pPr algn="l">
              <a:buFont typeface="Arial" panose="020B0604020202020204" pitchFamily="34" charset="0"/>
              <a:buChar char="•"/>
            </a:pPr>
            <a:r>
              <a:rPr lang="vi-VN" b="1" i="0" u="none" strike="noStrike" dirty="0">
                <a:solidFill>
                  <a:srgbClr val="000000"/>
                </a:solidFill>
                <a:effectLst/>
              </a:rPr>
              <a:t>Xử lý bằng estrogen</a:t>
            </a:r>
            <a:r>
              <a:rPr lang="vi-VN" b="0" i="0" u="none" strike="noStrike" dirty="0">
                <a:solidFill>
                  <a:srgbClr val="000000"/>
                </a:solidFill>
                <a:effectLst/>
              </a:rPr>
              <a:t>: MCF-7 được nuôi cấy trong môi trường có hoặc không có estrogen, để mô phỏng tình trạng “có tín hiệu estrogen” và “thiếu tín hiệu estrogen”.</a:t>
            </a:r>
          </a:p>
          <a:p>
            <a:pPr algn="l"/>
            <a:r>
              <a:rPr lang="vi-VN" b="1" i="0" u="none" strike="noStrike" dirty="0">
                <a:solidFill>
                  <a:srgbClr val="000000"/>
                </a:solidFill>
                <a:effectLst/>
              </a:rPr>
              <a:t>2. Phương pháp đánh giá</a:t>
            </a:r>
          </a:p>
          <a:p>
            <a:pPr algn="l">
              <a:buFont typeface="Arial" panose="020B0604020202020204" pitchFamily="34" charset="0"/>
              <a:buChar char="•"/>
            </a:pPr>
            <a:r>
              <a:rPr lang="vi-VN" b="1" i="0" u="none" strike="noStrike" dirty="0">
                <a:solidFill>
                  <a:srgbClr val="000000"/>
                </a:solidFill>
                <a:effectLst/>
              </a:rPr>
              <a:t>Nhuộm ICC (Immunocytochemistry)</a:t>
            </a:r>
            <a:r>
              <a:rPr lang="vi-VN" b="0" i="0" u="none" strike="noStrike" dirty="0">
                <a:solidFill>
                  <a:srgbClr val="000000"/>
                </a:solidFill>
                <a:effectLst/>
              </a:rPr>
              <a:t>: quan sát biểu hiện “toàn cầu” của các dấu ấn histone bằng cách gắn kháng thể đặc hiệu lên tế bào, rồi quan sát dưới kính hiển vi.</a:t>
            </a:r>
          </a:p>
          <a:p>
            <a:pPr algn="l"/>
            <a:r>
              <a:rPr lang="vi-VN" b="1" i="0" u="none" strike="noStrike" dirty="0">
                <a:solidFill>
                  <a:srgbClr val="000000"/>
                </a:solidFill>
                <a:effectLst/>
              </a:rPr>
              <a:t>3. Kết quả chính</a:t>
            </a:r>
          </a:p>
          <a:p>
            <a:pPr algn="l">
              <a:buFont typeface="Arial" panose="020B0604020202020204" pitchFamily="34" charset="0"/>
              <a:buChar char="•"/>
            </a:pPr>
            <a:r>
              <a:rPr lang="vi-VN" b="0" i="0" u="none" strike="noStrike" dirty="0">
                <a:solidFill>
                  <a:srgbClr val="000000"/>
                </a:solidFill>
                <a:effectLst/>
              </a:rPr>
              <a:t>Trong </a:t>
            </a:r>
            <a:r>
              <a:rPr lang="vi-VN" b="1" i="0" u="none" strike="noStrike" dirty="0">
                <a:solidFill>
                  <a:srgbClr val="000000"/>
                </a:solidFill>
                <a:effectLst/>
              </a:rPr>
              <a:t>năm dấu ấn</a:t>
            </a:r>
            <a:r>
              <a:rPr lang="vi-VN" b="0" i="0" u="none" strike="noStrike" dirty="0">
                <a:solidFill>
                  <a:srgbClr val="000000"/>
                </a:solidFill>
                <a:effectLst/>
              </a:rPr>
              <a:t> đã chọn từ mô bệnh nhân, thì hai dấu ấn </a:t>
            </a:r>
            <a:r>
              <a:rPr lang="vi-VN" b="1" i="0" u="none" strike="noStrike" dirty="0">
                <a:solidFill>
                  <a:srgbClr val="000000"/>
                </a:solidFill>
                <a:effectLst/>
              </a:rPr>
              <a:t>H3K9me2</a:t>
            </a:r>
            <a:r>
              <a:rPr lang="vi-VN" b="0" i="0" u="none" strike="noStrike" dirty="0">
                <a:solidFill>
                  <a:srgbClr val="000000"/>
                </a:solidFill>
                <a:effectLst/>
              </a:rPr>
              <a:t> (một dạng metyl hóa histone) và </a:t>
            </a:r>
            <a:r>
              <a:rPr lang="vi-VN" b="1" i="0" u="none" strike="noStrike" dirty="0">
                <a:solidFill>
                  <a:srgbClr val="000000"/>
                </a:solidFill>
                <a:effectLst/>
              </a:rPr>
              <a:t>G9a</a:t>
            </a:r>
            <a:r>
              <a:rPr lang="vi-VN" b="0" i="0" u="none" strike="noStrike" dirty="0">
                <a:solidFill>
                  <a:srgbClr val="000000"/>
                </a:solidFill>
                <a:effectLst/>
              </a:rPr>
              <a:t>(enzym metyl hóa) có:</a:t>
            </a:r>
          </a:p>
          <a:p>
            <a:pPr marL="742950" lvl="1" indent="-285750" algn="l">
              <a:buFont typeface="Arial" panose="020B0604020202020204" pitchFamily="34" charset="0"/>
              <a:buChar char="•"/>
            </a:pPr>
            <a:r>
              <a:rPr lang="vi-VN" b="1" i="0" u="none" strike="noStrike" dirty="0">
                <a:solidFill>
                  <a:srgbClr val="000000"/>
                </a:solidFill>
                <a:effectLst/>
              </a:rPr>
              <a:t>Tăng mạnh</a:t>
            </a:r>
            <a:r>
              <a:rPr lang="vi-VN" b="0" i="0" u="none" strike="noStrike" dirty="0">
                <a:solidFill>
                  <a:srgbClr val="000000"/>
                </a:solidFill>
                <a:effectLst/>
              </a:rPr>
              <a:t> ở tế bào MCF-7 khi có thêm estrogen so với khi thiếu estrogen.</a:t>
            </a:r>
          </a:p>
          <a:p>
            <a:pPr algn="l">
              <a:buFont typeface="Arial" panose="020B0604020202020204" pitchFamily="34" charset="0"/>
              <a:buChar char="•"/>
            </a:pPr>
            <a:r>
              <a:rPr lang="vi-VN" b="0" i="0" u="none" strike="noStrike" dirty="0">
                <a:solidFill>
                  <a:srgbClr val="000000"/>
                </a:solidFill>
                <a:effectLst/>
              </a:rPr>
              <a:t>Một số dấu ấn metyl hóa/acety hóa khác cũng có sự </a:t>
            </a:r>
            <a:r>
              <a:rPr lang="vi-VN" b="1" i="0" u="none" strike="noStrike" dirty="0">
                <a:solidFill>
                  <a:srgbClr val="000000"/>
                </a:solidFill>
                <a:effectLst/>
              </a:rPr>
              <a:t>thay đổi</a:t>
            </a:r>
            <a:r>
              <a:rPr lang="vi-VN" b="0" i="0" u="none" strike="noStrike" dirty="0">
                <a:solidFill>
                  <a:srgbClr val="000000"/>
                </a:solidFill>
                <a:effectLst/>
              </a:rPr>
              <a:t> khi so sánh “có” vs. “không” estrogen, cho thấy:</a:t>
            </a:r>
          </a:p>
          <a:p>
            <a:pPr marL="742950" lvl="1" indent="-285750" algn="l">
              <a:buFont typeface="Arial" panose="020B0604020202020204" pitchFamily="34" charset="0"/>
              <a:buChar char="•"/>
            </a:pPr>
            <a:r>
              <a:rPr lang="vi-VN" b="0" i="0" u="none" strike="noStrike" dirty="0">
                <a:solidFill>
                  <a:srgbClr val="000000"/>
                </a:solidFill>
                <a:effectLst/>
              </a:rPr>
              <a:t>Mạng lưới điều hòa biểu sinh (epigenetic) rất </a:t>
            </a:r>
            <a:r>
              <a:rPr lang="vi-VN" b="1" i="0" u="none" strike="noStrike" dirty="0">
                <a:solidFill>
                  <a:srgbClr val="000000"/>
                </a:solidFill>
                <a:effectLst/>
              </a:rPr>
              <a:t>phức tạp</a:t>
            </a:r>
            <a:r>
              <a:rPr lang="vi-VN" b="0" i="0" u="none" strike="noStrike" dirty="0">
                <a:solidFill>
                  <a:srgbClr val="000000"/>
                </a:solidFill>
                <a:effectLst/>
              </a:rPr>
              <a:t> trong phản ứng với estrogen.</a:t>
            </a:r>
          </a:p>
          <a:p>
            <a:pPr algn="l"/>
            <a:r>
              <a:rPr lang="vi-VN" b="1" i="0" u="none" strike="noStrike" dirty="0">
                <a:solidFill>
                  <a:srgbClr val="000000"/>
                </a:solidFill>
                <a:effectLst/>
              </a:rPr>
              <a:t>4. Ý nghĩa</a:t>
            </a:r>
          </a:p>
          <a:p>
            <a:pPr algn="l">
              <a:buFont typeface="Arial" panose="020B0604020202020204" pitchFamily="34" charset="0"/>
              <a:buChar char="•"/>
            </a:pPr>
            <a:r>
              <a:rPr lang="vi-VN" b="0" i="0" u="none" strike="noStrike" dirty="0">
                <a:solidFill>
                  <a:srgbClr val="000000"/>
                </a:solidFill>
                <a:effectLst/>
              </a:rPr>
              <a:t>Việc </a:t>
            </a:r>
            <a:r>
              <a:rPr lang="vi-VN" b="1" i="0" u="none" strike="noStrike" dirty="0">
                <a:solidFill>
                  <a:srgbClr val="000000"/>
                </a:solidFill>
                <a:effectLst/>
              </a:rPr>
              <a:t>tăng H3K9me2 và G9a</a:t>
            </a:r>
            <a:r>
              <a:rPr lang="vi-VN" b="0" i="0" u="none" strike="noStrike" dirty="0">
                <a:solidFill>
                  <a:srgbClr val="000000"/>
                </a:solidFill>
                <a:effectLst/>
              </a:rPr>
              <a:t> trong điều kiện có estrogen cho thấy chúng đóng vai trò quan trọng:</a:t>
            </a:r>
          </a:p>
          <a:p>
            <a:pPr marL="742950" lvl="1" indent="-285750" algn="l">
              <a:buFont typeface="Arial" panose="020B0604020202020204" pitchFamily="34" charset="0"/>
              <a:buChar char="•"/>
            </a:pPr>
            <a:r>
              <a:rPr lang="vi-VN" b="0" i="0" u="none" strike="noStrike" dirty="0">
                <a:solidFill>
                  <a:srgbClr val="000000"/>
                </a:solidFill>
                <a:effectLst/>
              </a:rPr>
              <a:t>Trong </a:t>
            </a:r>
            <a:r>
              <a:rPr lang="vi-VN" b="1" i="0" u="none" strike="noStrike" dirty="0">
                <a:solidFill>
                  <a:srgbClr val="000000"/>
                </a:solidFill>
                <a:effectLst/>
              </a:rPr>
              <a:t>hình thành</a:t>
            </a:r>
            <a:r>
              <a:rPr lang="vi-VN" b="0" i="0" u="none" strike="noStrike" dirty="0">
                <a:solidFill>
                  <a:srgbClr val="000000"/>
                </a:solidFill>
                <a:effectLst/>
              </a:rPr>
              <a:t> và </a:t>
            </a:r>
            <a:r>
              <a:rPr lang="vi-VN" b="1" i="0" u="none" strike="noStrike" dirty="0">
                <a:solidFill>
                  <a:srgbClr val="000000"/>
                </a:solidFill>
                <a:effectLst/>
              </a:rPr>
              <a:t>tiến triển</a:t>
            </a:r>
            <a:r>
              <a:rPr lang="vi-VN" b="0" i="0" u="none" strike="noStrike" dirty="0">
                <a:solidFill>
                  <a:srgbClr val="000000"/>
                </a:solidFill>
                <a:effectLst/>
              </a:rPr>
              <a:t> khối u ER+</a:t>
            </a:r>
          </a:p>
          <a:p>
            <a:pPr marL="742950" lvl="1" indent="-285750" algn="l">
              <a:buFont typeface="Arial" panose="020B0604020202020204" pitchFamily="34" charset="0"/>
              <a:buChar char="•"/>
            </a:pPr>
            <a:r>
              <a:rPr lang="vi-VN" b="0" i="0" u="none" strike="noStrike" dirty="0">
                <a:solidFill>
                  <a:srgbClr val="000000"/>
                </a:solidFill>
                <a:effectLst/>
              </a:rPr>
              <a:t>Là một phần của cơ chế “estrogen thúc đẩy tăng sinh” ở ung thư vú.</a:t>
            </a:r>
          </a:p>
          <a:p>
            <a:pPr algn="l"/>
            <a:r>
              <a:rPr lang="vi-VN" b="1" i="0" u="none" strike="noStrike" dirty="0">
                <a:solidFill>
                  <a:srgbClr val="000000"/>
                </a:solidFill>
                <a:effectLst/>
              </a:rPr>
              <a:t>Tóm lại</a:t>
            </a:r>
            <a:r>
              <a:rPr lang="vi-VN" b="0" i="0" u="none" strike="noStrike" dirty="0">
                <a:solidFill>
                  <a:srgbClr val="000000"/>
                </a:solidFill>
                <a:effectLst/>
              </a:rPr>
              <a:t>, thí nghiệm này củng cố thêm bằng chứng rằng H3K9me2 và G9a không chỉ tăng ở mô ung thư vú dạng ba âm tính (TNBC), mà còn được kích hoạt mạnh mẽ trong mô ung thư vú ER+ khi có estrogen, phản ánh vai trò then chốt của chúng trong sự phát triển phụ thuộc estrogen.</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10</a:t>
            </a:fld>
            <a:endParaRPr lang="x-none"/>
          </a:p>
        </p:txBody>
      </p:sp>
    </p:spTree>
    <p:extLst>
      <p:ext uri="{BB962C8B-B14F-4D97-AF65-F5344CB8AC3E}">
        <p14:creationId xmlns:p14="http://schemas.microsoft.com/office/powerpoint/2010/main" val="4177034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x-none" dirty="0"/>
              <a:t>Từ số liệu hình A vẽ sang hình B</a:t>
            </a:r>
          </a:p>
          <a:p>
            <a:pPr algn="l"/>
            <a:r>
              <a:rPr lang="vi-VN" b="1" i="0" u="none" strike="noStrike" dirty="0">
                <a:solidFill>
                  <a:srgbClr val="000000"/>
                </a:solidFill>
                <a:effectLst/>
              </a:rPr>
              <a:t>Mục tiêu và phương pháp:</a:t>
            </a:r>
          </a:p>
          <a:p>
            <a:pPr algn="l">
              <a:buFont typeface="Arial" panose="020B0604020202020204" pitchFamily="34" charset="0"/>
              <a:buChar char="•"/>
            </a:pPr>
            <a:r>
              <a:rPr lang="vi-VN" b="1" i="0" u="none" strike="noStrike" dirty="0">
                <a:solidFill>
                  <a:srgbClr val="000000"/>
                </a:solidFill>
                <a:effectLst/>
              </a:rPr>
              <a:t>Nghiên cứu mở rộng</a:t>
            </a:r>
            <a:r>
              <a:rPr lang="vi-VN" b="0" i="0" u="none" strike="noStrike" dirty="0">
                <a:solidFill>
                  <a:srgbClr val="000000"/>
                </a:solidFill>
                <a:effectLst/>
              </a:rPr>
              <a:t>: Sau khi đã hiểu rõ vai trò của G9a và H3K9me2 trong ung thư vú ER dương tính (ER+), nghiên cứu chuyển sang tập trung vào việc khám phá vai trò của những dấu ấn sinh học histone trong </a:t>
            </a:r>
            <a:r>
              <a:rPr lang="vi-VN" b="1" i="0" u="none" strike="noStrike" dirty="0">
                <a:solidFill>
                  <a:srgbClr val="000000"/>
                </a:solidFill>
                <a:effectLst/>
              </a:rPr>
              <a:t>ung thư vú ba âm tính (TNBC)</a:t>
            </a:r>
            <a:r>
              <a:rPr lang="vi-VN" b="0" i="0" u="none" strike="noStrike" dirty="0">
                <a:solidFill>
                  <a:srgbClr val="000000"/>
                </a:solidFill>
                <a:effectLst/>
              </a:rPr>
              <a:t>.</a:t>
            </a:r>
          </a:p>
          <a:p>
            <a:pPr algn="l">
              <a:buFont typeface="Arial" panose="020B0604020202020204" pitchFamily="34" charset="0"/>
              <a:buChar char="•"/>
            </a:pPr>
            <a:r>
              <a:rPr lang="vi-VN" b="1" i="0" u="none" strike="noStrike" dirty="0">
                <a:solidFill>
                  <a:srgbClr val="000000"/>
                </a:solidFill>
                <a:effectLst/>
              </a:rPr>
              <a:t>Nhóm xác nhận</a:t>
            </a:r>
            <a:r>
              <a:rPr lang="vi-VN" b="0" i="0" u="none" strike="noStrike" dirty="0">
                <a:solidFill>
                  <a:srgbClr val="000000"/>
                </a:solidFill>
                <a:effectLst/>
              </a:rPr>
              <a:t>: Một nhóm bệnh nhân thứ hai đã được tạo ra để xác nhận các phát hiện trước đó. Nhóm này gồm 20 mẫu mô từ 20 trường hợp TNBC.</a:t>
            </a:r>
          </a:p>
          <a:p>
            <a:pPr algn="l"/>
            <a:r>
              <a:rPr lang="vi-VN" b="1" i="0" u="none" strike="noStrike" dirty="0">
                <a:solidFill>
                  <a:srgbClr val="000000"/>
                </a:solidFill>
                <a:effectLst/>
              </a:rPr>
              <a:t>Thực hiện nghiên cứu:</a:t>
            </a:r>
          </a:p>
          <a:p>
            <a:pPr algn="l">
              <a:buFont typeface="Arial" panose="020B0604020202020204" pitchFamily="34" charset="0"/>
              <a:buChar char="•"/>
            </a:pPr>
            <a:r>
              <a:rPr lang="vi-VN" b="1" i="0" u="none" strike="noStrike" dirty="0">
                <a:solidFill>
                  <a:srgbClr val="000000"/>
                </a:solidFill>
                <a:effectLst/>
              </a:rPr>
              <a:t>Mô hình IHC</a:t>
            </a:r>
            <a:r>
              <a:rPr lang="vi-VN" b="0" i="0" u="none" strike="noStrike" dirty="0">
                <a:solidFill>
                  <a:srgbClr val="000000"/>
                </a:solidFill>
                <a:effectLst/>
              </a:rPr>
              <a:t>: Mỗi mẫu mô từ nhóm xác nhận được nhuộm để đánh giá 4 dấu ấn histone. Các kết quả nhuộm (IHC) được chấm điểm và phân loại thành </a:t>
            </a:r>
            <a:r>
              <a:rPr lang="vi-VN" b="1" i="0" u="none" strike="noStrike" dirty="0">
                <a:solidFill>
                  <a:srgbClr val="000000"/>
                </a:solidFill>
                <a:effectLst/>
              </a:rPr>
              <a:t>hai loại: IHC cao</a:t>
            </a:r>
            <a:r>
              <a:rPr lang="vi-VN" b="0" i="0" u="none" strike="noStrike" dirty="0">
                <a:solidFill>
                  <a:srgbClr val="000000"/>
                </a:solidFill>
                <a:effectLst/>
              </a:rPr>
              <a:t> và </a:t>
            </a:r>
            <a:r>
              <a:rPr lang="vi-VN" b="1" i="0" u="none" strike="noStrike" dirty="0">
                <a:solidFill>
                  <a:srgbClr val="000000"/>
                </a:solidFill>
                <a:effectLst/>
              </a:rPr>
              <a:t>IHC thấp</a:t>
            </a:r>
            <a:r>
              <a:rPr lang="vi-VN" b="0" i="0" u="none" strike="noStrike" dirty="0">
                <a:solidFill>
                  <a:srgbClr val="000000"/>
                </a:solidFill>
                <a:effectLst/>
              </a:rPr>
              <a:t>, như đã mô tả trong nghiên cứu trước.</a:t>
            </a:r>
          </a:p>
          <a:p>
            <a:pPr algn="l">
              <a:buFont typeface="Arial" panose="020B0604020202020204" pitchFamily="34" charset="0"/>
              <a:buChar char="•"/>
            </a:pPr>
            <a:r>
              <a:rPr lang="vi-VN" b="1" i="0" u="none" strike="noStrike" dirty="0">
                <a:solidFill>
                  <a:srgbClr val="000000"/>
                </a:solidFill>
                <a:effectLst/>
              </a:rPr>
              <a:t>Phân tích tỷ lệ IHC cao</a:t>
            </a:r>
            <a:r>
              <a:rPr lang="vi-VN" b="0" i="0" u="none" strike="noStrike" dirty="0">
                <a:solidFill>
                  <a:srgbClr val="000000"/>
                </a:solidFill>
                <a:effectLst/>
              </a:rPr>
              <a:t>: Các dấu ấn histone được nghiên cứu (H3K9me2, H3K36me2, H3K79me và G9a) có tỷ lệ </a:t>
            </a:r>
            <a:r>
              <a:rPr lang="vi-VN" b="1" i="0" u="none" strike="noStrike" dirty="0">
                <a:solidFill>
                  <a:srgbClr val="000000"/>
                </a:solidFill>
                <a:effectLst/>
              </a:rPr>
              <a:t>IHC cao</a:t>
            </a:r>
            <a:r>
              <a:rPr lang="vi-VN" b="0" i="0" u="none" strike="noStrike" dirty="0">
                <a:solidFill>
                  <a:srgbClr val="000000"/>
                </a:solidFill>
                <a:effectLst/>
              </a:rPr>
              <a:t> được tính toán và so sánh giữa </a:t>
            </a:r>
            <a:r>
              <a:rPr lang="vi-VN" b="1" i="0" u="none" strike="noStrike" dirty="0">
                <a:solidFill>
                  <a:srgbClr val="000000"/>
                </a:solidFill>
                <a:effectLst/>
              </a:rPr>
              <a:t>TNBC và ung thư vú luminal A</a:t>
            </a:r>
            <a:r>
              <a:rPr lang="vi-VN" b="0" i="0" u="none" strike="noStrike" dirty="0">
                <a:solidFill>
                  <a:srgbClr val="000000"/>
                </a:solidFill>
                <a:effectLst/>
              </a:rPr>
              <a:t>.</a:t>
            </a:r>
          </a:p>
          <a:p>
            <a:pPr algn="l"/>
            <a:r>
              <a:rPr lang="vi-VN" b="1" i="0" u="none" strike="noStrike" dirty="0">
                <a:solidFill>
                  <a:srgbClr val="000000"/>
                </a:solidFill>
                <a:effectLst/>
              </a:rPr>
              <a:t>Kết quả:</a:t>
            </a:r>
          </a:p>
          <a:p>
            <a:pPr algn="l">
              <a:buFont typeface="Arial" panose="020B0604020202020204" pitchFamily="34" charset="0"/>
              <a:buChar char="•"/>
            </a:pPr>
            <a:r>
              <a:rPr lang="vi-VN" b="1" i="0" u="none" strike="noStrike" dirty="0">
                <a:solidFill>
                  <a:srgbClr val="000000"/>
                </a:solidFill>
                <a:effectLst/>
              </a:rPr>
              <a:t>Sự đồng thuận giữa hai nhóm TNBC</a:t>
            </a:r>
            <a:r>
              <a:rPr lang="vi-VN" b="0" i="0" u="none" strike="noStrike" dirty="0">
                <a:solidFill>
                  <a:srgbClr val="000000"/>
                </a:solidFill>
                <a:effectLst/>
              </a:rPr>
              <a:t>: Kết quả cho thấy không có sự khác biệt đáng kể giữa </a:t>
            </a:r>
            <a:r>
              <a:rPr lang="vi-VN" b="1" i="0" u="none" strike="noStrike" dirty="0">
                <a:solidFill>
                  <a:srgbClr val="000000"/>
                </a:solidFill>
                <a:effectLst/>
              </a:rPr>
              <a:t>nhóm phát hiện</a:t>
            </a:r>
            <a:r>
              <a:rPr lang="vi-VN" b="0" i="0" u="none" strike="noStrike" dirty="0">
                <a:solidFill>
                  <a:srgbClr val="000000"/>
                </a:solidFill>
                <a:effectLst/>
              </a:rPr>
              <a:t>(ban đầu) và </a:t>
            </a:r>
            <a:r>
              <a:rPr lang="vi-VN" b="1" i="0" u="none" strike="noStrike" dirty="0">
                <a:solidFill>
                  <a:srgbClr val="000000"/>
                </a:solidFill>
                <a:effectLst/>
              </a:rPr>
              <a:t>nhóm xác nhận</a:t>
            </a:r>
            <a:r>
              <a:rPr lang="vi-VN" b="0" i="0" u="none" strike="noStrike" dirty="0">
                <a:solidFill>
                  <a:srgbClr val="000000"/>
                </a:solidFill>
                <a:effectLst/>
              </a:rPr>
              <a:t> đối với tỷ lệ IHC cao của các yếu tố dự báo độc lập như H3K9me2, H3K36me2, H3K79me và G9a.</a:t>
            </a:r>
          </a:p>
          <a:p>
            <a:pPr algn="l">
              <a:buFont typeface="Arial" panose="020B0604020202020204" pitchFamily="34" charset="0"/>
              <a:buChar char="•"/>
            </a:pPr>
            <a:r>
              <a:rPr lang="vi-VN" b="1" i="0" u="none" strike="noStrike" dirty="0">
                <a:solidFill>
                  <a:srgbClr val="000000"/>
                </a:solidFill>
                <a:effectLst/>
              </a:rPr>
              <a:t>Sự khác biệt so với Luminal A</a:t>
            </a:r>
            <a:r>
              <a:rPr lang="vi-VN" b="0" i="0" u="none" strike="noStrike" dirty="0">
                <a:solidFill>
                  <a:srgbClr val="000000"/>
                </a:solidFill>
                <a:effectLst/>
              </a:rPr>
              <a:t>: Tỷ lệ IHC cao của các yếu tố này </a:t>
            </a:r>
            <a:r>
              <a:rPr lang="vi-VN" b="1" i="0" u="none" strike="noStrike" dirty="0">
                <a:solidFill>
                  <a:srgbClr val="000000"/>
                </a:solidFill>
                <a:effectLst/>
              </a:rPr>
              <a:t>được tăng lên</a:t>
            </a:r>
            <a:r>
              <a:rPr lang="vi-VN" b="0" i="0" u="none" strike="noStrike" dirty="0">
                <a:solidFill>
                  <a:srgbClr val="000000"/>
                </a:solidFill>
                <a:effectLst/>
              </a:rPr>
              <a:t> trong TNBC khi so với </a:t>
            </a:r>
            <a:r>
              <a:rPr lang="vi-VN" b="1" i="0" u="none" strike="noStrike" dirty="0">
                <a:solidFill>
                  <a:srgbClr val="000000"/>
                </a:solidFill>
                <a:effectLst/>
              </a:rPr>
              <a:t>luminal A</a:t>
            </a:r>
            <a:r>
              <a:rPr lang="vi-VN" b="0" i="0" u="none" strike="noStrike" dirty="0">
                <a:solidFill>
                  <a:srgbClr val="000000"/>
                </a:solidFill>
                <a:effectLst/>
              </a:rPr>
              <a:t>, với sự khác biệt có ý nghĩa thống kê (</a:t>
            </a:r>
            <a:r>
              <a:rPr lang="vi-VN" b="1" i="0" u="none" strike="noStrike" dirty="0">
                <a:solidFill>
                  <a:srgbClr val="000000"/>
                </a:solidFill>
                <a:effectLst/>
              </a:rPr>
              <a:t>p &lt; 0,05</a:t>
            </a:r>
            <a:r>
              <a:rPr lang="vi-VN" b="0" i="0" u="none" strike="noStrike" dirty="0">
                <a:solidFill>
                  <a:srgbClr val="000000"/>
                </a:solidFill>
                <a:effectLst/>
              </a:rPr>
              <a:t>).</a:t>
            </a:r>
          </a:p>
          <a:p>
            <a:pPr algn="l">
              <a:buFont typeface="Arial" panose="020B0604020202020204" pitchFamily="34" charset="0"/>
              <a:buChar char="•"/>
            </a:pPr>
            <a:r>
              <a:rPr lang="vi-VN" b="1" i="0" u="none" strike="noStrike" dirty="0">
                <a:solidFill>
                  <a:srgbClr val="000000"/>
                </a:solidFill>
                <a:effectLst/>
              </a:rPr>
              <a:t>Kết luận</a:t>
            </a:r>
            <a:r>
              <a:rPr lang="vi-VN" b="0" i="0" u="none" strike="noStrike" dirty="0">
                <a:solidFill>
                  <a:srgbClr val="000000"/>
                </a:solidFill>
                <a:effectLst/>
              </a:rPr>
              <a:t>: Nghiên cứu đã xác nhận lại </a:t>
            </a:r>
            <a:r>
              <a:rPr lang="vi-VN" b="1" i="0" u="none" strike="noStrike" dirty="0">
                <a:solidFill>
                  <a:srgbClr val="000000"/>
                </a:solidFill>
                <a:effectLst/>
              </a:rPr>
              <a:t>mối liên hệ giữa các dấu ấn sinh học histone</a:t>
            </a:r>
            <a:r>
              <a:rPr lang="vi-VN" b="0" i="0" u="none" strike="noStrike" dirty="0">
                <a:solidFill>
                  <a:srgbClr val="000000"/>
                </a:solidFill>
                <a:effectLst/>
              </a:rPr>
              <a:t> quan trọng trong TNBC, đồng thời làm rõ sự khác biệt giữa TNBC và </a:t>
            </a:r>
            <a:r>
              <a:rPr lang="vi-VN" b="1" i="0" u="none" strike="noStrike" dirty="0">
                <a:solidFill>
                  <a:srgbClr val="000000"/>
                </a:solidFill>
                <a:effectLst/>
              </a:rPr>
              <a:t>luminal A</a:t>
            </a:r>
            <a:r>
              <a:rPr lang="vi-VN" b="0" i="0" u="none" strike="noStrike" dirty="0">
                <a:solidFill>
                  <a:srgbClr val="000000"/>
                </a:solidFill>
                <a:effectLst/>
              </a:rPr>
              <a:t>. Kết quả này giúp củng cố vai trò của các dấu ấn histone trong việc phân biệt giữa hai loại ung thư vú này.</a:t>
            </a:r>
          </a:p>
          <a:p>
            <a:pPr algn="l"/>
            <a:r>
              <a:rPr lang="vi-VN" b="1" i="0" u="none" strike="noStrike" dirty="0">
                <a:solidFill>
                  <a:srgbClr val="000000"/>
                </a:solidFill>
                <a:effectLst/>
              </a:rPr>
              <a:t>Tóm lại</a:t>
            </a:r>
            <a:r>
              <a:rPr lang="vi-VN" b="0" i="0" u="none" strike="noStrike" dirty="0">
                <a:solidFill>
                  <a:srgbClr val="000000"/>
                </a:solidFill>
                <a:effectLst/>
              </a:rPr>
              <a:t>: Nghiên cứu đã làm rõ mối quan hệ của các dấu ấn histone với TNBC và xác nhận rằng những dấu ấn này có sự khác biệt rõ rệt so với ung thư vú luminal A, cung cấp thông tin quan trọng cho việc phân loại và điều trị ung thư vú.</a:t>
            </a:r>
          </a:p>
          <a:p>
            <a:endParaRPr lang="x-none" dirty="0"/>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11</a:t>
            </a:fld>
            <a:endParaRPr lang="x-none"/>
          </a:p>
        </p:txBody>
      </p:sp>
    </p:spTree>
    <p:extLst>
      <p:ext uri="{BB962C8B-B14F-4D97-AF65-F5344CB8AC3E}">
        <p14:creationId xmlns:p14="http://schemas.microsoft.com/office/powerpoint/2010/main" val="3487076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12</a:t>
            </a:fld>
            <a:endParaRPr lang="x-none"/>
          </a:p>
        </p:txBody>
      </p:sp>
    </p:spTree>
    <p:extLst>
      <p:ext uri="{BB962C8B-B14F-4D97-AF65-F5344CB8AC3E}">
        <p14:creationId xmlns:p14="http://schemas.microsoft.com/office/powerpoint/2010/main" val="3933294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13</a:t>
            </a:fld>
            <a:endParaRPr lang="x-none"/>
          </a:p>
        </p:txBody>
      </p:sp>
    </p:spTree>
    <p:extLst>
      <p:ext uri="{BB962C8B-B14F-4D97-AF65-F5344CB8AC3E}">
        <p14:creationId xmlns:p14="http://schemas.microsoft.com/office/powerpoint/2010/main" val="3160498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127307C-054F-1408-2569-5497D2234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27AE9C9-C04C-BB4B-C3E7-EFC34BA72257}"/>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xmlns="" id="{0FFEB053-9426-3F92-5357-0948B86C1F55}"/>
              </a:ext>
            </a:extLst>
          </p:cNvPr>
          <p:cNvSpPr>
            <a:spLocks noGrp="1"/>
          </p:cNvSpPr>
          <p:nvPr>
            <p:ph type="body" idx="1"/>
          </p:nvPr>
        </p:nvSpPr>
        <p:spPr/>
        <p:txBody>
          <a:bodyPr/>
          <a:lstStyle/>
          <a:p>
            <a:r>
              <a:rPr lang="vi-VN" dirty="0"/>
              <a:t>#2 cat() là hàm in ra dòng chữ (giống như print() nhưng đẹp hơn khi in nhiều thứ)</a:t>
            </a:r>
          </a:p>
          <a:p>
            <a:r>
              <a:rPr lang="vi-VN" dirty="0"/>
              <a:t>"Thư mục làm việc hiện tại:" là nội dung bạn muốn hiển thị</a:t>
            </a:r>
          </a:p>
          <a:p>
            <a:r>
              <a:rPr lang="vi-VN" dirty="0"/>
              <a:t>getwd() chèn đường dẫn thư mục</a:t>
            </a:r>
          </a:p>
          <a:p>
            <a:r>
              <a:rPr lang="vi-VN" dirty="0"/>
              <a:t>"\n" xuống dòng sau khi in xong</a:t>
            </a:r>
          </a:p>
          <a:p>
            <a:r>
              <a:rPr lang="vi-VN" dirty="0"/>
              <a:t>#3</a:t>
            </a:r>
          </a:p>
          <a:p>
            <a:endParaRPr lang="x-none" dirty="0"/>
          </a:p>
        </p:txBody>
      </p:sp>
      <p:sp>
        <p:nvSpPr>
          <p:cNvPr id="4" name="Slide Number Placeholder 3">
            <a:extLst>
              <a:ext uri="{FF2B5EF4-FFF2-40B4-BE49-F238E27FC236}">
                <a16:creationId xmlns:a16="http://schemas.microsoft.com/office/drawing/2014/main" xmlns="" id="{E095A696-0BB8-C228-2CED-1F54D8541C48}"/>
              </a:ext>
            </a:extLst>
          </p:cNvPr>
          <p:cNvSpPr>
            <a:spLocks noGrp="1"/>
          </p:cNvSpPr>
          <p:nvPr>
            <p:ph type="sldNum" sz="quarter" idx="5"/>
          </p:nvPr>
        </p:nvSpPr>
        <p:spPr/>
        <p:txBody>
          <a:bodyPr/>
          <a:lstStyle/>
          <a:p>
            <a:fld id="{BEFA16C1-2B3B-F944-A5C7-F33D2537EAD5}" type="slidenum">
              <a:rPr lang="x-none" smtClean="0"/>
              <a:t>14</a:t>
            </a:fld>
            <a:endParaRPr lang="x-none"/>
          </a:p>
        </p:txBody>
      </p:sp>
    </p:spTree>
    <p:extLst>
      <p:ext uri="{BB962C8B-B14F-4D97-AF65-F5344CB8AC3E}">
        <p14:creationId xmlns:p14="http://schemas.microsoft.com/office/powerpoint/2010/main" val="558126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F82A7F-6BF6-56FC-B7D7-CD540303A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B2CC29D-0BC8-EC96-980D-2E568448DA42}"/>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xmlns="" id="{4448AFF5-81A4-FC26-541A-93A760B8D99C}"/>
              </a:ext>
            </a:extLst>
          </p:cNvPr>
          <p:cNvSpPr>
            <a:spLocks noGrp="1"/>
          </p:cNvSpPr>
          <p:nvPr>
            <p:ph type="body" idx="1"/>
          </p:nvPr>
        </p:nvSpPr>
        <p:spPr/>
        <p:txBody>
          <a:bodyPr/>
          <a:lstStyle/>
          <a:p>
            <a:r>
              <a:rPr lang="vi-VN" dirty="0"/>
              <a:t>top_row &lt;- plot_grid(...)Ghép 4 biểu đồ đầu tiên (dnmt1 → h3k4me2) thành </a:t>
            </a:r>
            <a:r>
              <a:rPr lang="vi-VN" b="1" dirty="0"/>
              <a:t>hàng trên</a:t>
            </a:r>
            <a:r>
              <a:rPr lang="vi-VN" dirty="0"/>
              <a:t>bottom_row &lt;- plot_grid(...)Ghép 4 biểu đồ tiếp theo (h3k79me → smyd2) thành </a:t>
            </a:r>
            <a:r>
              <a:rPr lang="vi-VN" b="1" dirty="0"/>
              <a:t>hàng dưới</a:t>
            </a:r>
            <a:r>
              <a:rPr lang="vi-VN" dirty="0"/>
              <a:t>combined_plot &lt;- plot_grid(top_row, bottom_row, ncol = 1, nrow = 2)Ghép 2 hàng lại thành </a:t>
            </a:r>
            <a:r>
              <a:rPr lang="vi-VN" b="1" dirty="0"/>
              <a:t>1 hình hoàn chỉnh có 2 hàng</a:t>
            </a:r>
            <a:r>
              <a:rPr lang="vi-VN" dirty="0"/>
              <a:t>ggsave(...)Lưu hình ghép thành file PNG tên combined_figure_4B_8labels.png (kích thước 12 x 6 inch)cat(...)In thông báo ra màn hình: “Biểu đồ đã lưu tại: ...”</a:t>
            </a:r>
            <a:endParaRPr lang="x-none" dirty="0"/>
          </a:p>
        </p:txBody>
      </p:sp>
      <p:sp>
        <p:nvSpPr>
          <p:cNvPr id="4" name="Slide Number Placeholder 3">
            <a:extLst>
              <a:ext uri="{FF2B5EF4-FFF2-40B4-BE49-F238E27FC236}">
                <a16:creationId xmlns:a16="http://schemas.microsoft.com/office/drawing/2014/main" xmlns="" id="{0305A40B-15B2-2FBB-A214-6E72D56F2843}"/>
              </a:ext>
            </a:extLst>
          </p:cNvPr>
          <p:cNvSpPr>
            <a:spLocks noGrp="1"/>
          </p:cNvSpPr>
          <p:nvPr>
            <p:ph type="sldNum" sz="quarter" idx="5"/>
          </p:nvPr>
        </p:nvSpPr>
        <p:spPr/>
        <p:txBody>
          <a:bodyPr/>
          <a:lstStyle/>
          <a:p>
            <a:fld id="{BEFA16C1-2B3B-F944-A5C7-F33D2537EAD5}" type="slidenum">
              <a:rPr lang="x-none" smtClean="0"/>
              <a:t>15</a:t>
            </a:fld>
            <a:endParaRPr lang="x-none"/>
          </a:p>
        </p:txBody>
      </p:sp>
    </p:spTree>
    <p:extLst>
      <p:ext uri="{BB962C8B-B14F-4D97-AF65-F5344CB8AC3E}">
        <p14:creationId xmlns:p14="http://schemas.microsoft.com/office/powerpoint/2010/main" val="4243015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l"/>
            <a:r>
              <a:rPr lang="vi-VN" b="1" i="0" u="none" strike="noStrike" dirty="0">
                <a:solidFill>
                  <a:srgbClr val="000000"/>
                </a:solidFill>
                <a:effectLst/>
              </a:rPr>
              <a:t>1. Lý do chọn H3K9me2 để phân tích sâu:</a:t>
            </a:r>
          </a:p>
          <a:p>
            <a:pPr algn="l">
              <a:buFont typeface="Arial" panose="020B0604020202020204" pitchFamily="34" charset="0"/>
              <a:buChar char="•"/>
            </a:pPr>
            <a:r>
              <a:rPr lang="vi-VN" b="1" i="0" u="none" strike="noStrike" dirty="0">
                <a:solidFill>
                  <a:srgbClr val="000000"/>
                </a:solidFill>
                <a:effectLst/>
              </a:rPr>
              <a:t>H3K9me2</a:t>
            </a:r>
            <a:r>
              <a:rPr lang="vi-VN" b="0" i="0" u="none" strike="noStrike" dirty="0">
                <a:solidFill>
                  <a:srgbClr val="000000"/>
                </a:solidFill>
                <a:effectLst/>
              </a:rPr>
              <a:t> là một dấu ấn histone được chọn để phân tích chi tiết hơn trong nghiên cứu này, vì:</a:t>
            </a:r>
          </a:p>
          <a:p>
            <a:pPr marL="742950" lvl="1" indent="-285750" algn="l">
              <a:buFont typeface="Arial" panose="020B0604020202020204" pitchFamily="34" charset="0"/>
              <a:buChar char="•"/>
            </a:pPr>
            <a:r>
              <a:rPr lang="vi-VN" b="1" i="0" u="none" strike="noStrike" dirty="0">
                <a:solidFill>
                  <a:srgbClr val="000000"/>
                </a:solidFill>
                <a:effectLst/>
              </a:rPr>
              <a:t>G9a và H3K9me2</a:t>
            </a:r>
            <a:r>
              <a:rPr lang="vi-VN" b="0" i="0" u="none" strike="noStrike" dirty="0">
                <a:solidFill>
                  <a:srgbClr val="000000"/>
                </a:solidFill>
                <a:effectLst/>
              </a:rPr>
              <a:t> đã được nghiên cứu nhiều trong ung thư vú ER dương tính (ER+), nhưng </a:t>
            </a:r>
            <a:r>
              <a:rPr lang="vi-VN" b="1" i="0" u="none" strike="noStrike" dirty="0">
                <a:solidFill>
                  <a:srgbClr val="000000"/>
                </a:solidFill>
                <a:effectLst/>
              </a:rPr>
              <a:t>vẫn chưa được nghiên cứu kỹ trong TNBC</a:t>
            </a:r>
            <a:r>
              <a:rPr lang="vi-VN" b="0" i="0" u="none" strike="noStrike" dirty="0">
                <a:solidFill>
                  <a:srgbClr val="000000"/>
                </a:solidFill>
                <a:effectLst/>
              </a:rPr>
              <a:t>, mặc dù đã có mối liên hệ mạnh mẽ giữa chúng trong các nghiên cứu trước đó.</a:t>
            </a:r>
          </a:p>
          <a:p>
            <a:pPr marL="742950" lvl="1" indent="-285750" algn="l">
              <a:buFont typeface="Arial" panose="020B0604020202020204" pitchFamily="34" charset="0"/>
              <a:buChar char="•"/>
            </a:pPr>
            <a:r>
              <a:rPr lang="vi-VN" b="1" i="0" u="none" strike="noStrike" dirty="0">
                <a:solidFill>
                  <a:srgbClr val="000000"/>
                </a:solidFill>
                <a:effectLst/>
              </a:rPr>
              <a:t>Tín hiệu H3K9me2</a:t>
            </a:r>
            <a:r>
              <a:rPr lang="vi-VN" b="0" i="0" u="none" strike="noStrike" dirty="0">
                <a:solidFill>
                  <a:srgbClr val="000000"/>
                </a:solidFill>
                <a:effectLst/>
              </a:rPr>
              <a:t> có mối quan hệ đáng kể với cấp độ khối u và giai đoạn TNM (T và N) trong ung thư vú, là lý do quan trọng để tập trung vào H3K9me2.</a:t>
            </a:r>
          </a:p>
          <a:p>
            <a:pPr algn="l"/>
            <a:r>
              <a:rPr lang="vi-VN" b="1" i="0" u="none" strike="noStrike" dirty="0">
                <a:solidFill>
                  <a:srgbClr val="000000"/>
                </a:solidFill>
                <a:effectLst/>
              </a:rPr>
              <a:t>2. Kết quả phân tích H3K9me2:</a:t>
            </a:r>
          </a:p>
          <a:p>
            <a:pPr algn="l">
              <a:buFont typeface="Arial" panose="020B0604020202020204" pitchFamily="34" charset="0"/>
              <a:buChar char="•"/>
            </a:pPr>
            <a:r>
              <a:rPr lang="vi-VN" b="1" i="0" u="none" strike="noStrike" dirty="0">
                <a:solidFill>
                  <a:srgbClr val="000000"/>
                </a:solidFill>
                <a:effectLst/>
              </a:rPr>
              <a:t>Tăng dần ở các cấp độ và giai đoạn khối u</a:t>
            </a:r>
            <a:r>
              <a:rPr lang="vi-VN" b="0" i="0" u="none" strike="noStrike" dirty="0">
                <a:solidFill>
                  <a:srgbClr val="000000"/>
                </a:solidFill>
                <a:effectLst/>
              </a:rPr>
              <a:t>:</a:t>
            </a:r>
          </a:p>
          <a:p>
            <a:pPr marL="742950" lvl="1" indent="-285750" algn="l">
              <a:buFont typeface="Arial" panose="020B0604020202020204" pitchFamily="34" charset="0"/>
              <a:buChar char="•"/>
            </a:pPr>
            <a:r>
              <a:rPr lang="vi-VN" b="1" i="0" u="none" strike="noStrike" dirty="0">
                <a:solidFill>
                  <a:srgbClr val="000000"/>
                </a:solidFill>
                <a:effectLst/>
              </a:rPr>
              <a:t>Mức độ H3K9me2</a:t>
            </a:r>
            <a:r>
              <a:rPr lang="vi-VN" b="0" i="0" u="none" strike="noStrike" dirty="0">
                <a:solidFill>
                  <a:srgbClr val="000000"/>
                </a:solidFill>
                <a:effectLst/>
              </a:rPr>
              <a:t> tăng lên khi </a:t>
            </a:r>
            <a:r>
              <a:rPr lang="vi-VN" b="1" i="0" u="none" strike="noStrike" dirty="0">
                <a:solidFill>
                  <a:srgbClr val="000000"/>
                </a:solidFill>
                <a:effectLst/>
              </a:rPr>
              <a:t>cấp độ khối u</a:t>
            </a:r>
            <a:r>
              <a:rPr lang="vi-VN" b="0" i="0" u="none" strike="noStrike" dirty="0">
                <a:solidFill>
                  <a:srgbClr val="000000"/>
                </a:solidFill>
                <a:effectLst/>
              </a:rPr>
              <a:t> cao hơn, tức là từ </a:t>
            </a:r>
            <a:r>
              <a:rPr lang="vi-VN" b="1" i="0" u="none" strike="noStrike" dirty="0">
                <a:solidFill>
                  <a:srgbClr val="000000"/>
                </a:solidFill>
                <a:effectLst/>
              </a:rPr>
              <a:t>T2</a:t>
            </a:r>
            <a:r>
              <a:rPr lang="vi-VN" b="0" i="0" u="none" strike="noStrike" dirty="0">
                <a:solidFill>
                  <a:srgbClr val="000000"/>
                </a:solidFill>
                <a:effectLst/>
              </a:rPr>
              <a:t> đến </a:t>
            </a:r>
            <a:r>
              <a:rPr lang="vi-VN" b="1" i="0" u="none" strike="noStrike" dirty="0">
                <a:solidFill>
                  <a:srgbClr val="000000"/>
                </a:solidFill>
                <a:effectLst/>
              </a:rPr>
              <a:t>T4</a:t>
            </a:r>
            <a:r>
              <a:rPr lang="vi-VN" b="0" i="0" u="none" strike="noStrike" dirty="0">
                <a:solidFill>
                  <a:srgbClr val="000000"/>
                </a:solidFill>
                <a:effectLst/>
              </a:rPr>
              <a:t> (T4 &gt; T3 &gt; T2), có nghĩa là H3K9me2 liên quan đến </a:t>
            </a:r>
            <a:r>
              <a:rPr lang="vi-VN" b="1" i="0" u="none" strike="noStrike" dirty="0">
                <a:solidFill>
                  <a:srgbClr val="000000"/>
                </a:solidFill>
                <a:effectLst/>
              </a:rPr>
              <a:t>các khối u ung thư vú tiến triển hơn</a:t>
            </a:r>
            <a:r>
              <a:rPr lang="vi-VN" b="0" i="0" u="none" strike="noStrike" dirty="0">
                <a:solidFill>
                  <a:srgbClr val="000000"/>
                </a:solidFill>
                <a:effectLst/>
              </a:rPr>
              <a:t>.</a:t>
            </a:r>
          </a:p>
          <a:p>
            <a:pPr marL="742950" lvl="1" indent="-285750" algn="l">
              <a:buFont typeface="Arial" panose="020B0604020202020204" pitchFamily="34" charset="0"/>
              <a:buChar char="•"/>
            </a:pPr>
            <a:r>
              <a:rPr lang="vi-VN" b="1" i="0" u="none" strike="noStrike" dirty="0">
                <a:solidFill>
                  <a:srgbClr val="000000"/>
                </a:solidFill>
                <a:effectLst/>
              </a:rPr>
              <a:t>Mối liên hệ với giai đoạn T và N</a:t>
            </a:r>
            <a:r>
              <a:rPr lang="vi-VN" b="0" i="0" u="none" strike="noStrike" dirty="0">
                <a:solidFill>
                  <a:srgbClr val="000000"/>
                </a:solidFill>
                <a:effectLst/>
              </a:rPr>
              <a:t>: Các tín hiệu H3K9me2 cũng có liên quan đáng kể đến </a:t>
            </a:r>
            <a:r>
              <a:rPr lang="vi-VN" b="1" i="0" u="none" strike="noStrike" dirty="0">
                <a:solidFill>
                  <a:srgbClr val="000000"/>
                </a:solidFill>
                <a:effectLst/>
              </a:rPr>
              <a:t>giai đoạn T (khối u)</a:t>
            </a:r>
            <a:r>
              <a:rPr lang="vi-VN" b="0" i="0" u="none" strike="noStrike" dirty="0">
                <a:solidFill>
                  <a:srgbClr val="000000"/>
                </a:solidFill>
                <a:effectLst/>
              </a:rPr>
              <a:t> và </a:t>
            </a:r>
            <a:r>
              <a:rPr lang="vi-VN" b="1" i="0" u="none" strike="noStrike" dirty="0">
                <a:solidFill>
                  <a:srgbClr val="000000"/>
                </a:solidFill>
                <a:effectLst/>
              </a:rPr>
              <a:t>giai đoạn N (di căn hạch bạch huyết)</a:t>
            </a:r>
            <a:r>
              <a:rPr lang="vi-VN" b="0" i="0" u="none" strike="noStrike" dirty="0">
                <a:solidFill>
                  <a:srgbClr val="000000"/>
                </a:solidFill>
                <a:effectLst/>
              </a:rPr>
              <a:t> (Bảng 2, Hình 5A).</a:t>
            </a:r>
          </a:p>
          <a:p>
            <a:pPr algn="l"/>
            <a:r>
              <a:rPr lang="vi-VN" b="1" i="0" u="none" strike="noStrike" dirty="0">
                <a:solidFill>
                  <a:srgbClr val="000000"/>
                </a:solidFill>
                <a:effectLst/>
              </a:rPr>
              <a:t>3. Ý nghĩa của phát hiện:</a:t>
            </a:r>
          </a:p>
          <a:p>
            <a:pPr algn="l">
              <a:buFont typeface="Arial" panose="020B0604020202020204" pitchFamily="34" charset="0"/>
              <a:buChar char="•"/>
            </a:pPr>
            <a:r>
              <a:rPr lang="vi-VN" b="1" i="0" u="none" strike="noStrike" dirty="0">
                <a:solidFill>
                  <a:srgbClr val="000000"/>
                </a:solidFill>
                <a:effectLst/>
              </a:rPr>
              <a:t>H3K9me2 có thể liên quan đến TNBC</a:t>
            </a:r>
            <a:r>
              <a:rPr lang="vi-VN" b="0" i="0" u="none" strike="noStrike" dirty="0">
                <a:solidFill>
                  <a:srgbClr val="000000"/>
                </a:solidFill>
                <a:effectLst/>
              </a:rPr>
              <a:t>: Mẫu hình tăng dần của H3K9me2 ở các giai đoạn khối u cao hơn cho thấy rằng H3K9me2 có thể là một </a:t>
            </a:r>
            <a:r>
              <a:rPr lang="vi-VN" b="1" i="0" u="none" strike="noStrike" dirty="0">
                <a:solidFill>
                  <a:srgbClr val="000000"/>
                </a:solidFill>
                <a:effectLst/>
              </a:rPr>
              <a:t>yếu tố quan trọng trong sự tiến triển của TNBC</a:t>
            </a:r>
            <a:r>
              <a:rPr lang="vi-VN" b="0" i="0" u="none" strike="noStrike" dirty="0">
                <a:solidFill>
                  <a:srgbClr val="000000"/>
                </a:solidFill>
                <a:effectLst/>
              </a:rPr>
              <a:t> (ung thư vú dạng ba âm tính). TNBC đặc trưng bởi tỷ lệ </a:t>
            </a:r>
            <a:r>
              <a:rPr lang="vi-VN" b="1" i="0" u="none" strike="noStrike" dirty="0">
                <a:solidFill>
                  <a:srgbClr val="000000"/>
                </a:solidFill>
                <a:effectLst/>
              </a:rPr>
              <a:t>tăng sinh tế bào cao</a:t>
            </a:r>
            <a:r>
              <a:rPr lang="vi-VN" b="0" i="0" u="none" strike="noStrike" dirty="0">
                <a:solidFill>
                  <a:srgbClr val="000000"/>
                </a:solidFill>
                <a:effectLst/>
              </a:rPr>
              <a:t> và </a:t>
            </a:r>
            <a:r>
              <a:rPr lang="vi-VN" b="1" i="0" u="none" strike="noStrike" dirty="0">
                <a:solidFill>
                  <a:srgbClr val="000000"/>
                </a:solidFill>
                <a:effectLst/>
              </a:rPr>
              <a:t>kết quả lâm sàng kém</a:t>
            </a:r>
            <a:r>
              <a:rPr lang="vi-VN" b="0" i="0" u="none" strike="noStrike" dirty="0">
                <a:solidFill>
                  <a:srgbClr val="000000"/>
                </a:solidFill>
                <a:effectLst/>
              </a:rPr>
              <a:t>.</a:t>
            </a:r>
          </a:p>
          <a:p>
            <a:pPr algn="l">
              <a:buFont typeface="Arial" panose="020B0604020202020204" pitchFamily="34" charset="0"/>
              <a:buChar char="•"/>
            </a:pPr>
            <a:r>
              <a:rPr lang="vi-VN" b="1" i="0" u="none" strike="noStrike" dirty="0">
                <a:solidFill>
                  <a:srgbClr val="000000"/>
                </a:solidFill>
                <a:effectLst/>
              </a:rPr>
              <a:t>Tình trạng ung thư vú tiến triển/hung hãn</a:t>
            </a:r>
            <a:r>
              <a:rPr lang="vi-VN" b="0" i="0" u="none" strike="noStrike" dirty="0">
                <a:solidFill>
                  <a:srgbClr val="000000"/>
                </a:solidFill>
                <a:effectLst/>
              </a:rPr>
              <a:t>: Những mức độ tăng dần này gợi ý rằng </a:t>
            </a:r>
            <a:r>
              <a:rPr lang="vi-VN" b="1" i="0" u="none" strike="noStrike" dirty="0">
                <a:solidFill>
                  <a:srgbClr val="000000"/>
                </a:solidFill>
                <a:effectLst/>
              </a:rPr>
              <a:t>H3K9me2 có thể là dấu hiệu của những khối u vú tiến triển hoặc nguy hiểm hơn</a:t>
            </a:r>
            <a:r>
              <a:rPr lang="vi-VN" b="0" i="0" u="none" strike="noStrike" dirty="0">
                <a:solidFill>
                  <a:srgbClr val="000000"/>
                </a:solidFill>
                <a:effectLst/>
              </a:rPr>
              <a:t>, như TNBC, có khả năng di căn và tái phát cao.</a:t>
            </a:r>
          </a:p>
          <a:p>
            <a:pPr algn="l"/>
            <a:r>
              <a:rPr lang="vi-VN" b="1" i="0" u="none" strike="noStrike" dirty="0">
                <a:solidFill>
                  <a:srgbClr val="000000"/>
                </a:solidFill>
                <a:effectLst/>
              </a:rPr>
              <a:t>Tóm lại</a:t>
            </a:r>
            <a:r>
              <a:rPr lang="vi-VN" b="0" i="0" u="none" strike="noStrike" dirty="0">
                <a:solidFill>
                  <a:srgbClr val="000000"/>
                </a:solidFill>
                <a:effectLst/>
              </a:rPr>
              <a:t>, nghiên cứu này cho thấy </a:t>
            </a:r>
            <a:r>
              <a:rPr lang="vi-VN" b="1" i="0" u="none" strike="noStrike" dirty="0">
                <a:solidFill>
                  <a:srgbClr val="000000"/>
                </a:solidFill>
                <a:effectLst/>
              </a:rPr>
              <a:t>H3K9me2</a:t>
            </a:r>
            <a:r>
              <a:rPr lang="vi-VN" b="0" i="0" u="none" strike="noStrike" dirty="0">
                <a:solidFill>
                  <a:srgbClr val="000000"/>
                </a:solidFill>
                <a:effectLst/>
              </a:rPr>
              <a:t> có thể đóng vai trò quan trọng trong việc đánh giá </a:t>
            </a:r>
            <a:r>
              <a:rPr lang="vi-VN" b="1" i="0" u="none" strike="noStrike" dirty="0">
                <a:solidFill>
                  <a:srgbClr val="000000"/>
                </a:solidFill>
                <a:effectLst/>
              </a:rPr>
              <a:t>các khối u ung thư vú tiến triển</a:t>
            </a:r>
            <a:r>
              <a:rPr lang="vi-VN" b="0" i="0" u="none" strike="noStrike" dirty="0">
                <a:solidFill>
                  <a:srgbClr val="000000"/>
                </a:solidFill>
                <a:effectLst/>
              </a:rPr>
              <a:t> và </a:t>
            </a:r>
            <a:r>
              <a:rPr lang="vi-VN" b="1" i="0" u="none" strike="noStrike" dirty="0">
                <a:solidFill>
                  <a:srgbClr val="000000"/>
                </a:solidFill>
                <a:effectLst/>
              </a:rPr>
              <a:t>TNBC</a:t>
            </a:r>
            <a:r>
              <a:rPr lang="vi-VN" b="0" i="0" u="none" strike="noStrike" dirty="0">
                <a:solidFill>
                  <a:srgbClr val="000000"/>
                </a:solidFill>
                <a:effectLst/>
              </a:rPr>
              <a:t>, và việc nghiên cứu sâu hơn có thể cung cấp các thông tin quan trọng về cơ chế bệnh lý và điều trị ung thư vú.</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17</a:t>
            </a:fld>
            <a:endParaRPr lang="x-none"/>
          </a:p>
        </p:txBody>
      </p:sp>
    </p:spTree>
    <p:extLst>
      <p:ext uri="{BB962C8B-B14F-4D97-AF65-F5344CB8AC3E}">
        <p14:creationId xmlns:p14="http://schemas.microsoft.com/office/powerpoint/2010/main" val="2871751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EFA16C1-2B3B-F944-A5C7-F33D2537EAD5}" type="slidenum">
              <a:rPr lang="x-none" smtClean="0"/>
              <a:t>24</a:t>
            </a:fld>
            <a:endParaRPr lang="x-none"/>
          </a:p>
        </p:txBody>
      </p:sp>
    </p:spTree>
    <p:extLst>
      <p:ext uri="{BB962C8B-B14F-4D97-AF65-F5344CB8AC3E}">
        <p14:creationId xmlns:p14="http://schemas.microsoft.com/office/powerpoint/2010/main" val="4189372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b="0" i="0" u="none" strike="noStrike" dirty="0">
                <a:solidFill>
                  <a:srgbClr val="1B1B1B"/>
                </a:solidFill>
                <a:effectLst/>
                <a:latin typeface="Cambria" panose="02040503050406030204" pitchFamily="18" charset="0"/>
              </a:rPr>
              <a:t>Trong số ba dấu ấn sinh học histone được xác nhận trong nghiên cứu này, H3K9me2 đã được chọn để phân tích sâu hơn. Một lý do cho sự lựa chọn này là trong khi vai trò của G9a và H3K9me2 đã được nghiên cứu sâu rộng trong ung thư vú ER dương tính, thì sự liên quan của chúng trong TNBC vẫn chưa được khám phá mặc dù có mối liên hệ mạnh mẽ trước đó. Một lý do khác là các tín hiệu H3K9me2 toàn cầu có liên quan đáng kể đến cấp độ khối u, cũng như giai đoạn T và N ( </a:t>
            </a:r>
            <a:r>
              <a:rPr lang="vi-VN" b="0" i="0" u="sng" dirty="0">
                <a:solidFill>
                  <a:srgbClr val="54278F"/>
                </a:solidFill>
                <a:effectLst/>
                <a:latin typeface="Cambria" panose="02040503050406030204" pitchFamily="18" charset="0"/>
                <a:hlinkClick r:id="rId3"/>
              </a:rPr>
              <a:t>Bảng 2</a:t>
            </a:r>
            <a:r>
              <a:rPr lang="vi-VN" b="0" i="0" u="none" strike="noStrike" dirty="0">
                <a:solidFill>
                  <a:srgbClr val="1B1B1B"/>
                </a:solidFill>
                <a:effectLst/>
                <a:latin typeface="Cambria" panose="02040503050406030204" pitchFamily="18" charset="0"/>
              </a:rPr>
              <a:t> , </a:t>
            </a:r>
            <a:r>
              <a:rPr lang="vi-VN" b="0" i="0" u="sng" dirty="0">
                <a:solidFill>
                  <a:srgbClr val="54278F"/>
                </a:solidFill>
                <a:effectLst/>
                <a:latin typeface="Cambria" panose="02040503050406030204" pitchFamily="18" charset="0"/>
                <a:hlinkClick r:id="rId4"/>
              </a:rPr>
              <a:t>Hình 5</a:t>
            </a:r>
            <a:r>
              <a:rPr lang="vi-VN" b="0" i="0" u="none" strike="noStrike" dirty="0">
                <a:solidFill>
                  <a:srgbClr val="1B1B1B"/>
                </a:solidFill>
                <a:effectLst/>
                <a:latin typeface="Cambria" panose="02040503050406030204" pitchFamily="18" charset="0"/>
              </a:rPr>
              <a:t>A). Đáng chú ý, mức độ H3K9me2 tăng dần (IHC cao%) đã được quan sát thấy ở cấp độ hoặc giai đoạn khối u cao hơn (T4&gt; T3&gt; T2) ( </a:t>
            </a:r>
            <a:r>
              <a:rPr lang="vi-VN" b="0" i="0" u="sng" dirty="0">
                <a:solidFill>
                  <a:srgbClr val="54278F"/>
                </a:solidFill>
                <a:effectLst/>
                <a:latin typeface="Cambria" panose="02040503050406030204" pitchFamily="18" charset="0"/>
                <a:hlinkClick r:id="rId4"/>
              </a:rPr>
              <a:t>Hình 5</a:t>
            </a:r>
            <a:r>
              <a:rPr lang="vi-VN" b="0" i="0" u="none" strike="noStrike" dirty="0">
                <a:solidFill>
                  <a:srgbClr val="1B1B1B"/>
                </a:solidFill>
                <a:effectLst/>
                <a:latin typeface="Cambria" panose="02040503050406030204" pitchFamily="18" charset="0"/>
              </a:rPr>
              <a:t> B). Mẫu hình này cho thấy H3K9me2 có thể liên quan đến tình trạng hoặc phân nhóm ung thư vú tiến triển hoặc hung hãn hơn, chẳng hạn như TNBC, được đặc trưng bởi tỷ lệ tăng sinh cao hơn và kết quả lâm sàng kém hơn.</a:t>
            </a:r>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25</a:t>
            </a:fld>
            <a:endParaRPr lang="x-none"/>
          </a:p>
        </p:txBody>
      </p:sp>
    </p:spTree>
    <p:extLst>
      <p:ext uri="{BB962C8B-B14F-4D97-AF65-F5344CB8AC3E}">
        <p14:creationId xmlns:p14="http://schemas.microsoft.com/office/powerpoint/2010/main" val="1384328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l"/>
            <a:r>
              <a:rPr lang="vi-VN" b="0" i="0" u="none" strike="noStrike" dirty="0">
                <a:solidFill>
                  <a:srgbClr val="000000"/>
                </a:solidFill>
                <a:effectLst/>
              </a:rPr>
              <a:t>Phù hợp với tác động dự kiến của việc mất đi dấu ấn ức chế H3K9me2, số lượng gen biểu hiện thay đổi lên (“up-regulated”) tăng cao gấp năm lần so với số gen biểu hiện giảm (“down-regulated”) trong hai dòng tế bào ER âm tính (Hình 7A, Hình S4, Bảng S2). Ngược lại, ở tế bào MCF-7 (ER dương tính), số gen tăng và giảm được điều hòa gần như cân bằng, phù hợp với các báo cáo trước đó rằng G9a làm đồng hoạt hóa ER</a:t>
            </a:r>
            <a:r>
              <a:rPr lang="el-GR" b="0" i="0" u="none" strike="noStrike" dirty="0">
                <a:solidFill>
                  <a:srgbClr val="000000"/>
                </a:solidFill>
                <a:effectLst/>
              </a:rPr>
              <a:t>α, </a:t>
            </a:r>
            <a:r>
              <a:rPr lang="vi-VN" b="0" i="0" u="none" strike="noStrike" dirty="0">
                <a:solidFill>
                  <a:srgbClr val="000000"/>
                </a:solidFill>
                <a:effectLst/>
              </a:rPr>
              <a:t>tức là tham gia trực tiếp vào methyl hóa ER</a:t>
            </a:r>
            <a:r>
              <a:rPr lang="el-GR" b="0" i="0" u="none" strike="noStrike" dirty="0">
                <a:solidFill>
                  <a:srgbClr val="000000"/>
                </a:solidFill>
                <a:effectLst/>
              </a:rPr>
              <a:t>α </a:t>
            </a:r>
            <a:r>
              <a:rPr lang="vi-VN" b="0" i="0" u="none" strike="noStrike" dirty="0">
                <a:solidFill>
                  <a:srgbClr val="000000"/>
                </a:solidFill>
                <a:effectLst/>
              </a:rPr>
              <a:t>để thúc đẩy tiến triển ung thư vú [17,18] (Hình 7A, Hình S4, Bảng S2).</a:t>
            </a:r>
          </a:p>
          <a:p>
            <a:pPr algn="l"/>
            <a:r>
              <a:rPr lang="vi-VN" b="0" i="0" u="none" strike="noStrike" dirty="0">
                <a:solidFill>
                  <a:srgbClr val="000000"/>
                </a:solidFill>
                <a:effectLst/>
              </a:rPr>
              <a:t>Để tìm hiểu sâu hơn cơ chế, nhóm tác giả đã thực hiện phân tích </a:t>
            </a:r>
            <a:r>
              <a:rPr lang="vi-VN" b="1" i="0" u="none" strike="noStrike" dirty="0">
                <a:solidFill>
                  <a:srgbClr val="000000"/>
                </a:solidFill>
                <a:effectLst/>
              </a:rPr>
              <a:t>pathway</a:t>
            </a:r>
            <a:r>
              <a:rPr lang="vi-VN" b="0" i="0" u="none" strike="noStrike" dirty="0">
                <a:solidFill>
                  <a:srgbClr val="000000"/>
                </a:solidFill>
                <a:effectLst/>
              </a:rPr>
              <a:t>, </a:t>
            </a:r>
            <a:r>
              <a:rPr lang="vi-VN" b="1" i="0" u="none" strike="noStrike" dirty="0">
                <a:solidFill>
                  <a:srgbClr val="000000"/>
                </a:solidFill>
                <a:effectLst/>
              </a:rPr>
              <a:t>GO</a:t>
            </a:r>
            <a:r>
              <a:rPr lang="vi-VN" b="0" i="0" u="none" strike="noStrike" dirty="0">
                <a:solidFill>
                  <a:srgbClr val="000000"/>
                </a:solidFill>
                <a:effectLst/>
              </a:rPr>
              <a:t> và </a:t>
            </a:r>
            <a:r>
              <a:rPr lang="vi-VN" b="1" i="0" u="none" strike="noStrike" dirty="0">
                <a:solidFill>
                  <a:srgbClr val="000000"/>
                </a:solidFill>
                <a:effectLst/>
              </a:rPr>
              <a:t>GSEA</a:t>
            </a:r>
            <a:r>
              <a:rPr lang="vi-VN" b="0" i="0" u="none" strike="noStrike" dirty="0">
                <a:solidFill>
                  <a:srgbClr val="000000"/>
                </a:solidFill>
                <a:effectLst/>
              </a:rPr>
              <a:t> để xem các nhóm gen và con đường nào bị ảnh hưởng. Kết quả cho thấy:</a:t>
            </a:r>
          </a:p>
          <a:p>
            <a:pPr algn="l">
              <a:buFont typeface="Arial" panose="020B0604020202020204" pitchFamily="34" charset="0"/>
              <a:buChar char="•"/>
            </a:pPr>
            <a:r>
              <a:rPr lang="vi-VN" b="1" i="0" u="none" strike="noStrike" dirty="0">
                <a:solidFill>
                  <a:srgbClr val="000000"/>
                </a:solidFill>
                <a:effectLst/>
              </a:rPr>
              <a:t>Cả chung và riêng</a:t>
            </a:r>
            <a:r>
              <a:rPr lang="vi-VN" b="0" i="0" u="none" strike="noStrike" dirty="0">
                <a:solidFill>
                  <a:srgbClr val="000000"/>
                </a:solidFill>
                <a:effectLst/>
              </a:rPr>
              <a:t>: Có những phản ứng chung (cùng xảy ra ở ba dòng tế bào) nhưng cũng có những đáp ứng riêng biệt theo từng dòng tế bào, thể hiện cơ chế tác động đặc thù của UNC0642 trên mỗi phân nhóm (Hình 7B, Hình S4).</a:t>
            </a:r>
          </a:p>
          <a:p>
            <a:pPr algn="l">
              <a:buFont typeface="Arial" panose="020B0604020202020204" pitchFamily="34" charset="0"/>
              <a:buChar char="•"/>
            </a:pPr>
            <a:r>
              <a:rPr lang="vi-VN" b="1" i="0" u="none" strike="noStrike" dirty="0">
                <a:solidFill>
                  <a:srgbClr val="000000"/>
                </a:solidFill>
                <a:effectLst/>
              </a:rPr>
              <a:t>Ở MCF-7 (ER+)</a:t>
            </a:r>
            <a:r>
              <a:rPr lang="vi-VN" b="0" i="0" u="none" strike="noStrike" dirty="0">
                <a:solidFill>
                  <a:srgbClr val="000000"/>
                </a:solidFill>
                <a:effectLst/>
              </a:rPr>
              <a:t>: Các con đường liên quan đến phản ứng với estrogen bị </a:t>
            </a:r>
            <a:r>
              <a:rPr lang="vi-VN" b="1" i="0" u="none" strike="noStrike" dirty="0">
                <a:solidFill>
                  <a:srgbClr val="000000"/>
                </a:solidFill>
                <a:effectLst/>
              </a:rPr>
              <a:t>điều hòa giảm</a:t>
            </a:r>
            <a:r>
              <a:rPr lang="vi-VN" b="0" i="0" u="none" strike="noStrike" dirty="0">
                <a:solidFill>
                  <a:srgbClr val="000000"/>
                </a:solidFill>
                <a:effectLst/>
              </a:rPr>
              <a:t>—điều này củng cố vai trò của G9a như một đồng hoạt hóa ER</a:t>
            </a:r>
            <a:r>
              <a:rPr lang="el-GR" b="0" i="0" u="none" strike="noStrike" dirty="0">
                <a:solidFill>
                  <a:srgbClr val="000000"/>
                </a:solidFill>
                <a:effectLst/>
              </a:rPr>
              <a:t>α [17] (</a:t>
            </a:r>
            <a:r>
              <a:rPr lang="vi-VN" b="0" i="0" u="none" strike="noStrike" dirty="0">
                <a:solidFill>
                  <a:srgbClr val="000000"/>
                </a:solidFill>
                <a:effectLst/>
              </a:rPr>
              <a:t>Hình 7C, Bảng S3, S4).</a:t>
            </a:r>
          </a:p>
          <a:p>
            <a:pPr algn="l">
              <a:buFont typeface="Arial" panose="020B0604020202020204" pitchFamily="34" charset="0"/>
              <a:buChar char="•"/>
            </a:pPr>
            <a:r>
              <a:rPr lang="vi-VN" b="1" i="0" u="none" strike="noStrike" dirty="0">
                <a:solidFill>
                  <a:srgbClr val="000000"/>
                </a:solidFill>
                <a:effectLst/>
              </a:rPr>
              <a:t>Ở MDA-MB-231 (TNBC claudin thấp)</a:t>
            </a:r>
            <a:r>
              <a:rPr lang="vi-VN" b="0" i="0" u="none" strike="noStrike" dirty="0">
                <a:solidFill>
                  <a:srgbClr val="000000"/>
                </a:solidFill>
                <a:effectLst/>
              </a:rPr>
              <a:t>: Việc ức chế G9a dẫn đến:</a:t>
            </a:r>
          </a:p>
          <a:p>
            <a:pPr marL="742950" lvl="1" indent="-285750" algn="l">
              <a:buFont typeface="Arial" panose="020B0604020202020204" pitchFamily="34" charset="0"/>
              <a:buChar char="•"/>
            </a:pPr>
            <a:r>
              <a:rPr lang="vi-VN" b="1" i="0" u="none" strike="noStrike" dirty="0">
                <a:solidFill>
                  <a:srgbClr val="000000"/>
                </a:solidFill>
                <a:effectLst/>
              </a:rPr>
              <a:t>Tăng biểu hiện</a:t>
            </a:r>
            <a:r>
              <a:rPr lang="vi-VN" b="0" i="0" u="none" strike="noStrike" dirty="0">
                <a:solidFill>
                  <a:srgbClr val="000000"/>
                </a:solidFill>
                <a:effectLst/>
              </a:rPr>
              <a:t> một số oncogen như </a:t>
            </a:r>
            <a:r>
              <a:rPr lang="vi-VN" b="1" i="0" u="none" strike="noStrike" dirty="0">
                <a:solidFill>
                  <a:srgbClr val="000000"/>
                </a:solidFill>
                <a:effectLst/>
              </a:rPr>
              <a:t>SREBF</a:t>
            </a:r>
            <a:endParaRPr lang="vi-VN" b="0" i="0" u="none" strike="noStrike" dirty="0">
              <a:solidFill>
                <a:srgbClr val="000000"/>
              </a:solidFill>
              <a:effectLst/>
            </a:endParaRPr>
          </a:p>
          <a:p>
            <a:pPr marL="742950" lvl="1" indent="-285750" algn="l">
              <a:buFont typeface="Arial" panose="020B0604020202020204" pitchFamily="34" charset="0"/>
              <a:buChar char="•"/>
            </a:pPr>
            <a:r>
              <a:rPr lang="vi-VN" b="1" i="0" u="none" strike="noStrike" dirty="0">
                <a:solidFill>
                  <a:srgbClr val="000000"/>
                </a:solidFill>
                <a:effectLst/>
              </a:rPr>
              <a:t>Giảm biểu hiện</a:t>
            </a:r>
            <a:r>
              <a:rPr lang="vi-VN" b="0" i="0" u="none" strike="noStrike" dirty="0">
                <a:solidFill>
                  <a:srgbClr val="000000"/>
                </a:solidFill>
                <a:effectLst/>
              </a:rPr>
              <a:t> các gen ức chế khối u như </a:t>
            </a:r>
            <a:r>
              <a:rPr lang="vi-VN" b="1" i="0" u="none" strike="noStrike" dirty="0">
                <a:solidFill>
                  <a:srgbClr val="000000"/>
                </a:solidFill>
                <a:effectLst/>
              </a:rPr>
              <a:t>TP53, STAT3, SATB1</a:t>
            </a:r>
            <a:r>
              <a:rPr lang="vi-VN" b="0" i="0" u="none" strike="noStrike" dirty="0">
                <a:solidFill>
                  <a:srgbClr val="000000"/>
                </a:solidFill>
                <a:effectLst/>
              </a:rPr>
              <a:t/>
            </a:r>
            <a:br>
              <a:rPr lang="vi-VN" b="0" i="0" u="none" strike="noStrike" dirty="0">
                <a:solidFill>
                  <a:srgbClr val="000000"/>
                </a:solidFill>
                <a:effectLst/>
              </a:rPr>
            </a:br>
            <a:r>
              <a:rPr lang="vi-VN" b="0" i="0" u="none" strike="noStrike" dirty="0">
                <a:solidFill>
                  <a:srgbClr val="000000"/>
                </a:solidFill>
                <a:effectLst/>
              </a:rPr>
              <a:t>(Hình 7C, Bảng S3, S4)</a:t>
            </a:r>
          </a:p>
          <a:p>
            <a:pPr algn="l">
              <a:buFont typeface="Arial" panose="020B0604020202020204" pitchFamily="34" charset="0"/>
              <a:buChar char="•"/>
            </a:pPr>
            <a:r>
              <a:rPr lang="vi-VN" b="1" i="0" u="none" strike="noStrike" dirty="0">
                <a:solidFill>
                  <a:srgbClr val="000000"/>
                </a:solidFill>
                <a:effectLst/>
              </a:rPr>
              <a:t>Ở cả ER– và ER+</a:t>
            </a:r>
            <a:r>
              <a:rPr lang="vi-VN" b="0" i="0" u="none" strike="noStrike" dirty="0">
                <a:solidFill>
                  <a:srgbClr val="000000"/>
                </a:solidFill>
                <a:effectLst/>
              </a:rPr>
              <a:t>: Các con đường tăng sinh tế bào và các bộ gen liên quan đến kết cấu ma trận ngoại bào (ECM) đều bị </a:t>
            </a:r>
            <a:r>
              <a:rPr lang="vi-VN" b="1" i="0" u="none" strike="noStrike" dirty="0">
                <a:solidFill>
                  <a:srgbClr val="000000"/>
                </a:solidFill>
                <a:effectLst/>
              </a:rPr>
              <a:t>điều hòa giảm</a:t>
            </a:r>
            <a:r>
              <a:rPr lang="vi-VN" b="0" i="0" u="none" strike="noStrike" dirty="0">
                <a:solidFill>
                  <a:srgbClr val="000000"/>
                </a:solidFill>
                <a:effectLst/>
              </a:rPr>
              <a:t>, nhấn mạnh tác dụng chung của UNC0642 trong việc ức chế tăng trưởng và tiềm năng điều trị trên nhiều phân nhóm ung thư vú (Hình 7C).</a:t>
            </a:r>
          </a:p>
          <a:p>
            <a:pPr algn="l"/>
            <a:r>
              <a:rPr lang="vi-VN" b="1" i="0" u="none" strike="noStrike" dirty="0">
                <a:solidFill>
                  <a:srgbClr val="000000"/>
                </a:solidFill>
                <a:effectLst/>
              </a:rPr>
              <a:t>Giải thích ngắn gọn</a:t>
            </a:r>
          </a:p>
          <a:p>
            <a:pPr algn="l">
              <a:buFont typeface="+mj-lt"/>
              <a:buAutoNum type="arabicPeriod"/>
            </a:pPr>
            <a:r>
              <a:rPr lang="vi-VN" b="1" i="0" u="none" strike="noStrike" dirty="0">
                <a:solidFill>
                  <a:srgbClr val="000000"/>
                </a:solidFill>
                <a:effectLst/>
              </a:rPr>
              <a:t>Mất H3K9me2 → nhiều gen “đi lên” hơn “đi xuống”</a:t>
            </a:r>
            <a:r>
              <a:rPr lang="vi-VN" b="0" i="0" u="none" strike="noStrike" dirty="0">
                <a:solidFill>
                  <a:srgbClr val="000000"/>
                </a:solidFill>
                <a:effectLst/>
              </a:rPr>
              <a:t> ở tế bào ER–, cho thấy G9a/H3K9me2 chủ yếu kìm hãm biểu hiện gen trong TNBC.</a:t>
            </a:r>
          </a:p>
          <a:p>
            <a:pPr algn="l">
              <a:buFont typeface="+mj-lt"/>
              <a:buAutoNum type="arabicPeriod"/>
            </a:pPr>
            <a:r>
              <a:rPr lang="vi-VN" b="1" i="0" u="none" strike="noStrike" dirty="0">
                <a:solidFill>
                  <a:srgbClr val="000000"/>
                </a:solidFill>
                <a:effectLst/>
              </a:rPr>
              <a:t>Ở tế bào ER+ (MCF-7)</a:t>
            </a:r>
            <a:r>
              <a:rPr lang="vi-VN" b="0" i="0" u="none" strike="noStrike" dirty="0">
                <a:solidFill>
                  <a:srgbClr val="000000"/>
                </a:solidFill>
                <a:effectLst/>
              </a:rPr>
              <a:t>, số gen lên và xuống cân bằng, phản ánh vai trò phức hợp của G9a vừa kích hoạt, vừa ức chế tùy ngữ cảnh (trong đó G9a đồng hoạt hóa ER</a:t>
            </a:r>
            <a:r>
              <a:rPr lang="el-GR" b="0" i="0" u="none" strike="noStrike" dirty="0">
                <a:solidFill>
                  <a:srgbClr val="000000"/>
                </a:solidFill>
                <a:effectLst/>
              </a:rPr>
              <a:t>α).</a:t>
            </a:r>
          </a:p>
          <a:p>
            <a:pPr algn="l">
              <a:buFont typeface="+mj-lt"/>
              <a:buAutoNum type="arabicPeriod"/>
            </a:pPr>
            <a:r>
              <a:rPr lang="vi-VN" b="1" i="0" u="none" strike="noStrike" dirty="0">
                <a:solidFill>
                  <a:srgbClr val="000000"/>
                </a:solidFill>
                <a:effectLst/>
              </a:rPr>
              <a:t>Phân tích sâu (pathway/GO/GSEA)</a:t>
            </a:r>
            <a:r>
              <a:rPr lang="vi-VN" b="0" i="0" u="none" strike="noStrike" dirty="0">
                <a:solidFill>
                  <a:srgbClr val="000000"/>
                </a:solidFill>
                <a:effectLst/>
              </a:rPr>
              <a:t>:</a:t>
            </a:r>
          </a:p>
          <a:p>
            <a:pPr marL="742950" lvl="1" indent="-285750" algn="l">
              <a:buFont typeface="+mj-lt"/>
              <a:buAutoNum type="arabicPeriod"/>
            </a:pPr>
            <a:r>
              <a:rPr lang="vi-VN" b="0" i="0" u="none" strike="noStrike" dirty="0">
                <a:solidFill>
                  <a:srgbClr val="000000"/>
                </a:solidFill>
                <a:effectLst/>
              </a:rPr>
              <a:t>Ở ER+: Giảm mạnh các đường tín hiệu “đáp ứng estrogen”.</a:t>
            </a:r>
          </a:p>
          <a:p>
            <a:pPr marL="742950" lvl="1" indent="-285750" algn="l">
              <a:buFont typeface="+mj-lt"/>
              <a:buAutoNum type="arabicPeriod"/>
            </a:pPr>
            <a:r>
              <a:rPr lang="vi-VN" b="0" i="0" u="none" strike="noStrike" dirty="0">
                <a:solidFill>
                  <a:srgbClr val="000000"/>
                </a:solidFill>
                <a:effectLst/>
              </a:rPr>
              <a:t>Ở TNBC: Tăng oncogen, giảm gen ức chế khối u, đồng thời giảm chung các đường tăng sinh và ECM—giải thích cho cơ chế ức chế tăng trưởng.</a:t>
            </a:r>
          </a:p>
          <a:p>
            <a:pPr algn="l"/>
            <a:r>
              <a:rPr lang="vi-VN" b="0" i="0" u="none" strike="noStrike" dirty="0">
                <a:solidFill>
                  <a:srgbClr val="000000"/>
                </a:solidFill>
                <a:effectLst/>
              </a:rPr>
              <a:t>Tóm lại, UNC0642 không chỉ làm mất dấu ức chế H3K9me2 mà còn gây ra những chuỗi thay đổi phức tạp trong mạng lưới gen, từ đó ức chế đặc hiệu cả đường tín hiệu estrogen và các cơ chế tăng sinh/ma trận ngoại bào vốn cần thiết cho ung thư vú.</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26</a:t>
            </a:fld>
            <a:endParaRPr lang="x-none"/>
          </a:p>
        </p:txBody>
      </p:sp>
    </p:spTree>
    <p:extLst>
      <p:ext uri="{BB962C8B-B14F-4D97-AF65-F5344CB8AC3E}">
        <p14:creationId xmlns:p14="http://schemas.microsoft.com/office/powerpoint/2010/main" val="906569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Hình này là một tập hợp các biểu đồ </a:t>
            </a:r>
            <a:r>
              <a:rPr lang="vi-VN" b="1" dirty="0"/>
              <a:t>volcano plots</a:t>
            </a:r>
            <a:r>
              <a:rPr lang="vi-VN" dirty="0"/>
              <a:t> dùng để phân tích sự thay đổi biểu hiện gen giữa các loại ung thư vú khác nhau: </a:t>
            </a:r>
            <a:r>
              <a:rPr lang="vi-VN" b="1" dirty="0"/>
              <a:t>Luminal A</a:t>
            </a:r>
            <a:r>
              <a:rPr lang="vi-VN" dirty="0"/>
              <a:t>, </a:t>
            </a:r>
            <a:r>
              <a:rPr lang="vi-VN" b="1" dirty="0"/>
              <a:t>Claudin-low TNBC</a:t>
            </a:r>
            <a:r>
              <a:rPr lang="vi-VN" dirty="0"/>
              <a:t>, và </a:t>
            </a:r>
            <a:r>
              <a:rPr lang="vi-VN" b="1" dirty="0"/>
              <a:t>Basal-like TNBC</a:t>
            </a:r>
            <a:r>
              <a:rPr lang="vi-VN" dirty="0"/>
              <a:t>.</a:t>
            </a:r>
          </a:p>
          <a:p>
            <a:r>
              <a:rPr lang="vi-VN" b="1" dirty="0"/>
              <a:t>Cách đọc biểu đồ volcano:</a:t>
            </a:r>
          </a:p>
          <a:p>
            <a:pPr>
              <a:buFont typeface="Arial" panose="020B0604020202020204" pitchFamily="34" charset="0"/>
              <a:buChar char="•"/>
            </a:pPr>
            <a:r>
              <a:rPr lang="vi-VN" b="1" dirty="0"/>
              <a:t>Trục X (log₂(Fold Change))</a:t>
            </a:r>
            <a:r>
              <a:rPr lang="vi-VN" dirty="0"/>
              <a:t>: đại diện cho mức độ thay đổi biểu hiện gen giữa hai nhóm.</a:t>
            </a:r>
          </a:p>
          <a:p>
            <a:pPr marL="742950" lvl="1" indent="-285750">
              <a:buFont typeface="Arial" panose="020B0604020202020204" pitchFamily="34" charset="0"/>
              <a:buChar char="•"/>
            </a:pPr>
            <a:r>
              <a:rPr lang="vi-VN" dirty="0"/>
              <a:t>Nếu giá trị </a:t>
            </a:r>
            <a:r>
              <a:rPr lang="vi-VN" b="1" dirty="0"/>
              <a:t>&gt; 0</a:t>
            </a:r>
            <a:r>
              <a:rPr lang="vi-VN" dirty="0"/>
              <a:t> (bên phải): gen được </a:t>
            </a:r>
            <a:r>
              <a:rPr lang="vi-VN" b="1" dirty="0"/>
              <a:t>biểu hiện tăng lên (upregulated)</a:t>
            </a:r>
            <a:r>
              <a:rPr lang="vi-VN" dirty="0"/>
              <a:t>.</a:t>
            </a:r>
          </a:p>
          <a:p>
            <a:pPr marL="742950" lvl="1" indent="-285750">
              <a:buFont typeface="Arial" panose="020B0604020202020204" pitchFamily="34" charset="0"/>
              <a:buChar char="•"/>
            </a:pPr>
            <a:r>
              <a:rPr lang="vi-VN" dirty="0"/>
              <a:t>Nếu giá trị </a:t>
            </a:r>
            <a:r>
              <a:rPr lang="vi-VN" b="1" dirty="0"/>
              <a:t>&lt; 0</a:t>
            </a:r>
            <a:r>
              <a:rPr lang="vi-VN" dirty="0"/>
              <a:t> (bên trái): gen được </a:t>
            </a:r>
            <a:r>
              <a:rPr lang="vi-VN" b="1" dirty="0"/>
              <a:t>biểu hiện giảm xuống (downregulated)</a:t>
            </a:r>
            <a:r>
              <a:rPr lang="vi-VN" dirty="0"/>
              <a:t>.</a:t>
            </a:r>
          </a:p>
          <a:p>
            <a:pPr>
              <a:buFont typeface="Arial" panose="020B0604020202020204" pitchFamily="34" charset="0"/>
              <a:buChar char="•"/>
            </a:pPr>
            <a:r>
              <a:rPr lang="vi-VN" b="1" dirty="0"/>
              <a:t>Trục Y (-log₁₀(FDR p-value))</a:t>
            </a:r>
            <a:r>
              <a:rPr lang="vi-VN" dirty="0"/>
              <a:t>: mức độ ý nghĩa thống kê.</a:t>
            </a:r>
          </a:p>
          <a:p>
            <a:pPr marL="742950" lvl="1" indent="-285750">
              <a:buFont typeface="Arial" panose="020B0604020202020204" pitchFamily="34" charset="0"/>
              <a:buChar char="•"/>
            </a:pPr>
            <a:r>
              <a:rPr lang="vi-VN" dirty="0"/>
              <a:t>Càng cao thì độ tin cậy càng lớn (p-value càng nhỏ).</a:t>
            </a:r>
          </a:p>
          <a:p>
            <a:r>
              <a:rPr lang="vi-VN" b="1" dirty="0"/>
              <a:t>Màu sắc:</a:t>
            </a:r>
          </a:p>
          <a:p>
            <a:pPr>
              <a:buFont typeface="Arial" panose="020B0604020202020204" pitchFamily="34" charset="0"/>
              <a:buChar char="•"/>
            </a:pPr>
            <a:r>
              <a:rPr lang="vi-VN" b="1" dirty="0"/>
              <a:t>Đỏ (Up)</a:t>
            </a:r>
            <a:r>
              <a:rPr lang="vi-VN" dirty="0"/>
              <a:t>: Gen được biểu hiện </a:t>
            </a:r>
            <a:r>
              <a:rPr lang="vi-VN" b="1" dirty="0"/>
              <a:t>tăng</a:t>
            </a:r>
            <a:r>
              <a:rPr lang="vi-VN" dirty="0"/>
              <a:t> có ý nghĩa thống kê.</a:t>
            </a:r>
          </a:p>
          <a:p>
            <a:pPr>
              <a:buFont typeface="Arial" panose="020B0604020202020204" pitchFamily="34" charset="0"/>
              <a:buChar char="•"/>
            </a:pPr>
            <a:r>
              <a:rPr lang="vi-VN" b="1" dirty="0"/>
              <a:t>Xanh (Down)</a:t>
            </a:r>
            <a:r>
              <a:rPr lang="vi-VN" dirty="0"/>
              <a:t>: Gen được biểu hiện </a:t>
            </a:r>
            <a:r>
              <a:rPr lang="vi-VN" b="1" dirty="0"/>
              <a:t>giảm</a:t>
            </a:r>
            <a:r>
              <a:rPr lang="vi-VN" dirty="0"/>
              <a:t> có ý nghĩa thống kê.</a:t>
            </a:r>
          </a:p>
          <a:p>
            <a:pPr>
              <a:buFont typeface="Arial" panose="020B0604020202020204" pitchFamily="34" charset="0"/>
              <a:buChar char="•"/>
            </a:pPr>
            <a:r>
              <a:rPr lang="vi-VN" b="1" dirty="0"/>
              <a:t>Xám</a:t>
            </a:r>
            <a:r>
              <a:rPr lang="vi-VN" dirty="0"/>
              <a:t>: Không có ý nghĩa thống kê.</a:t>
            </a:r>
          </a:p>
          <a:p>
            <a:r>
              <a:rPr lang="vi-VN" b="1" dirty="0"/>
              <a:t>Giải thích từng biểu đồ:</a:t>
            </a:r>
          </a:p>
          <a:p>
            <a:r>
              <a:rPr lang="vi-VN" b="1" dirty="0"/>
              <a:t>1. Luminal A</a:t>
            </a:r>
          </a:p>
          <a:p>
            <a:pPr>
              <a:buFont typeface="Arial" panose="020B0604020202020204" pitchFamily="34" charset="0"/>
              <a:buChar char="•"/>
            </a:pPr>
            <a:r>
              <a:rPr lang="vi-VN" dirty="0"/>
              <a:t>Các gen nổi bật:</a:t>
            </a:r>
          </a:p>
          <a:p>
            <a:pPr marL="742950" lvl="1" indent="-285750">
              <a:buFont typeface="Arial" panose="020B0604020202020204" pitchFamily="34" charset="0"/>
              <a:buChar char="•"/>
            </a:pPr>
            <a:r>
              <a:rPr lang="vi-VN" b="1" dirty="0"/>
              <a:t>MUCL1</a:t>
            </a:r>
            <a:r>
              <a:rPr lang="vi-VN" dirty="0"/>
              <a:t>: tăng mạnh (rõ ràng ở phía phải).</a:t>
            </a:r>
          </a:p>
          <a:p>
            <a:pPr marL="742950" lvl="1" indent="-285750">
              <a:buFont typeface="Arial" panose="020B0604020202020204" pitchFamily="34" charset="0"/>
              <a:buChar char="•"/>
            </a:pPr>
            <a:r>
              <a:rPr lang="vi-VN" b="1" dirty="0"/>
              <a:t>CAV1, IGFBP5</a:t>
            </a:r>
            <a:r>
              <a:rPr lang="vi-VN" dirty="0"/>
              <a:t>: giảm mạnh.</a:t>
            </a:r>
          </a:p>
          <a:p>
            <a:r>
              <a:rPr lang="vi-VN" b="1" dirty="0"/>
              <a:t>2. Claudin-low TNBC</a:t>
            </a:r>
          </a:p>
          <a:p>
            <a:pPr>
              <a:buFont typeface="Arial" panose="020B0604020202020204" pitchFamily="34" charset="0"/>
              <a:buChar char="•"/>
            </a:pPr>
            <a:r>
              <a:rPr lang="vi-VN" dirty="0"/>
              <a:t>Các gen nổi bật:</a:t>
            </a:r>
          </a:p>
          <a:p>
            <a:pPr marL="742950" lvl="1" indent="-285750">
              <a:buFont typeface="Arial" panose="020B0604020202020204" pitchFamily="34" charset="0"/>
              <a:buChar char="•"/>
            </a:pPr>
            <a:r>
              <a:rPr lang="vi-VN" b="1" dirty="0"/>
              <a:t>SCG2</a:t>
            </a:r>
            <a:r>
              <a:rPr lang="vi-VN" dirty="0"/>
              <a:t>: tăng mạnh.</a:t>
            </a:r>
          </a:p>
          <a:p>
            <a:pPr marL="742950" lvl="1" indent="-285750">
              <a:buFont typeface="Arial" panose="020B0604020202020204" pitchFamily="34" charset="0"/>
              <a:buChar char="•"/>
            </a:pPr>
            <a:r>
              <a:rPr lang="vi-VN" b="1" dirty="0"/>
              <a:t>ABCA1, ABCG1</a:t>
            </a:r>
            <a:r>
              <a:rPr lang="vi-VN" dirty="0"/>
              <a:t>: giảm mạnh.</a:t>
            </a:r>
          </a:p>
          <a:p>
            <a:r>
              <a:rPr lang="vi-VN" b="1" dirty="0"/>
              <a:t>3. Basal-like TNBC</a:t>
            </a:r>
          </a:p>
          <a:p>
            <a:pPr>
              <a:buFont typeface="Arial" panose="020B0604020202020204" pitchFamily="34" charset="0"/>
              <a:buChar char="•"/>
            </a:pPr>
            <a:r>
              <a:rPr lang="vi-VN" dirty="0"/>
              <a:t>Nhiều gen tăng mạnh với độ tin cậy cao như:</a:t>
            </a:r>
          </a:p>
          <a:p>
            <a:pPr marL="742950" lvl="1" indent="-285750">
              <a:buFont typeface="Arial" panose="020B0604020202020204" pitchFamily="34" charset="0"/>
              <a:buChar char="•"/>
            </a:pPr>
            <a:r>
              <a:rPr lang="vi-VN" b="1" dirty="0"/>
              <a:t>OAS2, IFI6, IFI44L, MX1</a:t>
            </a:r>
            <a:r>
              <a:rPr lang="vi-VN" dirty="0"/>
              <a:t>: liên quan đến phản ứng miễn dịch.</a:t>
            </a:r>
          </a:p>
          <a:p>
            <a:pPr>
              <a:buFont typeface="Arial" panose="020B0604020202020204" pitchFamily="34" charset="0"/>
              <a:buChar char="•"/>
            </a:pPr>
            <a:r>
              <a:rPr lang="vi-VN" dirty="0"/>
              <a:t>Các gen giảm mạnh: </a:t>
            </a:r>
            <a:r>
              <a:rPr lang="vi-VN" b="1" dirty="0"/>
              <a:t>AKR1C2, XDH</a:t>
            </a:r>
            <a:endParaRPr lang="vi-VN" dirty="0"/>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27</a:t>
            </a:fld>
            <a:endParaRPr lang="x-none"/>
          </a:p>
        </p:txBody>
      </p:sp>
    </p:spTree>
    <p:extLst>
      <p:ext uri="{BB962C8B-B14F-4D97-AF65-F5344CB8AC3E}">
        <p14:creationId xmlns:p14="http://schemas.microsoft.com/office/powerpoint/2010/main" val="235508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b="1" dirty="0"/>
              <a:t>Phần riêng biệt</a:t>
            </a:r>
            <a:r>
              <a:rPr lang="vi-VN" dirty="0"/>
              <a:t> (không chồng lấp) → cho thấy </a:t>
            </a:r>
            <a:r>
              <a:rPr lang="vi-VN" b="1" dirty="0"/>
              <a:t>đặc điểm sinh học đặc trưng</a:t>
            </a:r>
            <a:r>
              <a:rPr lang="vi-VN" dirty="0"/>
              <a:t> của từng loại ung thư.</a:t>
            </a:r>
          </a:p>
          <a:p>
            <a:r>
              <a:rPr lang="vi-VN" b="1" dirty="0"/>
              <a:t>Phần chồng lấp</a:t>
            </a:r>
            <a:r>
              <a:rPr lang="vi-VN" dirty="0"/>
              <a:t> → cho thấy có </a:t>
            </a:r>
            <a:r>
              <a:rPr lang="vi-VN" b="1" dirty="0"/>
              <a:t>các rối loạn sinh học chung</a:t>
            </a:r>
            <a:r>
              <a:rPr lang="vi-VN" dirty="0"/>
              <a:t>, ví dụ như các cơ chế bệnh học hoặc con đường phân tử </a:t>
            </a:r>
            <a:r>
              <a:rPr lang="vi-VN" b="1" dirty="0"/>
              <a:t>giống nhau giữa các loại ung thư</a:t>
            </a:r>
            <a:r>
              <a:rPr lang="vi-VN" dirty="0"/>
              <a:t>. Những yếu tố này có thể là </a:t>
            </a:r>
            <a:r>
              <a:rPr lang="vi-VN" b="1" dirty="0"/>
              <a:t>mục tiêu điều trị chung</a:t>
            </a:r>
            <a:r>
              <a:rPr lang="vi-VN" dirty="0"/>
              <a:t>.</a:t>
            </a:r>
          </a:p>
          <a:p>
            <a:r>
              <a:rPr lang="vi-VN" b="1" dirty="0"/>
              <a:t>Tóm lại:</a:t>
            </a:r>
          </a:p>
          <a:p>
            <a:pPr>
              <a:buFont typeface="Arial" panose="020B0604020202020204" pitchFamily="34" charset="0"/>
              <a:buChar char="•"/>
            </a:pPr>
            <a:r>
              <a:rPr lang="vi-VN" dirty="0"/>
              <a:t>Mỗi loại ung thư có </a:t>
            </a:r>
            <a:r>
              <a:rPr lang="vi-VN" b="1" dirty="0"/>
              <a:t>các đặc trưng riêng biệt</a:t>
            </a:r>
            <a:r>
              <a:rPr lang="vi-VN" dirty="0"/>
              <a:t>, nhưng cũng có một số </a:t>
            </a:r>
            <a:r>
              <a:rPr lang="vi-VN" b="1" dirty="0"/>
              <a:t>yếu tố chung</a:t>
            </a:r>
            <a:r>
              <a:rPr lang="vi-VN" dirty="0"/>
              <a:t> ở mức độ biểu hiện gen, pathway và GO terms.</a:t>
            </a:r>
          </a:p>
          <a:p>
            <a:pPr>
              <a:buFont typeface="Arial" panose="020B0604020202020204" pitchFamily="34" charset="0"/>
              <a:buChar char="•"/>
            </a:pPr>
            <a:r>
              <a:rPr lang="vi-VN" dirty="0"/>
              <a:t>Đặc biệt, </a:t>
            </a:r>
            <a:r>
              <a:rPr lang="vi-VN" b="1" dirty="0"/>
              <a:t>Claudin-low TNBC</a:t>
            </a:r>
            <a:r>
              <a:rPr lang="vi-VN" dirty="0"/>
              <a:t> có nhiều GO terms bị giảm biểu hiện nhất, cho thấy có thể nó bị rối loạn chức năng sinh học nhiều hơn.</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33</a:t>
            </a:fld>
            <a:endParaRPr lang="x-none"/>
          </a:p>
        </p:txBody>
      </p:sp>
    </p:spTree>
    <p:extLst>
      <p:ext uri="{BB962C8B-B14F-4D97-AF65-F5344CB8AC3E}">
        <p14:creationId xmlns:p14="http://schemas.microsoft.com/office/powerpoint/2010/main" val="2569781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Biểu đồ C này là biểu đồ </a:t>
            </a:r>
            <a:r>
              <a:rPr lang="vi-VN" b="1" dirty="0"/>
              <a:t>thanh ngang</a:t>
            </a:r>
            <a:r>
              <a:rPr lang="vi-VN" dirty="0"/>
              <a:t> (bar chart) thể hiện các </a:t>
            </a:r>
            <a:r>
              <a:rPr lang="vi-VN" b="1" dirty="0"/>
              <a:t>bộ gene và con đường sinh học (pathways)</a:t>
            </a:r>
            <a:r>
              <a:rPr lang="vi-VN" dirty="0"/>
              <a:t> có sự thay đổi biểu hiện </a:t>
            </a:r>
            <a:r>
              <a:rPr lang="vi-VN" b="1" dirty="0"/>
              <a:t>giảm xuống (downregulated)</a:t>
            </a:r>
            <a:r>
              <a:rPr lang="vi-VN" dirty="0"/>
              <a:t> và </a:t>
            </a:r>
            <a:r>
              <a:rPr lang="vi-VN" b="1" dirty="0"/>
              <a:t>tăng lên (upregulated)</a:t>
            </a:r>
            <a:r>
              <a:rPr lang="vi-VN" dirty="0"/>
              <a:t> ở 3 nhóm ung thư vú: Luminal A (hồng), Claudin-low TNBC (xanh dương), và Basal-like TNBC (đỏ).</a:t>
            </a:r>
          </a:p>
          <a:p>
            <a:r>
              <a:rPr lang="x-none" b="1" dirty="0"/>
              <a:t>🟣 </a:t>
            </a:r>
            <a:r>
              <a:rPr lang="vi-VN" b="1" dirty="0"/>
              <a:t>Trục X:</a:t>
            </a:r>
          </a:p>
          <a:p>
            <a:pPr>
              <a:buFont typeface="Arial" panose="020B0604020202020204" pitchFamily="34" charset="0"/>
              <a:buChar char="•"/>
            </a:pPr>
            <a:r>
              <a:rPr lang="vi-VN" dirty="0"/>
              <a:t>Là </a:t>
            </a:r>
            <a:r>
              <a:rPr lang="vi-VN" b="1" dirty="0"/>
              <a:t>-log₁₀(p-value)</a:t>
            </a:r>
            <a:r>
              <a:rPr lang="vi-VN" dirty="0"/>
              <a:t>: càng lớn thì </a:t>
            </a:r>
            <a:r>
              <a:rPr lang="vi-VN" b="1" dirty="0"/>
              <a:t>mức độ ý nghĩa thống kê càng cao</a:t>
            </a:r>
            <a:r>
              <a:rPr lang="vi-VN" dirty="0"/>
              <a:t>.</a:t>
            </a:r>
          </a:p>
          <a:p>
            <a:r>
              <a:rPr lang="x-none" b="1" dirty="0"/>
              <a:t>🔻 </a:t>
            </a:r>
            <a:r>
              <a:rPr lang="vi-VN" b="1" dirty="0"/>
              <a:t>Downregulated (Giảm biểu hiện)</a:t>
            </a:r>
          </a:p>
          <a:p>
            <a:r>
              <a:rPr lang="vi-VN" b="1" dirty="0"/>
              <a:t>Luminal A (hồng):</a:t>
            </a:r>
          </a:p>
          <a:p>
            <a:pPr>
              <a:buFont typeface="Arial" panose="020B0604020202020204" pitchFamily="34" charset="0"/>
              <a:buChar char="•"/>
            </a:pPr>
            <a:r>
              <a:rPr lang="vi-VN" b="1" dirty="0"/>
              <a:t>Estrogen signaling pathway</a:t>
            </a:r>
            <a:endParaRPr lang="vi-VN" dirty="0"/>
          </a:p>
          <a:p>
            <a:pPr>
              <a:buFont typeface="Arial" panose="020B0604020202020204" pitchFamily="34" charset="0"/>
              <a:buChar char="•"/>
            </a:pPr>
            <a:r>
              <a:rPr lang="vi-VN" b="1" dirty="0"/>
              <a:t>Response to progesterone</a:t>
            </a:r>
            <a:endParaRPr lang="vi-VN" dirty="0"/>
          </a:p>
          <a:p>
            <a:pPr>
              <a:buFont typeface="Arial" panose="020B0604020202020204" pitchFamily="34" charset="0"/>
              <a:buChar char="•"/>
            </a:pPr>
            <a:r>
              <a:rPr lang="vi-VN" b="1" dirty="0"/>
              <a:t>NABA_MATRISOME_ASSOCIATED</a:t>
            </a:r>
            <a:r>
              <a:rPr lang="vi-VN" dirty="0"/>
              <a:t>: liên quan đến protein chất nền ngoại bào (ECM).</a:t>
            </a:r>
          </a:p>
          <a:p>
            <a:pPr>
              <a:buFont typeface="Arial" panose="020B0604020202020204" pitchFamily="34" charset="0"/>
              <a:buChar char="•"/>
            </a:pPr>
            <a:r>
              <a:rPr lang="vi-VN" dirty="0"/>
              <a:t>Gen phản ứng estrogen (MCF7_E2_RESPONSE): giảm.</a:t>
            </a:r>
          </a:p>
          <a:p>
            <a:r>
              <a:rPr lang="x-none" dirty="0"/>
              <a:t>📝 </a:t>
            </a:r>
            <a:r>
              <a:rPr lang="vi-VN" dirty="0"/>
              <a:t>Cho thấy Luminal A mất dần phản ứng với hormone nữ (estrogen/progesterone), một đặc điểm quan trọng của loại này.</a:t>
            </a:r>
          </a:p>
          <a:p>
            <a:r>
              <a:rPr lang="vi-VN" b="1" dirty="0"/>
              <a:t>Claudin-low TNBC (xanh dương):</a:t>
            </a:r>
          </a:p>
          <a:p>
            <a:pPr>
              <a:buFont typeface="Arial" panose="020B0604020202020204" pitchFamily="34" charset="0"/>
              <a:buChar char="•"/>
            </a:pPr>
            <a:r>
              <a:rPr lang="vi-VN" dirty="0"/>
              <a:t>Rất nhiều pathway giảm mạnh:</a:t>
            </a:r>
          </a:p>
          <a:p>
            <a:pPr marL="742950" lvl="1" indent="-285750">
              <a:buFont typeface="Arial" panose="020B0604020202020204" pitchFamily="34" charset="0"/>
              <a:buChar char="•"/>
            </a:pPr>
            <a:r>
              <a:rPr lang="vi-VN" b="1" dirty="0"/>
              <a:t>PEREZ_TP53_TARGETS</a:t>
            </a:r>
            <a:endParaRPr lang="vi-VN" dirty="0"/>
          </a:p>
          <a:p>
            <a:pPr marL="742950" lvl="1" indent="-285750">
              <a:buFont typeface="Arial" panose="020B0604020202020204" pitchFamily="34" charset="0"/>
              <a:buChar char="•"/>
            </a:pPr>
            <a:r>
              <a:rPr lang="vi-VN" b="1" dirty="0"/>
              <a:t>BRAIN_HCP_WITH_H3K4ME3_AND_H3K27ME3</a:t>
            </a:r>
            <a:endParaRPr lang="vi-VN" dirty="0"/>
          </a:p>
          <a:p>
            <a:pPr marL="742950" lvl="1" indent="-285750">
              <a:buFont typeface="Arial" panose="020B0604020202020204" pitchFamily="34" charset="0"/>
              <a:buChar char="•"/>
            </a:pPr>
            <a:r>
              <a:rPr lang="vi-VN" b="1" dirty="0"/>
              <a:t>DAUER_STAT3_TARGETS</a:t>
            </a:r>
            <a:endParaRPr lang="vi-VN" dirty="0"/>
          </a:p>
          <a:p>
            <a:pPr marL="742950" lvl="1" indent="-285750">
              <a:buFont typeface="Arial" panose="020B0604020202020204" pitchFamily="34" charset="0"/>
              <a:buChar char="•"/>
            </a:pPr>
            <a:r>
              <a:rPr lang="vi-VN" b="1" dirty="0"/>
              <a:t>SATB1_TARGETS</a:t>
            </a:r>
            <a:endParaRPr lang="vi-VN" dirty="0"/>
          </a:p>
          <a:p>
            <a:r>
              <a:rPr lang="x-none" dirty="0"/>
              <a:t>📝 </a:t>
            </a:r>
            <a:r>
              <a:rPr lang="vi-VN" dirty="0"/>
              <a:t>Điều này cho thấy Claudin-low có thay đổi mạnh trong biểu hiện gen, đặc biệt là liên quan đến </a:t>
            </a:r>
            <a:r>
              <a:rPr lang="vi-VN" b="1" dirty="0"/>
              <a:t>STAT3, TP53</a:t>
            </a:r>
            <a:r>
              <a:rPr lang="vi-VN" dirty="0"/>
              <a:t> và </a:t>
            </a:r>
            <a:r>
              <a:rPr lang="vi-VN" b="1" dirty="0"/>
              <a:t>regulation epigenetic (methylation/acetylation marks)</a:t>
            </a:r>
            <a:r>
              <a:rPr lang="vi-VN" dirty="0"/>
              <a:t>.</a:t>
            </a:r>
          </a:p>
          <a:p>
            <a:r>
              <a:rPr lang="vi-VN" b="1" dirty="0"/>
              <a:t>Basal-like TNBC (đỏ):</a:t>
            </a:r>
          </a:p>
          <a:p>
            <a:pPr>
              <a:buFont typeface="Arial" panose="020B0604020202020204" pitchFamily="34" charset="0"/>
              <a:buChar char="•"/>
            </a:pPr>
            <a:r>
              <a:rPr lang="vi-VN" dirty="0"/>
              <a:t>Giảm biểu hiện của:</a:t>
            </a:r>
          </a:p>
          <a:p>
            <a:pPr marL="742950" lvl="1" indent="-285750">
              <a:buFont typeface="Arial" panose="020B0604020202020204" pitchFamily="34" charset="0"/>
              <a:buChar char="•"/>
            </a:pPr>
            <a:r>
              <a:rPr lang="vi-VN" b="1" dirty="0"/>
              <a:t>DNA-binding transcription factor activity</a:t>
            </a:r>
            <a:endParaRPr lang="vi-VN" dirty="0"/>
          </a:p>
          <a:p>
            <a:pPr marL="742950" lvl="1" indent="-285750">
              <a:buFont typeface="Arial" panose="020B0604020202020204" pitchFamily="34" charset="0"/>
              <a:buChar char="•"/>
            </a:pPr>
            <a:r>
              <a:rPr lang="vi-VN" b="1" dirty="0"/>
              <a:t>Histone modification targets</a:t>
            </a:r>
            <a:r>
              <a:rPr lang="vi-VN" dirty="0"/>
              <a:t> (các gene có H3K4me3, H3K27me3 marks)</a:t>
            </a:r>
          </a:p>
          <a:p>
            <a:pPr marL="742950" lvl="1" indent="-285750">
              <a:buFont typeface="Arial" panose="020B0604020202020204" pitchFamily="34" charset="0"/>
              <a:buChar char="•"/>
            </a:pPr>
            <a:r>
              <a:rPr lang="vi-VN" b="1" dirty="0"/>
              <a:t>LTE2_UP_V1</a:t>
            </a:r>
            <a:r>
              <a:rPr lang="vi-VN" dirty="0"/>
              <a:t> (một gene signature cụ thể)</a:t>
            </a:r>
          </a:p>
          <a:p>
            <a:r>
              <a:rPr lang="x-none" b="1" dirty="0"/>
              <a:t>🔺 </a:t>
            </a:r>
            <a:r>
              <a:rPr lang="vi-VN" b="1" dirty="0"/>
              <a:t>Upregulated (Tăng biểu hiện)</a:t>
            </a:r>
          </a:p>
          <a:p>
            <a:r>
              <a:rPr lang="vi-VN" b="1" dirty="0"/>
              <a:t>Luminal A (hồng):</a:t>
            </a:r>
          </a:p>
          <a:p>
            <a:pPr>
              <a:buFont typeface="Arial" panose="020B0604020202020204" pitchFamily="34" charset="0"/>
              <a:buChar char="•"/>
            </a:pPr>
            <a:r>
              <a:rPr lang="vi-VN" dirty="0"/>
              <a:t>Không có pathway nổi bật ngoại trừ vài mục liên quan đến phân nhóm ung thư.</a:t>
            </a:r>
          </a:p>
          <a:p>
            <a:r>
              <a:rPr lang="vi-VN" b="1" dirty="0"/>
              <a:t>Claudin-low TNBC (xanh dương):</a:t>
            </a:r>
          </a:p>
          <a:p>
            <a:pPr>
              <a:buFont typeface="Arial" panose="020B0604020202020204" pitchFamily="34" charset="0"/>
              <a:buChar char="•"/>
            </a:pPr>
            <a:r>
              <a:rPr lang="vi-VN" dirty="0"/>
              <a:t>Tăng biểu hiện mạnh các con đường liên quan đến:</a:t>
            </a:r>
          </a:p>
          <a:p>
            <a:pPr marL="742950" lvl="1" indent="-285750">
              <a:buFont typeface="Arial" panose="020B0604020202020204" pitchFamily="34" charset="0"/>
              <a:buChar char="•"/>
            </a:pPr>
            <a:r>
              <a:rPr lang="vi-VN" b="1" dirty="0"/>
              <a:t>Sterol và lipid metabolism</a:t>
            </a:r>
            <a:r>
              <a:rPr lang="vi-VN" dirty="0"/>
              <a:t>: SREBP_SIGNALING</a:t>
            </a:r>
          </a:p>
          <a:p>
            <a:pPr marL="742950" lvl="1" indent="-285750">
              <a:buFont typeface="Arial" panose="020B0604020202020204" pitchFamily="34" charset="0"/>
              <a:buChar char="•"/>
            </a:pPr>
            <a:r>
              <a:rPr lang="vi-VN" b="1" dirty="0"/>
              <a:t>Horton và SREBP targets</a:t>
            </a:r>
            <a:endParaRPr lang="vi-VN" dirty="0"/>
          </a:p>
          <a:p>
            <a:pPr marL="742950" lvl="1" indent="-285750">
              <a:buFont typeface="Arial" panose="020B0604020202020204" pitchFamily="34" charset="0"/>
              <a:buChar char="•"/>
            </a:pPr>
            <a:r>
              <a:rPr lang="vi-VN" b="1" dirty="0"/>
              <a:t>Kiểm soát sự tăng sinh tế bào</a:t>
            </a:r>
            <a:endParaRPr lang="vi-VN" dirty="0"/>
          </a:p>
          <a:p>
            <a:r>
              <a:rPr lang="x-none" dirty="0"/>
              <a:t>📝 </a:t>
            </a:r>
            <a:r>
              <a:rPr lang="vi-VN" dirty="0"/>
              <a:t>Cho thấy Claudin-low TNBC liên quan mạnh đến chuyển hóa chất béo/cholesterol và tăng sinh.</a:t>
            </a:r>
          </a:p>
          <a:p>
            <a:r>
              <a:rPr lang="vi-VN" b="1" dirty="0"/>
              <a:t>Basal-like TNBC (đỏ):</a:t>
            </a:r>
          </a:p>
          <a:p>
            <a:pPr>
              <a:buFont typeface="Arial" panose="020B0604020202020204" pitchFamily="34" charset="0"/>
              <a:buChar char="•"/>
            </a:pPr>
            <a:r>
              <a:rPr lang="vi-VN" dirty="0"/>
              <a:t>Tăng mạnh biểu hiện của:</a:t>
            </a:r>
          </a:p>
          <a:p>
            <a:pPr marL="742950" lvl="1" indent="-285750">
              <a:buFont typeface="Arial" panose="020B0604020202020204" pitchFamily="34" charset="0"/>
              <a:buChar char="•"/>
            </a:pPr>
            <a:r>
              <a:rPr lang="vi-VN" b="1" dirty="0"/>
              <a:t>NUYTTEN_EZH2_TARGETS</a:t>
            </a:r>
            <a:r>
              <a:rPr lang="vi-VN" dirty="0"/>
              <a:t>: các gene đích của EZH2 (một epigenetic regulator)</a:t>
            </a:r>
          </a:p>
          <a:p>
            <a:pPr marL="742950" lvl="1" indent="-285750">
              <a:buFont typeface="Arial" panose="020B0604020202020204" pitchFamily="34" charset="0"/>
              <a:buChar char="•"/>
            </a:pPr>
            <a:r>
              <a:rPr lang="vi-VN" b="1" dirty="0"/>
              <a:t>Negative regulation of cell population proliferation</a:t>
            </a:r>
            <a:endParaRPr lang="vi-VN" dirty="0"/>
          </a:p>
          <a:p>
            <a:r>
              <a:rPr lang="x-none" dirty="0"/>
              <a:t>📝 </a:t>
            </a:r>
            <a:r>
              <a:rPr lang="vi-VN" dirty="0"/>
              <a:t>EZH2 thường liên quan đến </a:t>
            </a:r>
            <a:r>
              <a:rPr lang="vi-VN" b="1" dirty="0"/>
              <a:t>ức chế phiên mã gen</a:t>
            </a:r>
            <a:r>
              <a:rPr lang="vi-VN" dirty="0"/>
              <a:t> và thay đổi chromatin, nên sự tăng biểu hiện này gợi ý cơ chế kiểm soát phiên mã bị thay đổi.</a:t>
            </a:r>
          </a:p>
          <a:p>
            <a:r>
              <a:rPr lang="x-none" b="1" dirty="0"/>
              <a:t>✅ </a:t>
            </a:r>
            <a:r>
              <a:rPr lang="vi-VN" b="1" dirty="0"/>
              <a:t>Tóm tắt:</a:t>
            </a:r>
          </a:p>
          <a:p>
            <a:pPr>
              <a:buFont typeface="Arial" panose="020B0604020202020204" pitchFamily="34" charset="0"/>
              <a:buChar char="•"/>
            </a:pPr>
            <a:r>
              <a:rPr lang="vi-VN" b="1" dirty="0"/>
              <a:t>Luminal A</a:t>
            </a:r>
            <a:r>
              <a:rPr lang="vi-VN" dirty="0"/>
              <a:t>: giảm biểu hiện liên quan đến hormone nữ.</a:t>
            </a:r>
          </a:p>
          <a:p>
            <a:pPr>
              <a:buFont typeface="Arial" panose="020B0604020202020204" pitchFamily="34" charset="0"/>
              <a:buChar char="•"/>
            </a:pPr>
            <a:r>
              <a:rPr lang="vi-VN" b="1" dirty="0"/>
              <a:t>Claudin-low TNBC</a:t>
            </a:r>
            <a:r>
              <a:rPr lang="vi-VN" dirty="0"/>
              <a:t>: thay đổi mạnh gen epigenetic và tăng chuyển hóa lipid.</a:t>
            </a:r>
          </a:p>
          <a:p>
            <a:pPr>
              <a:buFont typeface="Arial" panose="020B0604020202020204" pitchFamily="34" charset="0"/>
              <a:buChar char="•"/>
            </a:pPr>
            <a:r>
              <a:rPr lang="vi-VN" b="1" dirty="0"/>
              <a:t>Basal-like TNBC</a:t>
            </a:r>
            <a:r>
              <a:rPr lang="vi-VN" dirty="0"/>
              <a:t>: liên quan đến EZH2 và gen epigenetic.</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34</a:t>
            </a:fld>
            <a:endParaRPr lang="x-none"/>
          </a:p>
        </p:txBody>
      </p:sp>
    </p:spTree>
    <p:extLst>
      <p:ext uri="{BB962C8B-B14F-4D97-AF65-F5344CB8AC3E}">
        <p14:creationId xmlns:p14="http://schemas.microsoft.com/office/powerpoint/2010/main" val="14957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Hình D này là một sơ đồ cơ chế tác động của </a:t>
            </a:r>
            <a:r>
              <a:rPr lang="vi-VN" b="1" dirty="0"/>
              <a:t>G9a</a:t>
            </a:r>
            <a:r>
              <a:rPr lang="vi-VN" dirty="0"/>
              <a:t>, một enzyme điều hòa epigenetic, lên các loại ung thư vú khác nhau, và cách ức chế G9a ảnh hưởng đến sự phát triển tế bào ung thư. Cùng phân tích nha!</a:t>
            </a:r>
          </a:p>
          <a:p>
            <a:r>
              <a:rPr lang="x-none" b="1" dirty="0"/>
              <a:t>🧬 </a:t>
            </a:r>
            <a:r>
              <a:rPr lang="vi-VN" b="1" dirty="0"/>
              <a:t>G9a (EHMT2):</a:t>
            </a:r>
          </a:p>
          <a:p>
            <a:r>
              <a:rPr lang="vi-VN" dirty="0"/>
              <a:t>Là một enzyme methyltransferase có vai trò </a:t>
            </a:r>
            <a:r>
              <a:rPr lang="vi-VN" b="1" dirty="0"/>
              <a:t>methyl hóa histone H3K9</a:t>
            </a:r>
            <a:r>
              <a:rPr lang="vi-VN" dirty="0"/>
              <a:t> (tạo H3K9me2), góp phần </a:t>
            </a:r>
            <a:r>
              <a:rPr lang="vi-VN" b="1" dirty="0"/>
              <a:t>ức chế phiên mã gen</a:t>
            </a:r>
            <a:r>
              <a:rPr lang="vi-VN" dirty="0"/>
              <a:t>.</a:t>
            </a:r>
          </a:p>
          <a:p>
            <a:r>
              <a:rPr lang="x-none" b="1" dirty="0"/>
              <a:t>🔹 </a:t>
            </a:r>
            <a:r>
              <a:rPr lang="vi-VN" b="1" dirty="0"/>
              <a:t>Hai cách ức chế G9a:</a:t>
            </a:r>
          </a:p>
          <a:p>
            <a:pPr>
              <a:buFont typeface="+mj-lt"/>
              <a:buAutoNum type="arabicPeriod"/>
            </a:pPr>
            <a:r>
              <a:rPr lang="vi-VN" b="1" dirty="0"/>
              <a:t>siRNA</a:t>
            </a:r>
            <a:r>
              <a:rPr lang="vi-VN" dirty="0"/>
              <a:t> – đã được sử dụng trong các nghiên cứu trước để làm giảm </a:t>
            </a:r>
            <a:r>
              <a:rPr lang="vi-VN" b="1" dirty="0"/>
              <a:t>biểu hiện (expression)</a:t>
            </a:r>
            <a:r>
              <a:rPr lang="vi-VN" dirty="0"/>
              <a:t> của G9a.</a:t>
            </a:r>
          </a:p>
          <a:p>
            <a:pPr>
              <a:buFont typeface="+mj-lt"/>
              <a:buAutoNum type="arabicPeriod"/>
            </a:pPr>
            <a:r>
              <a:rPr lang="vi-VN" b="1" dirty="0"/>
              <a:t>UNC0642</a:t>
            </a:r>
            <a:r>
              <a:rPr lang="vi-VN" dirty="0"/>
              <a:t> – là một phát hiện mới, ức chế </a:t>
            </a:r>
            <a:r>
              <a:rPr lang="vi-VN" b="1" dirty="0"/>
              <a:t>hoạt động enzyme</a:t>
            </a:r>
            <a:r>
              <a:rPr lang="vi-VN" dirty="0"/>
              <a:t> của G9a, làm giảm mức </a:t>
            </a:r>
            <a:r>
              <a:rPr lang="vi-VN" b="1" dirty="0"/>
              <a:t>H3K9me2</a:t>
            </a:r>
            <a:r>
              <a:rPr lang="vi-VN" dirty="0"/>
              <a:t> (một dấu hiệu methyl hóa histone).</a:t>
            </a:r>
          </a:p>
          <a:p>
            <a:r>
              <a:rPr lang="x-none" b="1" dirty="0"/>
              <a:t>🟣 </a:t>
            </a:r>
            <a:r>
              <a:rPr lang="vi-VN" b="1" dirty="0"/>
              <a:t>Ảnh hưởng trên ER+ (Estrogen Receptor positive) breast cancer:</a:t>
            </a:r>
          </a:p>
          <a:p>
            <a:pPr>
              <a:buFont typeface="Arial" panose="020B0604020202020204" pitchFamily="34" charset="0"/>
              <a:buChar char="•"/>
            </a:pPr>
            <a:r>
              <a:rPr lang="vi-VN" dirty="0"/>
              <a:t>G9a ảnh hưởng đến:</a:t>
            </a:r>
          </a:p>
          <a:p>
            <a:pPr marL="742950" lvl="1" indent="-285750">
              <a:buFont typeface="Arial" panose="020B0604020202020204" pitchFamily="34" charset="0"/>
              <a:buChar char="•"/>
            </a:pPr>
            <a:r>
              <a:rPr lang="vi-VN" b="1" dirty="0"/>
              <a:t>Estrogen signaling</a:t>
            </a:r>
            <a:endParaRPr lang="vi-VN" dirty="0"/>
          </a:p>
          <a:p>
            <a:pPr marL="742950" lvl="1" indent="-285750">
              <a:buFont typeface="Arial" panose="020B0604020202020204" pitchFamily="34" charset="0"/>
              <a:buChar char="•"/>
            </a:pPr>
            <a:r>
              <a:rPr lang="vi-VN" b="1" dirty="0"/>
              <a:t>ECM signaling, chuyển hóa, chu trình tế bào</a:t>
            </a:r>
            <a:endParaRPr lang="vi-VN" dirty="0"/>
          </a:p>
          <a:p>
            <a:pPr>
              <a:buFont typeface="Arial" panose="020B0604020202020204" pitchFamily="34" charset="0"/>
              <a:buChar char="•"/>
            </a:pPr>
            <a:r>
              <a:rPr lang="vi-VN" dirty="0"/>
              <a:t>Khi ức chế G9a (bằng siRNA hoặc UNC0642):</a:t>
            </a:r>
          </a:p>
          <a:p>
            <a:pPr marL="742950" lvl="1" indent="-285750">
              <a:buFont typeface="Arial" panose="020B0604020202020204" pitchFamily="34" charset="0"/>
              <a:buChar char="•"/>
            </a:pPr>
            <a:r>
              <a:rPr lang="x-none" dirty="0"/>
              <a:t>👉 </a:t>
            </a:r>
            <a:r>
              <a:rPr lang="vi-VN" b="1" dirty="0"/>
              <a:t>Giảm tăng trưởng tế bào</a:t>
            </a:r>
            <a:r>
              <a:rPr lang="vi-VN" dirty="0"/>
              <a:t> (Cell growth ↓)</a:t>
            </a:r>
          </a:p>
          <a:p>
            <a:r>
              <a:rPr lang="x-none" b="1" dirty="0"/>
              <a:t>🟠 </a:t>
            </a:r>
            <a:r>
              <a:rPr lang="vi-VN" b="1" dirty="0"/>
              <a:t>Ảnh hưởng trên ER– (Estrogen Receptor negative) breast cancer:</a:t>
            </a:r>
          </a:p>
          <a:p>
            <a:pPr>
              <a:buFont typeface="Arial" panose="020B0604020202020204" pitchFamily="34" charset="0"/>
              <a:buChar char="•"/>
            </a:pPr>
            <a:r>
              <a:rPr lang="vi-VN" dirty="0"/>
              <a:t>G9a liên quan đến:</a:t>
            </a:r>
          </a:p>
          <a:p>
            <a:pPr marL="742950" lvl="1" indent="-285750">
              <a:buFont typeface="Arial" panose="020B0604020202020204" pitchFamily="34" charset="0"/>
              <a:buChar char="•"/>
            </a:pPr>
            <a:r>
              <a:rPr lang="vi-VN" b="1" dirty="0"/>
              <a:t>Histone-associated signaling</a:t>
            </a:r>
            <a:endParaRPr lang="vi-VN" dirty="0"/>
          </a:p>
          <a:p>
            <a:pPr marL="742950" lvl="1" indent="-285750">
              <a:buFont typeface="Arial" panose="020B0604020202020204" pitchFamily="34" charset="0"/>
              <a:buChar char="•"/>
            </a:pPr>
            <a:r>
              <a:rPr lang="vi-VN" b="1" dirty="0"/>
              <a:t>Gen ức chế khối u (tumor suppressors)</a:t>
            </a:r>
            <a:endParaRPr lang="vi-VN" dirty="0"/>
          </a:p>
          <a:p>
            <a:pPr marL="742950" lvl="1" indent="-285750">
              <a:buFont typeface="Arial" panose="020B0604020202020204" pitchFamily="34" charset="0"/>
              <a:buChar char="•"/>
            </a:pPr>
            <a:r>
              <a:rPr lang="vi-VN" b="1" dirty="0"/>
              <a:t>Apoptosis (quá trình tự chết của tế bào)</a:t>
            </a:r>
            <a:endParaRPr lang="vi-VN" dirty="0"/>
          </a:p>
          <a:p>
            <a:pPr>
              <a:buFont typeface="Arial" panose="020B0604020202020204" pitchFamily="34" charset="0"/>
              <a:buChar char="•"/>
            </a:pPr>
            <a:r>
              <a:rPr lang="vi-VN" dirty="0"/>
              <a:t>Khi ức chế G9a:</a:t>
            </a:r>
          </a:p>
          <a:p>
            <a:pPr marL="742950" lvl="1" indent="-285750">
              <a:buFont typeface="Arial" panose="020B0604020202020204" pitchFamily="34" charset="0"/>
              <a:buChar char="•"/>
            </a:pPr>
            <a:r>
              <a:rPr lang="x-none" dirty="0"/>
              <a:t>👉 </a:t>
            </a:r>
            <a:r>
              <a:rPr lang="vi-VN" b="1" dirty="0"/>
              <a:t>Giảm mạnh sự tăng trưởng tế bào</a:t>
            </a:r>
            <a:r>
              <a:rPr lang="vi-VN" dirty="0"/>
              <a:t> (Cell growth ↓↓)</a:t>
            </a:r>
          </a:p>
          <a:p>
            <a:r>
              <a:rPr lang="x-none" b="1" dirty="0"/>
              <a:t>✅ </a:t>
            </a:r>
            <a:r>
              <a:rPr lang="vi-VN" b="1" dirty="0"/>
              <a:t>Kết luận:</a:t>
            </a:r>
          </a:p>
          <a:p>
            <a:pPr>
              <a:buFont typeface="Arial" panose="020B0604020202020204" pitchFamily="34" charset="0"/>
              <a:buChar char="•"/>
            </a:pPr>
            <a:r>
              <a:rPr lang="vi-VN" dirty="0"/>
              <a:t>G9a là mục tiêu điều trị tiềm năng trong </a:t>
            </a:r>
            <a:r>
              <a:rPr lang="vi-VN" b="1" dirty="0"/>
              <a:t>cả ER+ và ER– ung thư vú</a:t>
            </a:r>
            <a:r>
              <a:rPr lang="vi-VN" dirty="0"/>
              <a:t>.</a:t>
            </a:r>
          </a:p>
          <a:p>
            <a:pPr>
              <a:buFont typeface="Arial" panose="020B0604020202020204" pitchFamily="34" charset="0"/>
              <a:buChar char="•"/>
            </a:pPr>
            <a:r>
              <a:rPr lang="vi-VN" dirty="0"/>
              <a:t>Ức chế enzyme này có thể ngăn cản sự phát triển của tế bào ung thư qua nhiều cơ chế sinh học khác nhau.</a:t>
            </a:r>
          </a:p>
          <a:p>
            <a:pPr>
              <a:buFont typeface="Arial" panose="020B0604020202020204" pitchFamily="34" charset="0"/>
              <a:buChar char="•"/>
            </a:pPr>
            <a:r>
              <a:rPr lang="vi-VN" b="1" dirty="0"/>
              <a:t>UNC0642</a:t>
            </a:r>
            <a:r>
              <a:rPr lang="vi-VN" dirty="0"/>
              <a:t> là hợp chất đầy hứa hẹn trong điều trị vì nó </a:t>
            </a:r>
            <a:r>
              <a:rPr lang="vi-VN" b="1" dirty="0"/>
              <a:t>ức chế trực tiếp hoạt tính enzyme</a:t>
            </a:r>
            <a:r>
              <a:rPr lang="vi-VN" dirty="0"/>
              <a:t>, khác với các phương pháp trước đây.</a:t>
            </a:r>
          </a:p>
          <a:p>
            <a:endParaRPr lang="x-none" dirty="0"/>
          </a:p>
        </p:txBody>
      </p:sp>
      <p:sp>
        <p:nvSpPr>
          <p:cNvPr id="4" name="Slide Number Placeholder 3"/>
          <p:cNvSpPr>
            <a:spLocks noGrp="1"/>
          </p:cNvSpPr>
          <p:nvPr>
            <p:ph type="sldNum" sz="quarter" idx="5"/>
          </p:nvPr>
        </p:nvSpPr>
        <p:spPr/>
        <p:txBody>
          <a:bodyPr/>
          <a:lstStyle/>
          <a:p>
            <a:fld id="{BEFA16C1-2B3B-F944-A5C7-F33D2537EAD5}" type="slidenum">
              <a:rPr lang="x-none" smtClean="0"/>
              <a:t>42</a:t>
            </a:fld>
            <a:endParaRPr lang="x-none"/>
          </a:p>
        </p:txBody>
      </p:sp>
    </p:spTree>
    <p:extLst>
      <p:ext uri="{BB962C8B-B14F-4D97-AF65-F5344CB8AC3E}">
        <p14:creationId xmlns:p14="http://schemas.microsoft.com/office/powerpoint/2010/main" val="13150714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D46BFD-C3A4-43B4-ADF1-5A5A01765AA7}" type="datetime1">
              <a:rPr lang="en-US" smtClean="0"/>
              <a:t>4/28/2025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345961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F97261-7052-46C8-9042-49187BDE08D5}" type="datetime1">
              <a:rPr lang="en-US" smtClean="0"/>
              <a:t>4/28/2025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184916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C0F9E0-D66B-4F8F-92EE-6FB587C1B5B7}" type="datetime1">
              <a:rPr lang="en-US" smtClean="0"/>
              <a:t>4/28/2025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2849453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757D65-52D7-4D2A-92CB-90CF00C166EC}" type="datetime1">
              <a:rPr lang="en-US" smtClean="0"/>
              <a:t>4/28/2025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2052289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00DEA6-E9BF-4BE7-AC61-542DC121AC32}" type="datetime1">
              <a:rPr lang="en-US" smtClean="0"/>
              <a:t>4/28/2025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3671342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AC3A43-32EB-4990-BD25-1BCD5C939B3C}" type="datetime1">
              <a:rPr lang="en-US" smtClean="0"/>
              <a:t>4/28/2025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772296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4F80120C-8A28-415F-A780-854E91D72414}" type="datetime1">
              <a:rPr lang="en-US" smtClean="0"/>
              <a:t>4/28/2025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397693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EBB5F1-63BC-4D02-ACE7-288051900957}" type="datetime1">
              <a:rPr lang="en-US" smtClean="0"/>
              <a:t>4/28/2025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1997697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050069-8A79-4C41-AB87-EC41DDDD39EA}" type="datetime1">
              <a:rPr lang="en-US" smtClean="0"/>
              <a:t>4/28/2025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1224215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F43ABD-7BA3-48B0-A522-39697166D51F}" type="datetime1">
              <a:rPr lang="en-US" smtClean="0"/>
              <a:t>4/28/2025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174346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46693F-CDD2-4D5B-99DA-09F4991FD189}" type="datetime1">
              <a:rPr lang="en-US" smtClean="0"/>
              <a:t>4/28/2025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4268646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335AC5-633F-47C2-8DD9-F57996C68FE8}" type="datetime1">
              <a:rPr lang="en-US" smtClean="0"/>
              <a:t>4/28/2025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B4463905-7E2A-5149-876B-3EE2D25DEC84}" type="slidenum">
              <a:rPr lang="x-none" smtClean="0"/>
              <a:t>‹#›</a:t>
            </a:fld>
            <a:endParaRPr lang="x-none"/>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801066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42BDE3-F0FD-4633-9B88-E89F8F91BD9B}" type="datetime1">
              <a:rPr lang="en-US" smtClean="0"/>
              <a:t>4/28/2025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4041051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112C0E9-9FFF-4259-8E4A-576915453567}" type="datetime1">
              <a:rPr lang="en-US" smtClean="0"/>
              <a:t>4/28/2025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38195502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FD6406A-02C8-4582-9C9D-E56D98E0D2A2}" type="datetime1">
              <a:rPr lang="en-US" smtClean="0"/>
              <a:t>4/28/2025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8345265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D39B51-7691-4F21-95DF-AF628C53B456}" type="datetime1">
              <a:rPr lang="en-US" smtClean="0"/>
              <a:t>4/28/2025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125715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4BD81B-A12E-4C49-A523-367608A75BFB}" type="datetime1">
              <a:rPr lang="en-US" smtClean="0"/>
              <a:t>4/28/2025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15711024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2B2480-8C45-47C6-992B-DD6D3BF4709E}" type="datetime1">
              <a:rPr lang="en-US" smtClean="0"/>
              <a:t>4/28/2025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B4463905-7E2A-5149-876B-3EE2D25DEC84}" type="slidenum">
              <a:rPr lang="x-none" smtClean="0"/>
              <a:t>‹#›</a:t>
            </a:fld>
            <a:endParaRPr lang="x-none"/>
          </a:p>
        </p:txBody>
      </p:sp>
    </p:spTree>
    <p:extLst>
      <p:ext uri="{BB962C8B-B14F-4D97-AF65-F5344CB8AC3E}">
        <p14:creationId xmlns:p14="http://schemas.microsoft.com/office/powerpoint/2010/main" val="814909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89CC9AD3-1BCA-4FEE-B319-7E1E32129B5F}" type="datetime1">
              <a:rPr lang="en-US" smtClean="0"/>
              <a:t>4/28/2025</a:t>
            </a:fld>
            <a:endParaRPr lang="x-none"/>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x-none"/>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B4463905-7E2A-5149-876B-3EE2D25DEC84}" type="slidenum">
              <a:rPr lang="x-none" smtClean="0"/>
              <a:t>‹#›</a:t>
            </a:fld>
            <a:endParaRPr lang="x-none"/>
          </a:p>
        </p:txBody>
      </p:sp>
    </p:spTree>
    <p:extLst>
      <p:ext uri="{BB962C8B-B14F-4D97-AF65-F5344CB8AC3E}">
        <p14:creationId xmlns:p14="http://schemas.microsoft.com/office/powerpoint/2010/main" val="86241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pubmed.ncbi.nlm.nih.gov/?term=Huo+Z&amp;cauthor_id=39859484"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990DACA8-E737-119E-0FAE-837EABF59CC8}"/>
              </a:ext>
            </a:extLst>
          </p:cNvPr>
          <p:cNvSpPr txBox="1"/>
          <p:nvPr/>
        </p:nvSpPr>
        <p:spPr>
          <a:xfrm>
            <a:off x="0" y="2924389"/>
            <a:ext cx="9144000" cy="1673150"/>
          </a:xfrm>
          <a:prstGeom prst="rect">
            <a:avLst/>
          </a:prstGeom>
          <a:noFill/>
        </p:spPr>
        <p:txBody>
          <a:bodyPr wrap="square">
            <a:spAutoFit/>
          </a:bodyPr>
          <a:lstStyle/>
          <a:p>
            <a:pPr algn="ctr">
              <a:lnSpc>
                <a:spcPct val="107000"/>
              </a:lnSpc>
              <a:spcAft>
                <a:spcPts val="800"/>
              </a:spcAft>
            </a:pPr>
            <a:r>
              <a:rPr lang="vi-VN" sz="3200" b="1" kern="100" dirty="0">
                <a:effectLst/>
                <a:latin typeface="Arial" panose="020B0604020202020204" pitchFamily="34" charset="0"/>
                <a:ea typeface="Arial" panose="020B0604020202020204" pitchFamily="34" charset="0"/>
                <a:cs typeface="Arial" panose="020B0604020202020204" pitchFamily="34" charset="0"/>
              </a:rPr>
              <a:t>Phân </a:t>
            </a:r>
            <a:r>
              <a:rPr lang="vi-VN" sz="3200" b="1" kern="100" dirty="0" smtClean="0">
                <a:effectLst/>
                <a:latin typeface="Arial" panose="020B0604020202020204" pitchFamily="34" charset="0"/>
                <a:ea typeface="Arial" panose="020B0604020202020204" pitchFamily="34" charset="0"/>
                <a:cs typeface="Arial" panose="020B0604020202020204" pitchFamily="34" charset="0"/>
              </a:rPr>
              <a:t>tích</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a:effectLst/>
                <a:latin typeface="Arial" panose="020B0604020202020204" pitchFamily="34" charset="0"/>
                <a:ea typeface="Arial" panose="020B0604020202020204" pitchFamily="34" charset="0"/>
                <a:cs typeface="Arial" panose="020B0604020202020204" pitchFamily="34" charset="0"/>
              </a:rPr>
              <a:t>mô</a:t>
            </a:r>
            <a:r>
              <a:rPr lang="en-US" sz="3200" b="1" kern="100" dirty="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a:effectLst/>
                <a:latin typeface="Arial" panose="020B0604020202020204" pitchFamily="34" charset="0"/>
                <a:ea typeface="Arial" panose="020B0604020202020204" pitchFamily="34" charset="0"/>
                <a:cs typeface="Arial" panose="020B0604020202020204" pitchFamily="34" charset="0"/>
              </a:rPr>
              <a:t>học</a:t>
            </a:r>
            <a:r>
              <a:rPr lang="vi-VN" sz="3200" b="1" kern="100" dirty="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latin typeface="Arial" panose="020B0604020202020204" pitchFamily="34" charset="0"/>
                <a:ea typeface="Arial" panose="020B0604020202020204" pitchFamily="34" charset="0"/>
                <a:cs typeface="Arial" panose="020B0604020202020204" pitchFamily="34" charset="0"/>
              </a:rPr>
              <a:t>và</a:t>
            </a:r>
            <a:r>
              <a:rPr lang="en-US" sz="3200" b="1" kern="100" dirty="0" smtClean="0">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latin typeface="Arial" panose="020B0604020202020204" pitchFamily="34" charset="0"/>
                <a:ea typeface="Arial" panose="020B0604020202020204" pitchFamily="34" charset="0"/>
                <a:cs typeface="Arial" panose="020B0604020202020204" pitchFamily="34" charset="0"/>
              </a:rPr>
              <a:t>các</a:t>
            </a:r>
            <a:r>
              <a:rPr lang="vi-VN"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vi-VN" sz="3200" b="1" kern="100" dirty="0">
                <a:effectLst/>
                <a:latin typeface="Arial" panose="020B0604020202020204" pitchFamily="34" charset="0"/>
                <a:ea typeface="Arial" panose="020B0604020202020204" pitchFamily="34" charset="0"/>
                <a:cs typeface="Arial" panose="020B0604020202020204" pitchFamily="34" charset="0"/>
              </a:rPr>
              <a:t>biến đổi histone </a:t>
            </a:r>
            <a:r>
              <a:rPr lang="en-US" sz="3200" b="1" kern="100" dirty="0" err="1" smtClean="0">
                <a:latin typeface="Arial" panose="020B0604020202020204" pitchFamily="34" charset="0"/>
                <a:ea typeface="Arial" panose="020B0604020202020204" pitchFamily="34" charset="0"/>
                <a:cs typeface="Arial" panose="020B0604020202020204" pitchFamily="34" charset="0"/>
              </a:rPr>
              <a:t>nhận</a:t>
            </a:r>
            <a:r>
              <a:rPr lang="en-US" sz="3200" b="1" kern="100" dirty="0" smtClean="0">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latin typeface="Arial" panose="020B0604020202020204" pitchFamily="34" charset="0"/>
                <a:ea typeface="Arial" panose="020B0604020202020204" pitchFamily="34" charset="0"/>
                <a:cs typeface="Arial" panose="020B0604020202020204" pitchFamily="34" charset="0"/>
              </a:rPr>
              <a:t>diện</a:t>
            </a:r>
            <a:r>
              <a:rPr lang="vi-VN"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vi-VN" sz="3200" b="1" kern="100" dirty="0">
                <a:effectLst/>
                <a:latin typeface="Arial" panose="020B0604020202020204" pitchFamily="34" charset="0"/>
                <a:ea typeface="Arial" panose="020B0604020202020204" pitchFamily="34" charset="0"/>
                <a:cs typeface="Arial" panose="020B0604020202020204" pitchFamily="34" charset="0"/>
              </a:rPr>
              <a:t>đặc </a:t>
            </a:r>
            <a:r>
              <a:rPr lang="vi-VN" sz="3200" b="1" kern="100" dirty="0" smtClean="0">
                <a:effectLst/>
                <a:latin typeface="Arial" panose="020B0604020202020204" pitchFamily="34" charset="0"/>
                <a:ea typeface="Arial" panose="020B0604020202020204" pitchFamily="34" charset="0"/>
                <a:cs typeface="Arial" panose="020B0604020202020204" pitchFamily="34" charset="0"/>
              </a:rPr>
              <a:t>điểm</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phân</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nhóm</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và</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điều</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trích</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của</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ung</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thư</a:t>
            </a:r>
            <a:r>
              <a:rPr lang="en-US" sz="3200" b="1" kern="100" dirty="0" smtClean="0">
                <a:effectLst/>
                <a:latin typeface="Arial" panose="020B0604020202020204" pitchFamily="34" charset="0"/>
                <a:ea typeface="Arial" panose="020B0604020202020204" pitchFamily="34" charset="0"/>
                <a:cs typeface="Arial" panose="020B0604020202020204" pitchFamily="34" charset="0"/>
              </a:rPr>
              <a:t> </a:t>
            </a:r>
            <a:r>
              <a:rPr lang="en-US" sz="3200" b="1" kern="100" dirty="0" err="1" smtClean="0">
                <a:effectLst/>
                <a:latin typeface="Arial" panose="020B0604020202020204" pitchFamily="34" charset="0"/>
                <a:ea typeface="Arial" panose="020B0604020202020204" pitchFamily="34" charset="0"/>
                <a:cs typeface="Arial" panose="020B0604020202020204" pitchFamily="34" charset="0"/>
              </a:rPr>
              <a:t>vú</a:t>
            </a:r>
            <a:r>
              <a:rPr lang="vi-VN" sz="3200" b="1" kern="100" dirty="0" smtClean="0">
                <a:effectLst/>
                <a:latin typeface="Arial" panose="020B0604020202020204" pitchFamily="34" charset="0"/>
                <a:ea typeface="Arial" panose="020B0604020202020204" pitchFamily="34" charset="0"/>
                <a:cs typeface="Arial" panose="020B0604020202020204" pitchFamily="34" charset="0"/>
              </a:rPr>
              <a:t>.</a:t>
            </a:r>
            <a:endParaRPr lang="x-none" sz="3200" kern="100" dirty="0">
              <a:effectLst/>
              <a:latin typeface="Arial" panose="020B0604020202020204" pitchFamily="34" charset="0"/>
              <a:ea typeface="Arial" panose="020B0604020202020204" pitchFamily="34" charset="0"/>
              <a:cs typeface="Arial" panose="020B0604020202020204" pitchFamily="34" charset="0"/>
            </a:endParaRPr>
          </a:p>
        </p:txBody>
      </p:sp>
      <p:sp>
        <p:nvSpPr>
          <p:cNvPr id="2" name="Rectangle 1"/>
          <p:cNvSpPr/>
          <p:nvPr/>
        </p:nvSpPr>
        <p:spPr>
          <a:xfrm>
            <a:off x="5981602" y="4597539"/>
            <a:ext cx="2467342" cy="369332"/>
          </a:xfrm>
          <a:prstGeom prst="rect">
            <a:avLst/>
          </a:prstGeom>
        </p:spPr>
        <p:txBody>
          <a:bodyPr wrap="none">
            <a:spAutoFit/>
          </a:bodyPr>
          <a:lstStyle/>
          <a:p>
            <a:r>
              <a:rPr lang="en-US" dirty="0" err="1">
                <a:latin typeface="Arial" panose="020B0604020202020204" pitchFamily="34" charset="0"/>
                <a:cs typeface="Arial" panose="020B0604020202020204" pitchFamily="34" charset="0"/>
                <a:hlinkClick r:id="rId2"/>
              </a:rPr>
              <a:t>Zirong</a:t>
            </a:r>
            <a:r>
              <a:rPr lang="en-US" dirty="0">
                <a:latin typeface="Arial" panose="020B0604020202020204" pitchFamily="34" charset="0"/>
                <a:cs typeface="Arial" panose="020B0604020202020204" pitchFamily="34" charset="0"/>
                <a:hlinkClick r:id="rId2"/>
              </a:rPr>
              <a:t> </a:t>
            </a:r>
            <a:r>
              <a:rPr lang="en-US" dirty="0" err="1" smtClean="0">
                <a:latin typeface="Arial" panose="020B0604020202020204" pitchFamily="34" charset="0"/>
                <a:cs typeface="Arial" panose="020B0604020202020204" pitchFamily="34" charset="0"/>
                <a:hlinkClick r:id="rId2"/>
              </a:rPr>
              <a:t>Huo</a:t>
            </a:r>
            <a:r>
              <a:rPr lang="en-US" dirty="0" smtClean="0">
                <a:latin typeface="Arial" panose="020B0604020202020204" pitchFamily="34" charset="0"/>
                <a:cs typeface="Arial" panose="020B0604020202020204" pitchFamily="34" charset="0"/>
              </a:rPr>
              <a:t> et al, 2025</a:t>
            </a:r>
            <a:endParaRPr lang="en-US" dirty="0">
              <a:latin typeface="Arial" panose="020B0604020202020204" pitchFamily="34" charset="0"/>
              <a:cs typeface="Arial" panose="020B0604020202020204" pitchFamily="34" charset="0"/>
            </a:endParaRPr>
          </a:p>
        </p:txBody>
      </p:sp>
      <p:sp>
        <p:nvSpPr>
          <p:cNvPr id="4" name="Subtitle 3"/>
          <p:cNvSpPr>
            <a:spLocks noGrp="1"/>
          </p:cNvSpPr>
          <p:nvPr>
            <p:ph type="subTitle" idx="1"/>
          </p:nvPr>
        </p:nvSpPr>
        <p:spPr>
          <a:xfrm>
            <a:off x="1313259" y="1197428"/>
            <a:ext cx="6517482" cy="1371599"/>
          </a:xfrm>
        </p:spPr>
        <p:txBody>
          <a:bodyPr>
            <a:normAutofit fontScale="92500" lnSpcReduction="10000"/>
          </a:bodyPr>
          <a:lstStyle/>
          <a:p>
            <a:r>
              <a:rPr lang="en-US" b="1" dirty="0" smtClean="0">
                <a:solidFill>
                  <a:schemeClr val="tx1"/>
                </a:solidFill>
                <a:latin typeface="Arial" panose="020B0604020202020204" pitchFamily="34" charset="0"/>
                <a:cs typeface="Arial" panose="020B0604020202020204" pitchFamily="34" charset="0"/>
              </a:rPr>
              <a:t>TRƯỜNG ĐẠI HỌC KHOA HỌC TỰ NHIÊN</a:t>
            </a:r>
          </a:p>
          <a:p>
            <a:r>
              <a:rPr lang="en-US" b="1" dirty="0" smtClean="0">
                <a:solidFill>
                  <a:schemeClr val="tx1"/>
                </a:solidFill>
                <a:latin typeface="Arial" panose="020B0604020202020204" pitchFamily="34" charset="0"/>
                <a:cs typeface="Arial" panose="020B0604020202020204" pitchFamily="34" charset="0"/>
              </a:rPr>
              <a:t>BỘ MÔN DI TRUYỀN</a:t>
            </a:r>
          </a:p>
          <a:p>
            <a:r>
              <a:rPr lang="en-US" sz="1900" b="1" dirty="0" smtClean="0">
                <a:solidFill>
                  <a:schemeClr val="tx1"/>
                </a:solidFill>
                <a:latin typeface="Arial" panose="020B0604020202020204" pitchFamily="34" charset="0"/>
                <a:cs typeface="Arial" panose="020B0604020202020204" pitchFamily="34" charset="0"/>
              </a:rPr>
              <a:t>BÁO CÁO CUỐI KÌ</a:t>
            </a:r>
            <a:endParaRPr lang="en-US" sz="1900" b="1" dirty="0">
              <a:solidFill>
                <a:schemeClr val="tx1"/>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258" y="1034143"/>
            <a:ext cx="772886" cy="7728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443291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285" y="181841"/>
            <a:ext cx="7402286" cy="63170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873745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56F3D45-3F59-F4CA-DC4D-FDA3E4A689BC}"/>
              </a:ext>
            </a:extLst>
          </p:cNvPr>
          <p:cNvPicPr>
            <a:picLocks noChangeAspect="1"/>
          </p:cNvPicPr>
          <p:nvPr/>
        </p:nvPicPr>
        <p:blipFill>
          <a:blip r:embed="rId2"/>
          <a:stretch>
            <a:fillRect/>
          </a:stretch>
        </p:blipFill>
        <p:spPr>
          <a:xfrm>
            <a:off x="300037" y="33051"/>
            <a:ext cx="8543925" cy="6862651"/>
          </a:xfrm>
          <a:prstGeom prst="rect">
            <a:avLst/>
          </a:prstGeom>
        </p:spPr>
      </p:pic>
    </p:spTree>
    <p:extLst>
      <p:ext uri="{BB962C8B-B14F-4D97-AF65-F5344CB8AC3E}">
        <p14:creationId xmlns:p14="http://schemas.microsoft.com/office/powerpoint/2010/main" val="30954850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xmlns="" id="{EC3465FF-7D1A-602F-9323-1AB1EC8FD0EC}"/>
              </a:ext>
            </a:extLst>
          </p:cNvPr>
          <p:cNvGraphicFramePr>
            <a:graphicFrameLocks noGrp="1"/>
          </p:cNvGraphicFramePr>
          <p:nvPr>
            <p:extLst>
              <p:ext uri="{D42A27DB-BD31-4B8C-83A1-F6EECF244321}">
                <p14:modId xmlns:p14="http://schemas.microsoft.com/office/powerpoint/2010/main" val="4145056936"/>
              </p:ext>
            </p:extLst>
          </p:nvPr>
        </p:nvGraphicFramePr>
        <p:xfrm>
          <a:off x="1" y="0"/>
          <a:ext cx="9144000" cy="6715124"/>
        </p:xfrm>
        <a:graphic>
          <a:graphicData uri="http://schemas.openxmlformats.org/drawingml/2006/table">
            <a:tbl>
              <a:tblPr>
                <a:tableStyleId>{5C22544A-7EE6-4342-B048-85BDC9FD1C3A}</a:tableStyleId>
              </a:tblPr>
              <a:tblGrid>
                <a:gridCol w="2141670">
                  <a:extLst>
                    <a:ext uri="{9D8B030D-6E8A-4147-A177-3AD203B41FA5}">
                      <a16:colId xmlns:a16="http://schemas.microsoft.com/office/drawing/2014/main" xmlns="" val="3805781368"/>
                    </a:ext>
                  </a:extLst>
                </a:gridCol>
                <a:gridCol w="1694714">
                  <a:extLst>
                    <a:ext uri="{9D8B030D-6E8A-4147-A177-3AD203B41FA5}">
                      <a16:colId xmlns:a16="http://schemas.microsoft.com/office/drawing/2014/main" xmlns="" val="3416461247"/>
                    </a:ext>
                  </a:extLst>
                </a:gridCol>
                <a:gridCol w="1731959">
                  <a:extLst>
                    <a:ext uri="{9D8B030D-6E8A-4147-A177-3AD203B41FA5}">
                      <a16:colId xmlns:a16="http://schemas.microsoft.com/office/drawing/2014/main" xmlns="" val="1148461287"/>
                    </a:ext>
                  </a:extLst>
                </a:gridCol>
                <a:gridCol w="1564350">
                  <a:extLst>
                    <a:ext uri="{9D8B030D-6E8A-4147-A177-3AD203B41FA5}">
                      <a16:colId xmlns:a16="http://schemas.microsoft.com/office/drawing/2014/main" xmlns="" val="852553716"/>
                    </a:ext>
                  </a:extLst>
                </a:gridCol>
                <a:gridCol w="2011307">
                  <a:extLst>
                    <a:ext uri="{9D8B030D-6E8A-4147-A177-3AD203B41FA5}">
                      <a16:colId xmlns:a16="http://schemas.microsoft.com/office/drawing/2014/main" xmlns="" val="2210672530"/>
                    </a:ext>
                  </a:extLst>
                </a:gridCol>
              </a:tblGrid>
              <a:tr h="639536">
                <a:tc>
                  <a:txBody>
                    <a:bodyPr/>
                    <a:lstStyle/>
                    <a:p>
                      <a:pPr algn="ctr" fontAlgn="ctr"/>
                      <a:r>
                        <a:rPr lang="en-US" sz="1300" b="1" u="none" strike="noStrike" dirty="0" err="1">
                          <a:effectLst/>
                          <a:latin typeface="Arial" panose="020B0604020202020204" pitchFamily="34" charset="0"/>
                          <a:cs typeface="Arial" panose="020B0604020202020204" pitchFamily="34" charset="0"/>
                        </a:rPr>
                        <a:t>Đặc</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điểm</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1" u="none" strike="noStrike" dirty="0">
                          <a:effectLst/>
                          <a:latin typeface="Arial" panose="020B0604020202020204" pitchFamily="34" charset="0"/>
                          <a:cs typeface="Arial" panose="020B0604020202020204" pitchFamily="34" charset="0"/>
                        </a:rPr>
                        <a:t>TNBC (Triple-Negative)</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1" u="none" strike="noStrike" dirty="0">
                          <a:effectLst/>
                          <a:latin typeface="Arial" panose="020B0604020202020204" pitchFamily="34" charset="0"/>
                          <a:cs typeface="Arial" panose="020B0604020202020204" pitchFamily="34" charset="0"/>
                        </a:rPr>
                        <a:t>Luminal 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1" u="none" strike="noStrike" dirty="0">
                          <a:effectLst/>
                          <a:latin typeface="Arial" panose="020B0604020202020204" pitchFamily="34" charset="0"/>
                          <a:cs typeface="Arial" panose="020B0604020202020204" pitchFamily="34" charset="0"/>
                        </a:rPr>
                        <a:t>Luminal B</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1" u="none" strike="noStrike" dirty="0">
                          <a:effectLst/>
                          <a:latin typeface="Arial" panose="020B0604020202020204" pitchFamily="34" charset="0"/>
                          <a:cs typeface="Arial" panose="020B0604020202020204" pitchFamily="34" charset="0"/>
                        </a:rPr>
                        <a:t>HER2-enriched</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7928786"/>
                  </a:ext>
                </a:extLst>
              </a:tr>
              <a:tr h="639536">
                <a:tc>
                  <a:txBody>
                    <a:bodyPr/>
                    <a:lstStyle/>
                    <a:p>
                      <a:pPr algn="ctr" fontAlgn="ctr"/>
                      <a:r>
                        <a:rPr lang="en-US" sz="1300" b="1" u="none" strike="noStrike" dirty="0" err="1">
                          <a:effectLst/>
                          <a:latin typeface="Arial" panose="020B0604020202020204" pitchFamily="34" charset="0"/>
                          <a:cs typeface="Arial" panose="020B0604020202020204" pitchFamily="34" charset="0"/>
                        </a:rPr>
                        <a:t>Biểu</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hiện</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thụ</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thể</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0" u="none" strike="noStrike" dirty="0">
                          <a:effectLst/>
                          <a:highlight>
                            <a:srgbClr val="FFFF00"/>
                          </a:highlight>
                          <a:latin typeface="Arial" panose="020B0604020202020204" pitchFamily="34" charset="0"/>
                          <a:cs typeface="Arial" panose="020B0604020202020204" pitchFamily="34" charset="0"/>
                        </a:rPr>
                        <a:t>ER–, PR–, HER2–</a:t>
                      </a:r>
                      <a:endParaRPr lang="en-US" sz="1300" b="0" i="0" u="none" strike="noStrike" dirty="0">
                        <a:solidFill>
                          <a:srgbClr val="000000"/>
                        </a:solidFill>
                        <a:effectLst/>
                        <a:highlight>
                          <a:srgbClr val="FFFF00"/>
                        </a:highligh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0" u="none" strike="noStrike" dirty="0">
                          <a:effectLst/>
                          <a:highlight>
                            <a:srgbClr val="FFFF00"/>
                          </a:highlight>
                          <a:latin typeface="Arial" panose="020B0604020202020204" pitchFamily="34" charset="0"/>
                          <a:cs typeface="Arial" panose="020B0604020202020204" pitchFamily="34" charset="0"/>
                        </a:rPr>
                        <a:t>ER+, PR+, HER2–</a:t>
                      </a:r>
                      <a:endParaRPr lang="en-US" sz="1300" b="0" i="0" u="none" strike="noStrike" dirty="0">
                        <a:solidFill>
                          <a:srgbClr val="000000"/>
                        </a:solidFill>
                        <a:effectLst/>
                        <a:highlight>
                          <a:srgbClr val="FFFF00"/>
                        </a:highligh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0" u="none" strike="noStrike" dirty="0">
                          <a:effectLst/>
                          <a:highlight>
                            <a:srgbClr val="FFFF00"/>
                          </a:highlight>
                          <a:latin typeface="Arial" panose="020B0604020202020204" pitchFamily="34" charset="0"/>
                          <a:cs typeface="Arial" panose="020B0604020202020204" pitchFamily="34" charset="0"/>
                        </a:rPr>
                        <a:t>ER+, PR±, HER2±</a:t>
                      </a:r>
                      <a:endParaRPr lang="en-US" sz="1300" b="0" i="0" u="none" strike="noStrike" dirty="0">
                        <a:solidFill>
                          <a:srgbClr val="000000"/>
                        </a:solidFill>
                        <a:effectLst/>
                        <a:highlight>
                          <a:srgbClr val="FFFF00"/>
                        </a:highligh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b="0" u="none" strike="noStrike" dirty="0">
                          <a:effectLst/>
                          <a:highlight>
                            <a:srgbClr val="FFFF00"/>
                          </a:highlight>
                          <a:latin typeface="Arial" panose="020B0604020202020204" pitchFamily="34" charset="0"/>
                          <a:cs typeface="Arial" panose="020B0604020202020204" pitchFamily="34" charset="0"/>
                        </a:rPr>
                        <a:t>ER–, PR–, HER2+</a:t>
                      </a:r>
                      <a:endParaRPr lang="en-US" sz="1300" b="0" i="0" u="none" strike="noStrike" dirty="0">
                        <a:solidFill>
                          <a:srgbClr val="000000"/>
                        </a:solidFill>
                        <a:effectLst/>
                        <a:highlight>
                          <a:srgbClr val="FFFF00"/>
                        </a:highligh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10624655"/>
                  </a:ext>
                </a:extLst>
              </a:tr>
              <a:tr h="959303">
                <a:tc>
                  <a:txBody>
                    <a:bodyPr/>
                    <a:lstStyle/>
                    <a:p>
                      <a:pPr algn="ctr" fontAlgn="ctr"/>
                      <a:r>
                        <a:rPr lang="en-US" sz="1300" b="1" u="none" strike="noStrike" dirty="0" err="1">
                          <a:effectLst/>
                          <a:latin typeface="Arial" panose="020B0604020202020204" pitchFamily="34" charset="0"/>
                          <a:cs typeface="Arial" panose="020B0604020202020204" pitchFamily="34" charset="0"/>
                        </a:rPr>
                        <a:t>Tính</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chất</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phát</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triển</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err="1">
                          <a:effectLst/>
                          <a:latin typeface="Arial" panose="020B0604020202020204" pitchFamily="34" charset="0"/>
                          <a:cs typeface="Arial" panose="020B0604020202020204" pitchFamily="34" charset="0"/>
                        </a:rPr>
                        <a:t>Phát</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triển</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nhanh</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xâm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lấn</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mạnh</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err="1">
                          <a:effectLst/>
                          <a:latin typeface="Arial" panose="020B0604020202020204" pitchFamily="34" charset="0"/>
                          <a:cs typeface="Arial" panose="020B0604020202020204" pitchFamily="34" charset="0"/>
                        </a:rPr>
                        <a:t>Phát</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triển</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chậm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ít</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xâm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lấn</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300" u="none" strike="noStrike" dirty="0">
                          <a:effectLst/>
                          <a:latin typeface="Arial" panose="020B0604020202020204" pitchFamily="34" charset="0"/>
                          <a:cs typeface="Arial" panose="020B0604020202020204" pitchFamily="34" charset="0"/>
                        </a:rPr>
                        <a:t>Phát triển nhanh hơn Luminal A</a:t>
                      </a:r>
                      <a:endParaRPr lang="vi-VN"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Phát triển nhanh, xâm lấn mạnh</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73841000"/>
                  </a:ext>
                </a:extLst>
              </a:tr>
              <a:tr h="959303">
                <a:tc>
                  <a:txBody>
                    <a:bodyPr/>
                    <a:lstStyle/>
                    <a:p>
                      <a:pPr algn="ctr" fontAlgn="ctr"/>
                      <a:r>
                        <a:rPr lang="vi-VN" sz="1300" b="1" u="none" strike="noStrike" dirty="0">
                          <a:effectLst/>
                          <a:latin typeface="Arial" panose="020B0604020202020204" pitchFamily="34" charset="0"/>
                          <a:cs typeface="Arial" panose="020B0604020202020204" pitchFamily="34" charset="0"/>
                        </a:rPr>
                        <a:t>Tiên lượng</a:t>
                      </a:r>
                      <a:endParaRPr lang="vi-VN"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Kém, dễ tái phát</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err="1">
                          <a:effectLst/>
                          <a:latin typeface="Arial" panose="020B0604020202020204" pitchFamily="34" charset="0"/>
                          <a:cs typeface="Arial" panose="020B0604020202020204" pitchFamily="34" charset="0"/>
                        </a:rPr>
                        <a:t>Tốt</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ít</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tái</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phát</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300" u="none" strike="noStrike" dirty="0">
                          <a:effectLst/>
                          <a:latin typeface="Arial" panose="020B0604020202020204" pitchFamily="34" charset="0"/>
                          <a:cs typeface="Arial" panose="020B0604020202020204" pitchFamily="34" charset="0"/>
                        </a:rPr>
                        <a:t>Trung bình, dễ tái phát hơn Luminal A</a:t>
                      </a:r>
                      <a:endParaRPr lang="vi-VN"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a:effectLst/>
                          <a:latin typeface="Arial" panose="020B0604020202020204" pitchFamily="34" charset="0"/>
                          <a:cs typeface="Arial" panose="020B0604020202020204" pitchFamily="34" charset="0"/>
                        </a:rPr>
                        <a:t>Trung </a:t>
                      </a:r>
                      <a:r>
                        <a:rPr lang="en-US" sz="1300" u="none" strike="noStrike" dirty="0" err="1">
                          <a:effectLst/>
                          <a:latin typeface="Arial" panose="020B0604020202020204" pitchFamily="34" charset="0"/>
                          <a:cs typeface="Arial" panose="020B0604020202020204" pitchFamily="34" charset="0"/>
                        </a:rPr>
                        <a:t>bình</a:t>
                      </a:r>
                      <a:r>
                        <a:rPr lang="en-US" sz="1300" u="none" strike="noStrike" dirty="0">
                          <a:effectLst/>
                          <a:latin typeface="Arial" panose="020B0604020202020204" pitchFamily="34" charset="0"/>
                          <a:cs typeface="Arial" panose="020B0604020202020204" pitchFamily="34" charset="0"/>
                        </a:rPr>
                        <a:t>–</a:t>
                      </a:r>
                      <a:r>
                        <a:rPr lang="en-US" sz="1300" u="none" strike="noStrike" dirty="0" err="1">
                          <a:effectLst/>
                          <a:latin typeface="Arial" panose="020B0604020202020204" pitchFamily="34" charset="0"/>
                          <a:cs typeface="Arial" panose="020B0604020202020204" pitchFamily="34" charset="0"/>
                        </a:rPr>
                        <a:t>kém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nếu</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không</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điều</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trị</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đích</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50758356"/>
                  </a:ext>
                </a:extLst>
              </a:tr>
              <a:tr h="1279071">
                <a:tc>
                  <a:txBody>
                    <a:bodyPr/>
                    <a:lstStyle/>
                    <a:p>
                      <a:pPr algn="ctr" fontAlgn="ctr"/>
                      <a:r>
                        <a:rPr lang="vi-VN" sz="1300" b="1" u="none" strike="noStrike" dirty="0">
                          <a:effectLst/>
                          <a:latin typeface="Arial" panose="020B0604020202020204" pitchFamily="34" charset="0"/>
                          <a:cs typeface="Arial" panose="020B0604020202020204" pitchFamily="34" charset="0"/>
                        </a:rPr>
                        <a:t>Phương pháp điều trị</a:t>
                      </a:r>
                      <a:endParaRPr lang="vi-VN"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Hóa trị, xạ trị (không đáp ứng hormon hoặc HER2)</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err="1">
                          <a:effectLst/>
                          <a:latin typeface="Arial" panose="020B0604020202020204" pitchFamily="34" charset="0"/>
                          <a:cs typeface="Arial" panose="020B0604020202020204" pitchFamily="34" charset="0"/>
                        </a:rPr>
                        <a:t>Liệu</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pháp</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nội</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tiết</a:t>
                      </a:r>
                      <a:r>
                        <a:rPr lang="en-US" sz="1300" u="none" strike="noStrike" dirty="0">
                          <a:effectLst/>
                          <a:latin typeface="Arial" panose="020B0604020202020204" pitchFamily="34" charset="0"/>
                          <a:cs typeface="Arial" panose="020B0604020202020204" pitchFamily="34" charset="0"/>
                        </a:rPr>
                        <a:t> (tamoxifen, aromatase inhibitors)</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err="1">
                          <a:effectLst/>
                          <a:latin typeface="Arial" panose="020B0604020202020204" pitchFamily="34" charset="0"/>
                          <a:cs typeface="Arial" panose="020B0604020202020204" pitchFamily="34" charset="0"/>
                        </a:rPr>
                        <a:t>Liệu</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pháp</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nội</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tiết</a:t>
                      </a:r>
                      <a:r>
                        <a:rPr lang="en-US" sz="1300" u="none" strike="noStrike" dirty="0">
                          <a:effectLst/>
                          <a:latin typeface="Arial" panose="020B0604020202020204" pitchFamily="34" charset="0"/>
                          <a:cs typeface="Arial" panose="020B0604020202020204" pitchFamily="34" charset="0"/>
                        </a:rPr>
                        <a:t> + ±</a:t>
                      </a:r>
                      <a:r>
                        <a:rPr lang="en-US" sz="1300" u="none" strike="noStrike" dirty="0" err="1">
                          <a:effectLst/>
                          <a:latin typeface="Arial" panose="020B0604020202020204" pitchFamily="34" charset="0"/>
                          <a:cs typeface="Arial" panose="020B0604020202020204" pitchFamily="34" charset="0"/>
                        </a:rPr>
                        <a:t>Hóa</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trị</a:t>
                      </a:r>
                      <a:r>
                        <a:rPr lang="en-US" sz="1300" u="none" strike="noStrike" dirty="0">
                          <a:effectLst/>
                          <a:latin typeface="Arial" panose="020B0604020202020204" pitchFamily="34" charset="0"/>
                          <a:cs typeface="Arial" panose="020B0604020202020204" pitchFamily="34" charset="0"/>
                        </a:rPr>
                        <a:t> ±Herceptin</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err="1">
                          <a:effectLst/>
                          <a:latin typeface="Arial" panose="020B0604020202020204" pitchFamily="34" charset="0"/>
                          <a:cs typeface="Arial" panose="020B0604020202020204" pitchFamily="34" charset="0"/>
                        </a:rPr>
                        <a:t>Kháng</a:t>
                      </a:r>
                      <a:r>
                        <a:rPr lang="en-US" sz="1300" u="none" strike="noStrike" dirty="0">
                          <a:effectLst/>
                          <a:latin typeface="Arial" panose="020B0604020202020204" pitchFamily="34" charset="0"/>
                          <a:cs typeface="Arial" panose="020B0604020202020204" pitchFamily="34" charset="0"/>
                        </a:rPr>
                        <a:t> HER2 (Herceptin, </a:t>
                      </a:r>
                      <a:r>
                        <a:rPr lang="en-US" sz="1300" u="none" strike="noStrike" dirty="0" err="1">
                          <a:effectLst/>
                          <a:latin typeface="Arial" panose="020B0604020202020204" pitchFamily="34" charset="0"/>
                          <a:cs typeface="Arial" panose="020B0604020202020204" pitchFamily="34" charset="0"/>
                        </a:rPr>
                        <a:t>Pertuzumab</a:t>
                      </a:r>
                      <a:r>
                        <a:rPr lang="en-US" sz="1300" u="none" strike="noStrike" dirty="0">
                          <a:effectLst/>
                          <a:latin typeface="Arial" panose="020B0604020202020204" pitchFamily="34" charset="0"/>
                          <a:cs typeface="Arial" panose="020B0604020202020204" pitchFamily="34" charset="0"/>
                        </a:rPr>
                        <a:t>), ± </a:t>
                      </a:r>
                      <a:r>
                        <a:rPr lang="en-US" sz="1300" u="none" strike="noStrike" dirty="0" err="1">
                          <a:effectLst/>
                          <a:latin typeface="Arial" panose="020B0604020202020204" pitchFamily="34" charset="0"/>
                          <a:cs typeface="Arial" panose="020B0604020202020204" pitchFamily="34" charset="0"/>
                        </a:rPr>
                        <a:t>hóa</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trị</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71991841"/>
                  </a:ext>
                </a:extLst>
              </a:tr>
              <a:tr h="959303">
                <a:tc>
                  <a:txBody>
                    <a:bodyPr/>
                    <a:lstStyle/>
                    <a:p>
                      <a:pPr algn="ctr" fontAlgn="ctr"/>
                      <a:r>
                        <a:rPr lang="en-US" sz="1300" b="1" u="none" strike="noStrike" dirty="0" err="1">
                          <a:effectLst/>
                          <a:latin typeface="Arial" panose="020B0604020202020204" pitchFamily="34" charset="0"/>
                          <a:cs typeface="Arial" panose="020B0604020202020204" pitchFamily="34" charset="0"/>
                        </a:rPr>
                        <a:t>Chẩn</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đoán</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Không có thụ thể hormon hoặc HER2</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ER+ và PR+, HER2–</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a:effectLst/>
                          <a:latin typeface="Arial" panose="020B0604020202020204" pitchFamily="34" charset="0"/>
                          <a:cs typeface="Arial" panose="020B0604020202020204" pitchFamily="34" charset="0"/>
                        </a:rPr>
                        <a:t>ER+ </a:t>
                      </a:r>
                      <a:r>
                        <a:rPr lang="en-US" sz="1300" u="none" strike="noStrike" dirty="0" err="1">
                          <a:effectLst/>
                          <a:latin typeface="Arial" panose="020B0604020202020204" pitchFamily="34" charset="0"/>
                          <a:cs typeface="Arial" panose="020B0604020202020204" pitchFamily="34" charset="0"/>
                        </a:rPr>
                        <a:t>và</a:t>
                      </a:r>
                      <a:r>
                        <a:rPr lang="en-US" sz="1300" u="none" strike="noStrike" dirty="0">
                          <a:effectLst/>
                          <a:latin typeface="Arial" panose="020B0604020202020204" pitchFamily="34" charset="0"/>
                          <a:cs typeface="Arial" panose="020B0604020202020204" pitchFamily="34" charset="0"/>
                        </a:rPr>
                        <a:t> PR </a:t>
                      </a:r>
                      <a:r>
                        <a:rPr lang="en-US" sz="1300" u="none" strike="noStrike" dirty="0" err="1">
                          <a:effectLst/>
                          <a:latin typeface="Arial" panose="020B0604020202020204" pitchFamily="34" charset="0"/>
                          <a:cs typeface="Arial" panose="020B0604020202020204" pitchFamily="34" charset="0"/>
                        </a:rPr>
                        <a:t>thấp</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hoặc</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âm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tính</a:t>
                      </a:r>
                      <a:r>
                        <a:rPr lang="en-US" sz="1300" u="none" strike="noStrike" dirty="0">
                          <a:effectLst/>
                          <a:latin typeface="Arial" panose="020B0604020202020204" pitchFamily="34" charset="0"/>
                          <a:cs typeface="Arial" panose="020B0604020202020204" pitchFamily="34" charset="0"/>
                        </a:rPr>
                        <a:t>, ± HER2</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a:effectLst/>
                          <a:latin typeface="Arial" panose="020B0604020202020204" pitchFamily="34" charset="0"/>
                          <a:cs typeface="Arial" panose="020B0604020202020204" pitchFamily="34" charset="0"/>
                        </a:rPr>
                        <a:t>HER2+, ER </a:t>
                      </a:r>
                      <a:r>
                        <a:rPr lang="en-US" sz="1300" u="none" strike="noStrike" dirty="0" err="1">
                          <a:effectLst/>
                          <a:latin typeface="Arial" panose="020B0604020202020204" pitchFamily="34" charset="0"/>
                          <a:cs typeface="Arial" panose="020B0604020202020204" pitchFamily="34" charset="0"/>
                        </a:rPr>
                        <a:t>và</a:t>
                      </a:r>
                      <a:r>
                        <a:rPr lang="en-US" sz="1300" u="none" strike="noStrike" dirty="0">
                          <a:effectLst/>
                          <a:latin typeface="Arial" panose="020B0604020202020204" pitchFamily="34" charset="0"/>
                          <a:cs typeface="Arial" panose="020B0604020202020204" pitchFamily="34" charset="0"/>
                        </a:rPr>
                        <a:t> PR </a:t>
                      </a:r>
                      <a:r>
                        <a:rPr lang="en-US" sz="1300" u="none" strike="noStrike" dirty="0" err="1">
                          <a:effectLst/>
                          <a:latin typeface="Arial" panose="020B0604020202020204" pitchFamily="34" charset="0"/>
                          <a:cs typeface="Arial" panose="020B0604020202020204" pitchFamily="34" charset="0"/>
                        </a:rPr>
                        <a:t>âm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tính</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35965852"/>
                  </a:ext>
                </a:extLst>
              </a:tr>
              <a:tr h="959303">
                <a:tc>
                  <a:txBody>
                    <a:bodyPr/>
                    <a:lstStyle/>
                    <a:p>
                      <a:pPr algn="ctr" fontAlgn="ctr"/>
                      <a:r>
                        <a:rPr lang="en-US" sz="1300" b="1" u="none" strike="noStrike" dirty="0" err="1">
                          <a:effectLst/>
                          <a:latin typeface="Arial" panose="020B0604020202020204" pitchFamily="34" charset="0"/>
                          <a:cs typeface="Arial" panose="020B0604020202020204" pitchFamily="34" charset="0"/>
                        </a:rPr>
                        <a:t>Đặc</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điểm</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tế</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bào</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Không có thụ thể nhắm mục tiêu</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Nhạy cảm với nội tiết</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300" u="none" strike="noStrike" dirty="0">
                          <a:effectLst/>
                          <a:latin typeface="Arial" panose="020B0604020202020204" pitchFamily="34" charset="0"/>
                          <a:cs typeface="Arial" panose="020B0604020202020204" pitchFamily="34" charset="0"/>
                        </a:rPr>
                        <a:t>Tăng sinh cao hơn, đôi khi kháng nội tiết</a:t>
                      </a:r>
                      <a:endParaRPr lang="vi-VN"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err="1">
                          <a:effectLst/>
                          <a:latin typeface="Arial" panose="020B0604020202020204" pitchFamily="34" charset="0"/>
                          <a:cs typeface="Arial" panose="020B0604020202020204" pitchFamily="34" charset="0"/>
                        </a:rPr>
                        <a:t>Biểu</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hiện</a:t>
                      </a:r>
                      <a:r>
                        <a:rPr lang="en-US" sz="1300" u="none" strike="noStrike" dirty="0">
                          <a:effectLst/>
                          <a:latin typeface="Arial" panose="020B0604020202020204" pitchFamily="34" charset="0"/>
                          <a:cs typeface="Arial" panose="020B0604020202020204" pitchFamily="34" charset="0"/>
                        </a:rPr>
                        <a:t> HER2 </a:t>
                      </a:r>
                      <a:r>
                        <a:rPr lang="en-US" sz="1300" u="none" strike="noStrike" dirty="0" err="1">
                          <a:effectLst/>
                          <a:latin typeface="Arial" panose="020B0604020202020204" pitchFamily="34" charset="0"/>
                          <a:cs typeface="Arial" panose="020B0604020202020204" pitchFamily="34" charset="0"/>
                        </a:rPr>
                        <a:t>mạnh</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không</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đáp</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ứng</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với</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nội</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tiết</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63005163"/>
                  </a:ext>
                </a:extLst>
              </a:tr>
              <a:tr h="319769">
                <a:tc>
                  <a:txBody>
                    <a:bodyPr/>
                    <a:lstStyle/>
                    <a:p>
                      <a:pPr algn="ctr" fontAlgn="ctr"/>
                      <a:r>
                        <a:rPr lang="en-US" sz="1300" b="1" u="none" strike="noStrike" dirty="0" err="1">
                          <a:effectLst/>
                          <a:latin typeface="Arial" panose="020B0604020202020204" pitchFamily="34" charset="0"/>
                          <a:cs typeface="Arial" panose="020B0604020202020204" pitchFamily="34" charset="0"/>
                        </a:rPr>
                        <a:t>Đánh</a:t>
                      </a:r>
                      <a:r>
                        <a:rPr lang="en-US" sz="1300" b="1" u="none" strike="noStrike" dirty="0">
                          <a:effectLst/>
                          <a:latin typeface="Arial" panose="020B0604020202020204" pitchFamily="34" charset="0"/>
                          <a:cs typeface="Arial" panose="020B0604020202020204" pitchFamily="34" charset="0"/>
                        </a:rPr>
                        <a:t> </a:t>
                      </a:r>
                      <a:r>
                        <a:rPr lang="en-US" sz="1300" b="1" u="none" strike="noStrike" dirty="0" err="1">
                          <a:effectLst/>
                          <a:latin typeface="Arial" panose="020B0604020202020204" pitchFamily="34" charset="0"/>
                          <a:cs typeface="Arial" panose="020B0604020202020204" pitchFamily="34" charset="0"/>
                        </a:rPr>
                        <a:t>giá</a:t>
                      </a:r>
                      <a:r>
                        <a:rPr lang="en-US" sz="1300" b="1" u="none" strike="noStrike" dirty="0">
                          <a:effectLst/>
                          <a:latin typeface="Arial" panose="020B0604020202020204" pitchFamily="34" charset="0"/>
                          <a:cs typeface="Arial" panose="020B0604020202020204" pitchFamily="34" charset="0"/>
                        </a:rPr>
                        <a:t> Ki-67</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300" u="none" strike="noStrike">
                          <a:effectLst/>
                          <a:latin typeface="Arial" panose="020B0604020202020204" pitchFamily="34" charset="0"/>
                          <a:cs typeface="Arial" panose="020B0604020202020204" pitchFamily="34" charset="0"/>
                        </a:rPr>
                        <a:t>Thường cao</a:t>
                      </a:r>
                      <a:endParaRPr lang="vi-VN"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a:effectLst/>
                          <a:latin typeface="Arial" panose="020B0604020202020204" pitchFamily="34" charset="0"/>
                          <a:cs typeface="Arial" panose="020B0604020202020204" pitchFamily="34" charset="0"/>
                        </a:rPr>
                        <a:t>Thấp (&lt;14%)</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a:effectLst/>
                          <a:latin typeface="Arial" panose="020B0604020202020204" pitchFamily="34" charset="0"/>
                          <a:cs typeface="Arial" panose="020B0604020202020204" pitchFamily="34" charset="0"/>
                        </a:rPr>
                        <a:t>Cao (&gt;14%)</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300" u="none" strike="noStrike" dirty="0">
                          <a:effectLst/>
                          <a:latin typeface="Arial" panose="020B0604020202020204" pitchFamily="34" charset="0"/>
                          <a:cs typeface="Arial" panose="020B0604020202020204" pitchFamily="34" charset="0"/>
                        </a:rPr>
                        <a:t>Cao (&gt;20%)</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856" marR="6856" marT="6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34246536"/>
                  </a:ext>
                </a:extLst>
              </a:tr>
            </a:tbl>
          </a:graphicData>
        </a:graphic>
      </p:graphicFrame>
    </p:spTree>
    <p:extLst>
      <p:ext uri="{BB962C8B-B14F-4D97-AF65-F5344CB8AC3E}">
        <p14:creationId xmlns:p14="http://schemas.microsoft.com/office/powerpoint/2010/main" val="19897519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8C024818-F109-28C0-F2CA-65EB3634CDA2}"/>
              </a:ext>
            </a:extLst>
          </p:cNvPr>
          <p:cNvGraphicFramePr>
            <a:graphicFrameLocks noGrp="1"/>
          </p:cNvGraphicFramePr>
          <p:nvPr>
            <p:extLst>
              <p:ext uri="{D42A27DB-BD31-4B8C-83A1-F6EECF244321}">
                <p14:modId xmlns:p14="http://schemas.microsoft.com/office/powerpoint/2010/main" val="379732441"/>
              </p:ext>
            </p:extLst>
          </p:nvPr>
        </p:nvGraphicFramePr>
        <p:xfrm>
          <a:off x="742378" y="1266941"/>
          <a:ext cx="7659243" cy="3606682"/>
        </p:xfrm>
        <a:graphic>
          <a:graphicData uri="http://schemas.openxmlformats.org/drawingml/2006/table">
            <a:tbl>
              <a:tblPr/>
              <a:tblGrid>
                <a:gridCol w="2553081">
                  <a:extLst>
                    <a:ext uri="{9D8B030D-6E8A-4147-A177-3AD203B41FA5}">
                      <a16:colId xmlns:a16="http://schemas.microsoft.com/office/drawing/2014/main" xmlns="" val="3913219920"/>
                    </a:ext>
                  </a:extLst>
                </a:gridCol>
                <a:gridCol w="2553081">
                  <a:extLst>
                    <a:ext uri="{9D8B030D-6E8A-4147-A177-3AD203B41FA5}">
                      <a16:colId xmlns:a16="http://schemas.microsoft.com/office/drawing/2014/main" xmlns="" val="671879556"/>
                    </a:ext>
                  </a:extLst>
                </a:gridCol>
                <a:gridCol w="2553081">
                  <a:extLst>
                    <a:ext uri="{9D8B030D-6E8A-4147-A177-3AD203B41FA5}">
                      <a16:colId xmlns:a16="http://schemas.microsoft.com/office/drawing/2014/main" xmlns="" val="576881553"/>
                    </a:ext>
                  </a:extLst>
                </a:gridCol>
              </a:tblGrid>
              <a:tr h="515240">
                <a:tc>
                  <a:txBody>
                    <a:bodyPr/>
                    <a:lstStyle/>
                    <a:p>
                      <a:r>
                        <a:rPr lang="en-US" sz="1300" b="1" dirty="0" err="1">
                          <a:latin typeface="Arial" panose="020B0604020202020204" pitchFamily="34" charset="0"/>
                          <a:cs typeface="Arial" panose="020B0604020202020204" pitchFamily="34" charset="0"/>
                        </a:rPr>
                        <a:t>Dòng</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tế</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bào</a:t>
                      </a:r>
                      <a:endParaRPr lang="en-US" sz="1300" dirty="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vi-VN" sz="1300" b="1">
                          <a:latin typeface="Arial" panose="020B0604020202020204" pitchFamily="34" charset="0"/>
                          <a:cs typeface="Arial" panose="020B0604020202020204" pitchFamily="34" charset="0"/>
                        </a:rPr>
                        <a:t>Phân nhóm ung thư vú đại diện</a:t>
                      </a:r>
                      <a:endParaRPr lang="vi-VN" sz="130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1">
                          <a:latin typeface="Arial" panose="020B0604020202020204" pitchFamily="34" charset="0"/>
                          <a:cs typeface="Arial" panose="020B0604020202020204" pitchFamily="34" charset="0"/>
                        </a:rPr>
                        <a:t>Đặc điểm nổi bật</a:t>
                      </a:r>
                      <a:endParaRPr lang="en-US" sz="130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636412559"/>
                  </a:ext>
                </a:extLst>
              </a:tr>
              <a:tr h="956875">
                <a:tc>
                  <a:txBody>
                    <a:bodyPr/>
                    <a:lstStyle/>
                    <a:p>
                      <a:r>
                        <a:rPr lang="en-US" sz="1300" b="1" dirty="0">
                          <a:latin typeface="Arial" panose="020B0604020202020204" pitchFamily="34" charset="0"/>
                          <a:cs typeface="Arial" panose="020B0604020202020204" pitchFamily="34" charset="0"/>
                        </a:rPr>
                        <a:t>MCF-7</a:t>
                      </a:r>
                      <a:endParaRPr lang="en-US" sz="1300" dirty="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1">
                          <a:latin typeface="Arial" panose="020B0604020202020204" pitchFamily="34" charset="0"/>
                          <a:cs typeface="Arial" panose="020B0604020202020204" pitchFamily="34" charset="0"/>
                        </a:rPr>
                        <a:t>Luminal A</a:t>
                      </a:r>
                      <a:endParaRPr lang="en-US" sz="130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vi-VN" sz="1300">
                          <a:latin typeface="Arial" panose="020B0604020202020204" pitchFamily="34" charset="0"/>
                          <a:cs typeface="Arial" panose="020B0604020202020204" pitchFamily="34" charset="0"/>
                        </a:rPr>
                        <a:t>- ER+ (dương tính với thụ thể estrogen)  </a:t>
                      </a:r>
                      <a:br>
                        <a:rPr lang="vi-VN" sz="1300">
                          <a:latin typeface="Arial" panose="020B0604020202020204" pitchFamily="34" charset="0"/>
                          <a:cs typeface="Arial" panose="020B0604020202020204" pitchFamily="34" charset="0"/>
                        </a:rPr>
                      </a:br>
                      <a:r>
                        <a:rPr lang="vi-VN" sz="1300">
                          <a:latin typeface="Arial" panose="020B0604020202020204" pitchFamily="34" charset="0"/>
                          <a:cs typeface="Arial" panose="020B0604020202020204" pitchFamily="34" charset="0"/>
                        </a:rPr>
                        <a:t>- Ít xâm lấn, tăng trưởng chậm </a:t>
                      </a:r>
                      <a:br>
                        <a:rPr lang="vi-VN" sz="1300">
                          <a:latin typeface="Arial" panose="020B0604020202020204" pitchFamily="34" charset="0"/>
                          <a:cs typeface="Arial" panose="020B0604020202020204" pitchFamily="34" charset="0"/>
                        </a:rPr>
                      </a:br>
                      <a:r>
                        <a:rPr lang="vi-VN" sz="1300">
                          <a:latin typeface="Arial" panose="020B0604020202020204" pitchFamily="34" charset="0"/>
                          <a:cs typeface="Arial" panose="020B0604020202020204" pitchFamily="34" charset="0"/>
                        </a:rPr>
                        <a:t>- Nhạy với liệu pháp hormone</a:t>
                      </a: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839634231"/>
                  </a:ext>
                </a:extLst>
              </a:tr>
              <a:tr h="1177692">
                <a:tc>
                  <a:txBody>
                    <a:bodyPr/>
                    <a:lstStyle/>
                    <a:p>
                      <a:r>
                        <a:rPr lang="en-US" sz="1300" b="1" dirty="0">
                          <a:latin typeface="Arial" panose="020B0604020202020204" pitchFamily="34" charset="0"/>
                          <a:cs typeface="Arial" panose="020B0604020202020204" pitchFamily="34" charset="0"/>
                        </a:rPr>
                        <a:t>MDA-MB-231</a:t>
                      </a:r>
                      <a:endParaRPr lang="en-US" sz="1300" dirty="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1">
                          <a:latin typeface="Arial" panose="020B0604020202020204" pitchFamily="34" charset="0"/>
                          <a:cs typeface="Arial" panose="020B0604020202020204" pitchFamily="34" charset="0"/>
                        </a:rPr>
                        <a:t>TNBC (claudin-low subtype)</a:t>
                      </a:r>
                      <a:endParaRPr lang="en-US" sz="130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vi-VN" sz="1300">
                          <a:latin typeface="Arial" panose="020B0604020202020204" pitchFamily="34" charset="0"/>
                          <a:cs typeface="Arial" panose="020B0604020202020204" pitchFamily="34" charset="0"/>
                        </a:rPr>
                        <a:t>- Thiếu ER, PR, HER2 (triple-negative) </a:t>
                      </a:r>
                      <a:br>
                        <a:rPr lang="vi-VN" sz="1300">
                          <a:latin typeface="Arial" panose="020B0604020202020204" pitchFamily="34" charset="0"/>
                          <a:cs typeface="Arial" panose="020B0604020202020204" pitchFamily="34" charset="0"/>
                        </a:rPr>
                      </a:br>
                      <a:r>
                        <a:rPr lang="vi-VN" sz="1300">
                          <a:latin typeface="Arial" panose="020B0604020202020204" pitchFamily="34" charset="0"/>
                          <a:cs typeface="Arial" panose="020B0604020202020204" pitchFamily="34" charset="0"/>
                        </a:rPr>
                        <a:t>- Di căn cao, xâm lấn mạnh </a:t>
                      </a:r>
                      <a:br>
                        <a:rPr lang="vi-VN" sz="1300">
                          <a:latin typeface="Arial" panose="020B0604020202020204" pitchFamily="34" charset="0"/>
                          <a:cs typeface="Arial" panose="020B0604020202020204" pitchFamily="34" charset="0"/>
                        </a:rPr>
                      </a:br>
                      <a:r>
                        <a:rPr lang="vi-VN" sz="1300">
                          <a:latin typeface="Arial" panose="020B0604020202020204" pitchFamily="34" charset="0"/>
                          <a:cs typeface="Arial" panose="020B0604020202020204" pitchFamily="34" charset="0"/>
                        </a:rPr>
                        <a:t>- Đặc điểm giống ung thư vú thể trung mô</a:t>
                      </a: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14434784"/>
                  </a:ext>
                </a:extLst>
              </a:tr>
              <a:tr h="956875">
                <a:tc>
                  <a:txBody>
                    <a:bodyPr/>
                    <a:lstStyle/>
                    <a:p>
                      <a:r>
                        <a:rPr lang="en-US" sz="1300" b="1">
                          <a:latin typeface="Arial" panose="020B0604020202020204" pitchFamily="34" charset="0"/>
                          <a:cs typeface="Arial" panose="020B0604020202020204" pitchFamily="34" charset="0"/>
                        </a:rPr>
                        <a:t>MDA-MB-468</a:t>
                      </a:r>
                      <a:endParaRPr lang="en-US" sz="130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1">
                          <a:latin typeface="Arial" panose="020B0604020202020204" pitchFamily="34" charset="0"/>
                          <a:cs typeface="Arial" panose="020B0604020202020204" pitchFamily="34" charset="0"/>
                        </a:rPr>
                        <a:t>TNBC (basal-like subtype)</a:t>
                      </a:r>
                      <a:endParaRPr lang="en-US" sz="1300">
                        <a:latin typeface="Arial" panose="020B0604020202020204" pitchFamily="34" charset="0"/>
                        <a:cs typeface="Arial" panose="020B0604020202020204" pitchFamily="34" charset="0"/>
                      </a:endParaRP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Cũng</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là</a:t>
                      </a:r>
                      <a:r>
                        <a:rPr lang="en-US" sz="1300" dirty="0">
                          <a:latin typeface="Arial" panose="020B0604020202020204" pitchFamily="34" charset="0"/>
                          <a:cs typeface="Arial" panose="020B0604020202020204" pitchFamily="34" charset="0"/>
                        </a:rPr>
                        <a:t> triple-negative </a:t>
                      </a:r>
                      <a:br>
                        <a:rPr lang="en-US" sz="1300" dirty="0">
                          <a:latin typeface="Arial" panose="020B0604020202020204" pitchFamily="34" charset="0"/>
                          <a:cs typeface="Arial" panose="020B0604020202020204" pitchFamily="34" charset="0"/>
                        </a:rPr>
                      </a:b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Tăng</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biểu</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hiện</a:t>
                      </a:r>
                      <a:r>
                        <a:rPr lang="en-US" sz="1300" dirty="0">
                          <a:latin typeface="Arial" panose="020B0604020202020204" pitchFamily="34" charset="0"/>
                          <a:cs typeface="Arial" panose="020B0604020202020204" pitchFamily="34" charset="0"/>
                        </a:rPr>
                        <a:t> EGFR </a:t>
                      </a:r>
                      <a:br>
                        <a:rPr lang="en-US" sz="1300" dirty="0">
                          <a:latin typeface="Arial" panose="020B0604020202020204" pitchFamily="34" charset="0"/>
                          <a:cs typeface="Arial" panose="020B0604020202020204" pitchFamily="34" charset="0"/>
                        </a:rPr>
                      </a:b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Đặc</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điểm</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giống</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tế</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bào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biểu</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mô</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tuyến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nền</a:t>
                      </a:r>
                      <a:r>
                        <a:rPr lang="en-US" sz="1300" dirty="0">
                          <a:latin typeface="Arial" panose="020B0604020202020204" pitchFamily="34" charset="0"/>
                          <a:cs typeface="Arial" panose="020B0604020202020204" pitchFamily="34" charset="0"/>
                        </a:rPr>
                        <a:t> (basal cells)</a:t>
                      </a:r>
                    </a:p>
                  </a:txBody>
                  <a:tcPr marL="66602" marR="66602" marT="33301" marB="333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910820036"/>
                  </a:ext>
                </a:extLst>
              </a:tr>
            </a:tbl>
          </a:graphicData>
        </a:graphic>
      </p:graphicFrame>
    </p:spTree>
    <p:extLst>
      <p:ext uri="{BB962C8B-B14F-4D97-AF65-F5344CB8AC3E}">
        <p14:creationId xmlns:p14="http://schemas.microsoft.com/office/powerpoint/2010/main" val="21561353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0EEBB261-D5CE-93A4-CFDA-08DA84E4330D}"/>
              </a:ext>
            </a:extLst>
          </p:cNvPr>
          <p:cNvGraphicFramePr>
            <a:graphicFrameLocks noGrp="1"/>
          </p:cNvGraphicFramePr>
          <p:nvPr>
            <p:extLst>
              <p:ext uri="{D42A27DB-BD31-4B8C-83A1-F6EECF244321}">
                <p14:modId xmlns:p14="http://schemas.microsoft.com/office/powerpoint/2010/main" val="3407583599"/>
              </p:ext>
            </p:extLst>
          </p:nvPr>
        </p:nvGraphicFramePr>
        <p:xfrm>
          <a:off x="407010" y="371785"/>
          <a:ext cx="8361432" cy="6283239"/>
        </p:xfrm>
        <a:graphic>
          <a:graphicData uri="http://schemas.openxmlformats.org/drawingml/2006/table">
            <a:tbl>
              <a:tblPr/>
              <a:tblGrid>
                <a:gridCol w="2787144">
                  <a:extLst>
                    <a:ext uri="{9D8B030D-6E8A-4147-A177-3AD203B41FA5}">
                      <a16:colId xmlns:a16="http://schemas.microsoft.com/office/drawing/2014/main" xmlns="" val="947237719"/>
                    </a:ext>
                  </a:extLst>
                </a:gridCol>
                <a:gridCol w="2787144">
                  <a:extLst>
                    <a:ext uri="{9D8B030D-6E8A-4147-A177-3AD203B41FA5}">
                      <a16:colId xmlns:a16="http://schemas.microsoft.com/office/drawing/2014/main" xmlns="" val="3149646890"/>
                    </a:ext>
                  </a:extLst>
                </a:gridCol>
                <a:gridCol w="2787144">
                  <a:extLst>
                    <a:ext uri="{9D8B030D-6E8A-4147-A177-3AD203B41FA5}">
                      <a16:colId xmlns:a16="http://schemas.microsoft.com/office/drawing/2014/main" xmlns="" val="715871081"/>
                    </a:ext>
                  </a:extLst>
                </a:gridCol>
              </a:tblGrid>
              <a:tr h="821760">
                <a:tc>
                  <a:txBody>
                    <a:bodyPr/>
                    <a:lstStyle/>
                    <a:p>
                      <a:r>
                        <a:rPr lang="en-US" sz="1300" b="1" dirty="0" err="1">
                          <a:latin typeface="Arial" panose="020B0604020202020204" pitchFamily="34" charset="0"/>
                          <a:cs typeface="Arial" panose="020B0604020202020204" pitchFamily="34" charset="0"/>
                        </a:rPr>
                        <a:t>Tiêu</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chí</a:t>
                      </a:r>
                      <a:endParaRPr lang="en-US" sz="1300"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a:latin typeface="Arial" panose="020B0604020202020204" pitchFamily="34" charset="0"/>
                          <a:cs typeface="Arial" panose="020B0604020202020204" pitchFamily="34" charset="0"/>
                        </a:rPr>
                        <a:t>IHC (Immunohistochemistry)</a:t>
                      </a:r>
                      <a:endParaRPr lang="en-US" sz="130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a:latin typeface="Arial" panose="020B0604020202020204" pitchFamily="34" charset="0"/>
                          <a:cs typeface="Arial" panose="020B0604020202020204" pitchFamily="34" charset="0"/>
                        </a:rPr>
                        <a:t>ICC (Immunocytochemistry)</a:t>
                      </a:r>
                      <a:endParaRPr lang="en-US" sz="130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647766348"/>
                  </a:ext>
                </a:extLst>
              </a:tr>
              <a:tr h="408838">
                <a:tc>
                  <a:txBody>
                    <a:bodyPr/>
                    <a:lstStyle/>
                    <a:p>
                      <a:r>
                        <a:rPr lang="en-US" sz="1300" b="1" dirty="0" err="1">
                          <a:latin typeface="Arial" panose="020B0604020202020204" pitchFamily="34" charset="0"/>
                          <a:cs typeface="Arial" panose="020B0604020202020204" pitchFamily="34" charset="0"/>
                        </a:rPr>
                        <a:t>Tên</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đầy</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đủ</a:t>
                      </a:r>
                      <a:endParaRPr lang="en-US" sz="1300"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err="1">
                          <a:latin typeface="Arial" panose="020B0604020202020204" pitchFamily="34" charset="0"/>
                          <a:cs typeface="Arial" panose="020B0604020202020204" pitchFamily="34" charset="0"/>
                        </a:rPr>
                        <a:t>Miễn</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dịch</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hóa</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mô</a:t>
                      </a:r>
                      <a:endParaRPr lang="en-US" sz="1300" b="1"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err="1">
                          <a:latin typeface="Arial" panose="020B0604020202020204" pitchFamily="34" charset="0"/>
                          <a:cs typeface="Arial" panose="020B0604020202020204" pitchFamily="34" charset="0"/>
                        </a:rPr>
                        <a:t>Miễn</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dịch</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hóa</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tế</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bào</a:t>
                      </a:r>
                      <a:endParaRPr lang="en-US" sz="1300" b="1"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171244678"/>
                  </a:ext>
                </a:extLst>
              </a:tr>
              <a:tr h="721806">
                <a:tc>
                  <a:txBody>
                    <a:bodyPr/>
                    <a:lstStyle/>
                    <a:p>
                      <a:r>
                        <a:rPr lang="en-US" sz="1300" b="1" dirty="0" err="1">
                          <a:latin typeface="Arial" panose="020B0604020202020204" pitchFamily="34" charset="0"/>
                          <a:cs typeface="Arial" panose="020B0604020202020204" pitchFamily="34" charset="0"/>
                        </a:rPr>
                        <a:t>Mẫu</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sử</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dụng</a:t>
                      </a:r>
                      <a:endParaRPr lang="en-US" sz="1300"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dirty="0" err="1">
                          <a:highlight>
                            <a:srgbClr val="FFFF00"/>
                          </a:highlight>
                          <a:latin typeface="Arial" panose="020B0604020202020204" pitchFamily="34" charset="0"/>
                          <a:cs typeface="Arial" panose="020B0604020202020204" pitchFamily="34" charset="0"/>
                        </a:rPr>
                        <a:t>Mẫu</a:t>
                      </a:r>
                      <a:r>
                        <a:rPr lang="en-US" sz="1300" dirty="0">
                          <a:highlight>
                            <a:srgbClr val="FFFF00"/>
                          </a:highlight>
                          <a:latin typeface="Arial" panose="020B0604020202020204" pitchFamily="34" charset="0"/>
                          <a:cs typeface="Arial" panose="020B0604020202020204" pitchFamily="34" charset="0"/>
                        </a:rPr>
                        <a:t> </a:t>
                      </a:r>
                      <a:r>
                        <a:rPr lang="en-US" sz="1300" dirty="0" err="1">
                          <a:highlight>
                            <a:srgbClr val="FFFF00"/>
                          </a:highlight>
                          <a:latin typeface="Arial" panose="020B0604020202020204" pitchFamily="34" charset="0"/>
                          <a:cs typeface="Arial" panose="020B0604020202020204" pitchFamily="34" charset="0"/>
                        </a:rPr>
                        <a:t>mô</a:t>
                      </a:r>
                      <a:r>
                        <a:rPr lang="en-US" sz="1300" dirty="0">
                          <a:highlight>
                            <a:srgbClr val="FFFF00"/>
                          </a:highlight>
                          <a:latin typeface="Arial" panose="020B0604020202020204" pitchFamily="34" charset="0"/>
                          <a:cs typeface="Arial" panose="020B0604020202020204" pitchFamily="34" charset="0"/>
                        </a:rPr>
                        <a:t> (tissue) – </a:t>
                      </a:r>
                      <a:r>
                        <a:rPr lang="en-US" sz="1300" dirty="0" err="1">
                          <a:highlight>
                            <a:srgbClr val="FFFF00"/>
                          </a:highlight>
                          <a:latin typeface="Arial" panose="020B0604020202020204" pitchFamily="34" charset="0"/>
                          <a:cs typeface="Arial" panose="020B0604020202020204" pitchFamily="34" charset="0"/>
                        </a:rPr>
                        <a:t>từ</a:t>
                      </a:r>
                      <a:r>
                        <a:rPr lang="en-US" sz="1300" dirty="0">
                          <a:highlight>
                            <a:srgbClr val="FFFF00"/>
                          </a:highlight>
                          <a:latin typeface="Arial" panose="020B0604020202020204" pitchFamily="34" charset="0"/>
                          <a:cs typeface="Arial" panose="020B0604020202020204" pitchFamily="34" charset="0"/>
                        </a:rPr>
                        <a:t> </a:t>
                      </a:r>
                      <a:r>
                        <a:rPr lang="en-US" sz="1300" dirty="0" err="1">
                          <a:highlight>
                            <a:srgbClr val="FFFF00"/>
                          </a:highlight>
                          <a:latin typeface="Arial" panose="020B0604020202020204" pitchFamily="34" charset="0"/>
                          <a:cs typeface="Arial" panose="020B0604020202020204" pitchFamily="34" charset="0"/>
                        </a:rPr>
                        <a:t>sinh</a:t>
                      </a:r>
                      <a:r>
                        <a:rPr lang="en-US" sz="1300" dirty="0">
                          <a:highlight>
                            <a:srgbClr val="FFFF00"/>
                          </a:highlight>
                          <a:latin typeface="Arial" panose="020B0604020202020204" pitchFamily="34" charset="0"/>
                          <a:cs typeface="Arial" panose="020B0604020202020204" pitchFamily="34" charset="0"/>
                        </a:rPr>
                        <a:t> </a:t>
                      </a:r>
                      <a:r>
                        <a:rPr lang="en-US" sz="1300" dirty="0" err="1">
                          <a:highlight>
                            <a:srgbClr val="FFFF00"/>
                          </a:highlight>
                          <a:latin typeface="Arial" panose="020B0604020202020204" pitchFamily="34" charset="0"/>
                          <a:cs typeface="Arial" panose="020B0604020202020204" pitchFamily="34" charset="0"/>
                        </a:rPr>
                        <a:t>thiết</a:t>
                      </a:r>
                      <a:r>
                        <a:rPr lang="en-US" sz="1300" dirty="0">
                          <a:highlight>
                            <a:srgbClr val="FFFF00"/>
                          </a:highlight>
                          <a:latin typeface="Arial" panose="020B0604020202020204" pitchFamily="34" charset="0"/>
                          <a:cs typeface="Arial" panose="020B0604020202020204" pitchFamily="34" charset="0"/>
                        </a:rPr>
                        <a:t> </a:t>
                      </a:r>
                      <a:r>
                        <a:rPr lang="en-US" sz="1300" dirty="0" err="1">
                          <a:highlight>
                            <a:srgbClr val="FFFF00"/>
                          </a:highlight>
                          <a:latin typeface="Arial" panose="020B0604020202020204" pitchFamily="34" charset="0"/>
                          <a:cs typeface="Arial" panose="020B0604020202020204" pitchFamily="34" charset="0"/>
                        </a:rPr>
                        <a:t>hoặc</a:t>
                      </a:r>
                      <a:r>
                        <a:rPr lang="en-US" sz="1300" dirty="0">
                          <a:highlight>
                            <a:srgbClr val="FFFF00"/>
                          </a:highlight>
                          <a:latin typeface="Arial" panose="020B0604020202020204" pitchFamily="34" charset="0"/>
                          <a:cs typeface="Arial" panose="020B0604020202020204" pitchFamily="34" charset="0"/>
                        </a:rPr>
                        <a:t> </a:t>
                      </a:r>
                      <a:r>
                        <a:rPr lang="en-US" sz="1300" dirty="0" err="1">
                          <a:highlight>
                            <a:srgbClr val="FFFF00"/>
                          </a:highlight>
                          <a:latin typeface="Arial" panose="020B0604020202020204" pitchFamily="34" charset="0"/>
                          <a:cs typeface="Arial" panose="020B0604020202020204" pitchFamily="34" charset="0"/>
                        </a:rPr>
                        <a:t>mô</a:t>
                      </a:r>
                      <a:r>
                        <a:rPr lang="en-US" sz="1300" dirty="0">
                          <a:highlight>
                            <a:srgbClr val="FFFF00"/>
                          </a:highlight>
                          <a:latin typeface="Arial" panose="020B0604020202020204" pitchFamily="34" charset="0"/>
                          <a:cs typeface="Arial" panose="020B0604020202020204" pitchFamily="34" charset="0"/>
                        </a:rPr>
                        <a:t> </a:t>
                      </a:r>
                      <a:r>
                        <a:rPr lang="en-US" sz="1300" dirty="0" err="1">
                          <a:highlight>
                            <a:srgbClr val="FFFF00"/>
                          </a:highlight>
                          <a:latin typeface="Arial" panose="020B0604020202020204" pitchFamily="34" charset="0"/>
                          <a:cs typeface="Arial" panose="020B0604020202020204" pitchFamily="34" charset="0"/>
                        </a:rPr>
                        <a:t>bệnh</a:t>
                      </a:r>
                      <a:r>
                        <a:rPr lang="en-US" sz="1300" dirty="0">
                          <a:highlight>
                            <a:srgbClr val="FFFF00"/>
                          </a:highlight>
                          <a:latin typeface="Arial" panose="020B0604020202020204" pitchFamily="34" charset="0"/>
                          <a:cs typeface="Arial" panose="020B0604020202020204" pitchFamily="34" charset="0"/>
                        </a:rPr>
                        <a:t> </a:t>
                      </a:r>
                      <a:r>
                        <a:rPr lang="en-US" sz="1300" dirty="0" err="1">
                          <a:highlight>
                            <a:srgbClr val="FFFF00"/>
                          </a:highlight>
                          <a:latin typeface="Arial" panose="020B0604020202020204" pitchFamily="34" charset="0"/>
                          <a:cs typeface="Arial" panose="020B0604020202020204" pitchFamily="34" charset="0"/>
                        </a:rPr>
                        <a:t>học</a:t>
                      </a:r>
                      <a:endParaRPr lang="en-US" sz="1300" dirty="0">
                        <a:highlight>
                          <a:srgbClr val="FFFF00"/>
                        </a:highlight>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dirty="0">
                          <a:highlight>
                            <a:srgbClr val="FFFF00"/>
                          </a:highlight>
                          <a:latin typeface="Arial" panose="020B0604020202020204" pitchFamily="34" charset="0"/>
                          <a:cs typeface="Arial" panose="020B0604020202020204" pitchFamily="34" charset="0"/>
                        </a:rPr>
                        <a:t>Mẫu tế bào (cells) – từ nuôi cấy hoặc dịch cơ thể</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594486410"/>
                  </a:ext>
                </a:extLst>
              </a:tr>
              <a:tr h="721806">
                <a:tc>
                  <a:txBody>
                    <a:bodyPr/>
                    <a:lstStyle/>
                    <a:p>
                      <a:r>
                        <a:rPr lang="en-US" sz="1300" b="1" dirty="0" err="1">
                          <a:latin typeface="Arial" panose="020B0604020202020204" pitchFamily="34" charset="0"/>
                          <a:cs typeface="Arial" panose="020B0604020202020204" pitchFamily="34" charset="0"/>
                        </a:rPr>
                        <a:t>Ứng</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dụng</a:t>
                      </a:r>
                      <a:endParaRPr lang="en-US" sz="1300"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dirty="0">
                          <a:solidFill>
                            <a:srgbClr val="FF0000"/>
                          </a:solidFill>
                          <a:latin typeface="Arial" panose="020B0604020202020204" pitchFamily="34" charset="0"/>
                          <a:cs typeface="Arial" panose="020B0604020202020204" pitchFamily="34" charset="0"/>
                        </a:rPr>
                        <a:t>- Phân tích dấu ấn sinh học trong tổ chức mô</a:t>
                      </a:r>
                      <a:br>
                        <a:rPr lang="vi-VN" sz="1300" dirty="0">
                          <a:solidFill>
                            <a:srgbClr val="FF0000"/>
                          </a:solidFill>
                          <a:latin typeface="Arial" panose="020B0604020202020204" pitchFamily="34" charset="0"/>
                          <a:cs typeface="Arial" panose="020B0604020202020204" pitchFamily="34" charset="0"/>
                        </a:rPr>
                      </a:br>
                      <a:r>
                        <a:rPr lang="vi-VN" sz="1300" dirty="0">
                          <a:solidFill>
                            <a:srgbClr val="FF0000"/>
                          </a:solidFill>
                          <a:latin typeface="Arial" panose="020B0604020202020204" pitchFamily="34" charset="0"/>
                          <a:cs typeface="Arial" panose="020B0604020202020204" pitchFamily="34" charset="0"/>
                        </a:rPr>
                        <a:t>- Phân nhóm ung thư</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dirty="0">
                          <a:solidFill>
                            <a:srgbClr val="FF0000"/>
                          </a:solidFill>
                          <a:latin typeface="Arial" panose="020B0604020202020204" pitchFamily="34" charset="0"/>
                          <a:cs typeface="Arial" panose="020B0604020202020204" pitchFamily="34" charset="0"/>
                        </a:rPr>
                        <a:t>- </a:t>
                      </a:r>
                      <a:r>
                        <a:rPr lang="en-US" sz="1300" dirty="0" err="1">
                          <a:solidFill>
                            <a:srgbClr val="FF0000"/>
                          </a:solidFill>
                          <a:latin typeface="Arial" panose="020B0604020202020204" pitchFamily="34" charset="0"/>
                          <a:cs typeface="Arial" panose="020B0604020202020204" pitchFamily="34" charset="0"/>
                        </a:rPr>
                        <a:t>Phân</a:t>
                      </a:r>
                      <a:r>
                        <a:rPr lang="en-US" sz="1300" dirty="0">
                          <a:solidFill>
                            <a:srgbClr val="FF0000"/>
                          </a:solidFill>
                          <a:latin typeface="Arial" panose="020B0604020202020204" pitchFamily="34" charset="0"/>
                          <a:cs typeface="Arial" panose="020B0604020202020204" pitchFamily="34" charset="0"/>
                        </a:rPr>
                        <a:t> </a:t>
                      </a:r>
                      <a:r>
                        <a:rPr lang="en-US" sz="1300" dirty="0" err="1">
                          <a:solidFill>
                            <a:srgbClr val="FF0000"/>
                          </a:solidFill>
                          <a:latin typeface="Arial" panose="020B0604020202020204" pitchFamily="34" charset="0"/>
                          <a:cs typeface="Arial" panose="020B0604020202020204" pitchFamily="34" charset="0"/>
                        </a:rPr>
                        <a:t>tích</a:t>
                      </a:r>
                      <a:r>
                        <a:rPr lang="en-US" sz="1300" dirty="0">
                          <a:solidFill>
                            <a:srgbClr val="FF0000"/>
                          </a:solidFill>
                          <a:latin typeface="Arial" panose="020B0604020202020204" pitchFamily="34" charset="0"/>
                          <a:cs typeface="Arial" panose="020B0604020202020204" pitchFamily="34" charset="0"/>
                        </a:rPr>
                        <a:t> </a:t>
                      </a:r>
                      <a:r>
                        <a:rPr lang="en-US" sz="1300" dirty="0" err="1">
                          <a:solidFill>
                            <a:srgbClr val="FF0000"/>
                          </a:solidFill>
                          <a:latin typeface="Arial" panose="020B0604020202020204" pitchFamily="34" charset="0"/>
                          <a:cs typeface="Arial" panose="020B0604020202020204" pitchFamily="34" charset="0"/>
                        </a:rPr>
                        <a:t>biểu</a:t>
                      </a:r>
                      <a:r>
                        <a:rPr lang="en-US" sz="1300" dirty="0">
                          <a:solidFill>
                            <a:srgbClr val="FF0000"/>
                          </a:solidFill>
                          <a:latin typeface="Arial" panose="020B0604020202020204" pitchFamily="34" charset="0"/>
                          <a:cs typeface="Arial" panose="020B0604020202020204" pitchFamily="34" charset="0"/>
                        </a:rPr>
                        <a:t> </a:t>
                      </a:r>
                      <a:r>
                        <a:rPr lang="en-US" sz="1300" dirty="0" err="1">
                          <a:solidFill>
                            <a:srgbClr val="FF0000"/>
                          </a:solidFill>
                          <a:latin typeface="Arial" panose="020B0604020202020204" pitchFamily="34" charset="0"/>
                          <a:cs typeface="Arial" panose="020B0604020202020204" pitchFamily="34" charset="0"/>
                        </a:rPr>
                        <a:t>hiện</a:t>
                      </a:r>
                      <a:r>
                        <a:rPr lang="en-US" sz="1300" dirty="0">
                          <a:solidFill>
                            <a:srgbClr val="FF0000"/>
                          </a:solidFill>
                          <a:latin typeface="Arial" panose="020B0604020202020204" pitchFamily="34" charset="0"/>
                          <a:cs typeface="Arial" panose="020B0604020202020204" pitchFamily="34" charset="0"/>
                        </a:rPr>
                        <a:t> protein </a:t>
                      </a:r>
                      <a:r>
                        <a:rPr lang="en-US" sz="1300" dirty="0" err="1">
                          <a:solidFill>
                            <a:srgbClr val="FF0000"/>
                          </a:solidFill>
                          <a:latin typeface="Arial" panose="020B0604020202020204" pitchFamily="34" charset="0"/>
                          <a:cs typeface="Arial" panose="020B0604020202020204" pitchFamily="34" charset="0"/>
                        </a:rPr>
                        <a:t>trong</a:t>
                      </a:r>
                      <a:r>
                        <a:rPr lang="en-US" sz="1300" dirty="0">
                          <a:solidFill>
                            <a:srgbClr val="FF0000"/>
                          </a:solidFill>
                          <a:latin typeface="Arial" panose="020B0604020202020204" pitchFamily="34" charset="0"/>
                          <a:cs typeface="Arial" panose="020B0604020202020204" pitchFamily="34" charset="0"/>
                        </a:rPr>
                        <a:t> </a:t>
                      </a:r>
                      <a:r>
                        <a:rPr lang="en-US" sz="1300" b="1" dirty="0" err="1">
                          <a:solidFill>
                            <a:srgbClr val="FF0000"/>
                          </a:solidFill>
                          <a:latin typeface="Arial" panose="020B0604020202020204" pitchFamily="34" charset="0"/>
                          <a:cs typeface="Arial" panose="020B0604020202020204" pitchFamily="34" charset="0"/>
                        </a:rPr>
                        <a:t>tế</a:t>
                      </a:r>
                      <a:r>
                        <a:rPr lang="en-US" sz="1300" b="1" dirty="0">
                          <a:solidFill>
                            <a:srgbClr val="FF0000"/>
                          </a:solidFill>
                          <a:latin typeface="Arial" panose="020B0604020202020204" pitchFamily="34" charset="0"/>
                          <a:cs typeface="Arial" panose="020B0604020202020204" pitchFamily="34" charset="0"/>
                        </a:rPr>
                        <a:t> </a:t>
                      </a:r>
                      <a:r>
                        <a:rPr lang="en-US" sz="1300" b="1" dirty="0" err="1">
                          <a:solidFill>
                            <a:srgbClr val="FF0000"/>
                          </a:solidFill>
                          <a:latin typeface="Arial" panose="020B0604020202020204" pitchFamily="34" charset="0"/>
                          <a:cs typeface="Arial" panose="020B0604020202020204" pitchFamily="34" charset="0"/>
                        </a:rPr>
                        <a:t>bào</a:t>
                      </a:r>
                      <a:r>
                        <a:rPr lang="en-US" sz="1300" b="1" dirty="0">
                          <a:solidFill>
                            <a:srgbClr val="FF0000"/>
                          </a:solidFill>
                          <a:latin typeface="Arial" panose="020B0604020202020204" pitchFamily="34" charset="0"/>
                          <a:cs typeface="Arial" panose="020B0604020202020204" pitchFamily="34" charset="0"/>
                        </a:rPr>
                        <a:t> </a:t>
                      </a:r>
                      <a:r>
                        <a:rPr lang="en-US" sz="1300" b="1" dirty="0" err="1">
                          <a:solidFill>
                            <a:srgbClr val="FF0000"/>
                          </a:solidFill>
                          <a:latin typeface="Arial" panose="020B0604020202020204" pitchFamily="34" charset="0"/>
                          <a:cs typeface="Arial" panose="020B0604020202020204" pitchFamily="34" charset="0"/>
                        </a:rPr>
                        <a:t>riêng</a:t>
                      </a:r>
                      <a:r>
                        <a:rPr lang="en-US" sz="1300" b="1" dirty="0">
                          <a:solidFill>
                            <a:srgbClr val="FF0000"/>
                          </a:solidFill>
                          <a:latin typeface="Arial" panose="020B0604020202020204" pitchFamily="34" charset="0"/>
                          <a:cs typeface="Arial" panose="020B0604020202020204" pitchFamily="34" charset="0"/>
                        </a:rPr>
                        <a:t> </a:t>
                      </a:r>
                      <a:r>
                        <a:rPr lang="en-US" sz="1300" b="1" dirty="0" err="1">
                          <a:solidFill>
                            <a:srgbClr val="FF0000"/>
                          </a:solidFill>
                          <a:latin typeface="Arial" panose="020B0604020202020204" pitchFamily="34" charset="0"/>
                          <a:cs typeface="Arial" panose="020B0604020202020204" pitchFamily="34" charset="0"/>
                        </a:rPr>
                        <a:t>lẻ</a:t>
                      </a:r>
                      <a:endParaRPr lang="en-US" sz="1300" dirty="0">
                        <a:solidFill>
                          <a:srgbClr val="FF0000"/>
                        </a:solidFill>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377596158"/>
                  </a:ext>
                </a:extLst>
              </a:tr>
              <a:tr h="721806">
                <a:tc>
                  <a:txBody>
                    <a:bodyPr/>
                    <a:lstStyle/>
                    <a:p>
                      <a:r>
                        <a:rPr lang="en-US" sz="1300" b="1" dirty="0" err="1">
                          <a:latin typeface="Arial" panose="020B0604020202020204" pitchFamily="34" charset="0"/>
                          <a:cs typeface="Arial" panose="020B0604020202020204" pitchFamily="34" charset="0"/>
                        </a:rPr>
                        <a:t>Chuẩn</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bị</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mẫu</a:t>
                      </a:r>
                      <a:endParaRPr lang="en-US" sz="1300"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latin typeface="Arial" panose="020B0604020202020204" pitchFamily="34" charset="0"/>
                          <a:cs typeface="Arial" panose="020B0604020202020204" pitchFamily="34" charset="0"/>
                        </a:rPr>
                        <a:t>- Khử paraffin</a:t>
                      </a:r>
                      <a:br>
                        <a:rPr lang="en-US" sz="1300">
                          <a:latin typeface="Arial" panose="020B0604020202020204" pitchFamily="34" charset="0"/>
                          <a:cs typeface="Arial" panose="020B0604020202020204" pitchFamily="34" charset="0"/>
                        </a:rPr>
                      </a:br>
                      <a:r>
                        <a:rPr lang="en-US" sz="1300">
                          <a:latin typeface="Arial" panose="020B0604020202020204" pitchFamily="34" charset="0"/>
                          <a:cs typeface="Arial" panose="020B0604020202020204" pitchFamily="34" charset="0"/>
                        </a:rPr>
                        <a:t>- Cắt lát mô mỏng</a:t>
                      </a:r>
                      <a:br>
                        <a:rPr lang="en-US" sz="1300">
                          <a:latin typeface="Arial" panose="020B0604020202020204" pitchFamily="34" charset="0"/>
                          <a:cs typeface="Arial" panose="020B0604020202020204" pitchFamily="34" charset="0"/>
                        </a:rPr>
                      </a:br>
                      <a:r>
                        <a:rPr lang="en-US" sz="1300">
                          <a:latin typeface="Arial" panose="020B0604020202020204" pitchFamily="34" charset="0"/>
                          <a:cs typeface="Arial" panose="020B0604020202020204" pitchFamily="34" charset="0"/>
                        </a:rPr>
                        <a:t>- Gắn lên lam kính</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latin typeface="Arial" panose="020B0604020202020204" pitchFamily="34" charset="0"/>
                          <a:cs typeface="Arial" panose="020B0604020202020204" pitchFamily="34" charset="0"/>
                        </a:rPr>
                        <a:t>- Gắn tế bào trực tiếp lên lam kính</a:t>
                      </a:r>
                      <a:br>
                        <a:rPr lang="en-US" sz="1300">
                          <a:latin typeface="Arial" panose="020B0604020202020204" pitchFamily="34" charset="0"/>
                          <a:cs typeface="Arial" panose="020B0604020202020204" pitchFamily="34" charset="0"/>
                        </a:rPr>
                      </a:br>
                      <a:r>
                        <a:rPr lang="en-US" sz="1300">
                          <a:latin typeface="Arial" panose="020B0604020202020204" pitchFamily="34" charset="0"/>
                          <a:cs typeface="Arial" panose="020B0604020202020204" pitchFamily="34" charset="0"/>
                        </a:rPr>
                        <a:t>- Cố định tế bào</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553652832"/>
                  </a:ext>
                </a:extLst>
              </a:tr>
              <a:tr h="721806">
                <a:tc>
                  <a:txBody>
                    <a:bodyPr/>
                    <a:lstStyle/>
                    <a:p>
                      <a:r>
                        <a:rPr lang="vi-VN" sz="1300" b="1">
                          <a:latin typeface="Arial" panose="020B0604020202020204" pitchFamily="34" charset="0"/>
                          <a:cs typeface="Arial" panose="020B0604020202020204" pitchFamily="34" charset="0"/>
                        </a:rPr>
                        <a:t>Phương pháp</a:t>
                      </a:r>
                      <a:endParaRPr lang="vi-VN" sz="130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latin typeface="Arial" panose="020B0604020202020204" pitchFamily="34" charset="0"/>
                          <a:cs typeface="Arial" panose="020B0604020202020204" pitchFamily="34" charset="0"/>
                        </a:rPr>
                        <a:t>Phức hợp streptavidin–biotin–peroxidase (SABC), DAB tạo màu</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latin typeface="Arial" panose="020B0604020202020204" pitchFamily="34" charset="0"/>
                          <a:cs typeface="Arial" panose="020B0604020202020204" pitchFamily="34" charset="0"/>
                        </a:rPr>
                        <a:t>Phương pháp tương tự IHC (SABC, DAB), thường nhẹ hơn</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983025567"/>
                  </a:ext>
                </a:extLst>
              </a:tr>
              <a:tr h="943927">
                <a:tc>
                  <a:txBody>
                    <a:bodyPr/>
                    <a:lstStyle/>
                    <a:p>
                      <a:r>
                        <a:rPr lang="vi-VN" sz="1300" b="1">
                          <a:latin typeface="Arial" panose="020B0604020202020204" pitchFamily="34" charset="0"/>
                          <a:cs typeface="Arial" panose="020B0604020202020204" pitchFamily="34" charset="0"/>
                        </a:rPr>
                        <a:t>Ưu điểm</a:t>
                      </a:r>
                      <a:endParaRPr lang="vi-VN" sz="130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latin typeface="Arial" panose="020B0604020202020204" pitchFamily="34" charset="0"/>
                          <a:cs typeface="Arial" panose="020B0604020202020204" pitchFamily="34" charset="0"/>
                        </a:rPr>
                        <a:t>- Bối cảnh mô học rõ ràng</a:t>
                      </a:r>
                      <a:br>
                        <a:rPr lang="en-US" sz="1300">
                          <a:latin typeface="Arial" panose="020B0604020202020204" pitchFamily="34" charset="0"/>
                          <a:cs typeface="Arial" panose="020B0604020202020204" pitchFamily="34" charset="0"/>
                        </a:rPr>
                      </a:br>
                      <a:r>
                        <a:rPr lang="en-US" sz="1300">
                          <a:latin typeface="Arial" panose="020B0604020202020204" pitchFamily="34" charset="0"/>
                          <a:cs typeface="Arial" panose="020B0604020202020204" pitchFamily="34" charset="0"/>
                        </a:rPr>
                        <a:t>- Ứng dụng lâm sàng rộng</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latin typeface="Arial" panose="020B0604020202020204" pitchFamily="34" charset="0"/>
                          <a:cs typeface="Arial" panose="020B0604020202020204" pitchFamily="34" charset="0"/>
                        </a:rPr>
                        <a:t>- Phân tích cơ chế tế bào dễ hơn</a:t>
                      </a:r>
                      <a:br>
                        <a:rPr lang="vi-VN" sz="1300">
                          <a:latin typeface="Arial" panose="020B0604020202020204" pitchFamily="34" charset="0"/>
                          <a:cs typeface="Arial" panose="020B0604020202020204" pitchFamily="34" charset="0"/>
                        </a:rPr>
                      </a:br>
                      <a:r>
                        <a:rPr lang="vi-VN" sz="1300">
                          <a:latin typeface="Arial" panose="020B0604020202020204" pitchFamily="34" charset="0"/>
                          <a:cs typeface="Arial" panose="020B0604020202020204" pitchFamily="34" charset="0"/>
                        </a:rPr>
                        <a:t>- Tiện lợi cho nghiên cứu in vitro</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65622777"/>
                  </a:ext>
                </a:extLst>
              </a:tr>
              <a:tr h="499684">
                <a:tc>
                  <a:txBody>
                    <a:bodyPr/>
                    <a:lstStyle/>
                    <a:p>
                      <a:r>
                        <a:rPr lang="vi-VN" sz="1300" b="1">
                          <a:latin typeface="Arial" panose="020B0604020202020204" pitchFamily="34" charset="0"/>
                          <a:cs typeface="Arial" panose="020B0604020202020204" pitchFamily="34" charset="0"/>
                        </a:rPr>
                        <a:t>Nhược điểm</a:t>
                      </a:r>
                      <a:endParaRPr lang="vi-VN" sz="130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latin typeface="Arial" panose="020B0604020202020204" pitchFamily="34" charset="0"/>
                          <a:cs typeface="Arial" panose="020B0604020202020204" pitchFamily="34" charset="0"/>
                        </a:rPr>
                        <a:t>- Quy trình lâu, cần mô tươi hoặc paraffin</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latin typeface="Arial" panose="020B0604020202020204" pitchFamily="34" charset="0"/>
                          <a:cs typeface="Arial" panose="020B0604020202020204" pitchFamily="34" charset="0"/>
                        </a:rPr>
                        <a:t>- Không phản ánh mối liên kết mô học</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393219609"/>
                  </a:ext>
                </a:extLst>
              </a:tr>
              <a:tr h="721806">
                <a:tc>
                  <a:txBody>
                    <a:bodyPr/>
                    <a:lstStyle/>
                    <a:p>
                      <a:r>
                        <a:rPr lang="en-US" sz="1300" b="1" dirty="0" err="1">
                          <a:latin typeface="Arial" panose="020B0604020202020204" pitchFamily="34" charset="0"/>
                          <a:cs typeface="Arial" panose="020B0604020202020204" pitchFamily="34" charset="0"/>
                        </a:rPr>
                        <a:t>Ứng</a:t>
                      </a:r>
                      <a:r>
                        <a:rPr lang="en-US" sz="1300" b="1" dirty="0">
                          <a:latin typeface="Arial" panose="020B0604020202020204" pitchFamily="34" charset="0"/>
                          <a:cs typeface="Arial" panose="020B0604020202020204" pitchFamily="34" charset="0"/>
                        </a:rPr>
                        <a:t> </a:t>
                      </a:r>
                      <a:r>
                        <a:rPr lang="en-US" sz="1300" b="1" dirty="0" err="1">
                          <a:latin typeface="Arial" panose="020B0604020202020204" pitchFamily="34" charset="0"/>
                          <a:cs typeface="Arial" panose="020B0604020202020204" pitchFamily="34" charset="0"/>
                        </a:rPr>
                        <a:t>dụng</a:t>
                      </a:r>
                      <a:endParaRPr lang="en-US" sz="1300" dirty="0">
                        <a:latin typeface="Arial" panose="020B0604020202020204" pitchFamily="34" charset="0"/>
                        <a:cs typeface="Arial" panose="020B0604020202020204" pitchFamily="34" charset="0"/>
                      </a:endParaRP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dirty="0">
                          <a:solidFill>
                            <a:srgbClr val="FF0000"/>
                          </a:solidFill>
                          <a:latin typeface="Arial" panose="020B0604020202020204" pitchFamily="34" charset="0"/>
                          <a:cs typeface="Arial" panose="020B0604020202020204" pitchFamily="34" charset="0"/>
                        </a:rPr>
                        <a:t>Nhuộm ER/PR/HER2 trên mô ung thư vú</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dirty="0">
                          <a:solidFill>
                            <a:srgbClr val="FF0000"/>
                          </a:solidFill>
                          <a:latin typeface="Arial" panose="020B0604020202020204" pitchFamily="34" charset="0"/>
                          <a:cs typeface="Arial" panose="020B0604020202020204" pitchFamily="34" charset="0"/>
                        </a:rPr>
                        <a:t>Nhuộm H3K9me2, H3K27me3 trên dòng tế bào ung thư</a:t>
                      </a:r>
                    </a:p>
                  </a:txBody>
                  <a:tcPr marL="49447" marR="49447" marT="24724" marB="24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515975332"/>
                  </a:ext>
                </a:extLst>
              </a:tr>
            </a:tbl>
          </a:graphicData>
        </a:graphic>
      </p:graphicFrame>
      <p:sp>
        <p:nvSpPr>
          <p:cNvPr id="5" name="Rectangle 1">
            <a:extLst>
              <a:ext uri="{FF2B5EF4-FFF2-40B4-BE49-F238E27FC236}">
                <a16:creationId xmlns:a16="http://schemas.microsoft.com/office/drawing/2014/main" xmlns="" id="{B04479C9-05F8-02E0-D7DE-259D2A63E7AB}"/>
              </a:ext>
            </a:extLst>
          </p:cNvPr>
          <p:cNvSpPr>
            <a:spLocks noChangeArrowheads="1"/>
          </p:cNvSpPr>
          <p:nvPr/>
        </p:nvSpPr>
        <p:spPr bwMode="auto">
          <a:xfrm>
            <a:off x="0" y="90939"/>
            <a:ext cx="3253135" cy="561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x-none" altLang="x-none" sz="1600" b="1" smtClean="0">
                <a:solidFill>
                  <a:srgbClr val="000000"/>
                </a:solidFill>
                <a:latin typeface="Sans Serif Collection"/>
                <a:ea typeface="Sans Serif Collection"/>
                <a:cs typeface="Sans Serif Collection"/>
              </a:rPr>
              <a:t>  </a:t>
            </a:r>
            <a:r>
              <a:rPr lang="x-none" altLang="x-none" sz="1600" b="1" smtClean="0">
                <a:solidFill>
                  <a:srgbClr val="000000"/>
                </a:solidFill>
                <a:latin typeface="Sans Serif Collection"/>
                <a:ea typeface="Sans Serif Collection"/>
                <a:cs typeface="Sans Serif Collection"/>
                <a:sym typeface="Wingdings"/>
              </a:rPr>
              <a:t></a:t>
            </a:r>
            <a:r>
              <a:rPr lang="x-none" altLang="x-none" sz="1600" b="1" dirty="0">
                <a:solidFill>
                  <a:srgbClr val="000000"/>
                </a:solidFill>
              </a:rPr>
              <a:t> BẢNG SO SÁNH IHC vs. ICC</a:t>
            </a:r>
          </a:p>
          <a:p>
            <a:pPr defTabSz="685800"/>
            <a:endParaRPr lang="x-none" altLang="x-none" sz="1600" dirty="0"/>
          </a:p>
        </p:txBody>
      </p:sp>
    </p:spTree>
    <p:extLst>
      <p:ext uri="{BB962C8B-B14F-4D97-AF65-F5344CB8AC3E}">
        <p14:creationId xmlns:p14="http://schemas.microsoft.com/office/powerpoint/2010/main" val="6227333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EBCEB1BF-657B-02C5-80AC-412C02530D7D}"/>
              </a:ext>
            </a:extLst>
          </p:cNvPr>
          <p:cNvGraphicFramePr>
            <a:graphicFrameLocks noGrp="1"/>
          </p:cNvGraphicFramePr>
          <p:nvPr>
            <p:extLst>
              <p:ext uri="{D42A27DB-BD31-4B8C-83A1-F6EECF244321}">
                <p14:modId xmlns:p14="http://schemas.microsoft.com/office/powerpoint/2010/main" val="3083526799"/>
              </p:ext>
            </p:extLst>
          </p:nvPr>
        </p:nvGraphicFramePr>
        <p:xfrm>
          <a:off x="628650" y="1348902"/>
          <a:ext cx="7886700" cy="4085540"/>
        </p:xfrm>
        <a:graphic>
          <a:graphicData uri="http://schemas.openxmlformats.org/drawingml/2006/table">
            <a:tbl>
              <a:tblPr/>
              <a:tblGrid>
                <a:gridCol w="2628900">
                  <a:extLst>
                    <a:ext uri="{9D8B030D-6E8A-4147-A177-3AD203B41FA5}">
                      <a16:colId xmlns:a16="http://schemas.microsoft.com/office/drawing/2014/main" xmlns="" val="1995546742"/>
                    </a:ext>
                  </a:extLst>
                </a:gridCol>
                <a:gridCol w="2628900">
                  <a:extLst>
                    <a:ext uri="{9D8B030D-6E8A-4147-A177-3AD203B41FA5}">
                      <a16:colId xmlns:a16="http://schemas.microsoft.com/office/drawing/2014/main" xmlns="" val="2519660315"/>
                    </a:ext>
                  </a:extLst>
                </a:gridCol>
                <a:gridCol w="2628900">
                  <a:extLst>
                    <a:ext uri="{9D8B030D-6E8A-4147-A177-3AD203B41FA5}">
                      <a16:colId xmlns:a16="http://schemas.microsoft.com/office/drawing/2014/main" xmlns="" val="2592672688"/>
                    </a:ext>
                  </a:extLst>
                </a:gridCol>
              </a:tblGrid>
              <a:tr h="361488">
                <a:tc>
                  <a:txBody>
                    <a:bodyPr/>
                    <a:lstStyle/>
                    <a:p>
                      <a:r>
                        <a:rPr lang="en-US" sz="1400" b="1" dirty="0" err="1">
                          <a:latin typeface="Arial" panose="020B0604020202020204" pitchFamily="34" charset="0"/>
                          <a:cs typeface="Arial" panose="020B0604020202020204" pitchFamily="34" charset="0"/>
                        </a:rPr>
                        <a:t>Đặc</a:t>
                      </a:r>
                      <a:r>
                        <a:rPr lang="en-US" sz="1400" b="1" dirty="0">
                          <a:latin typeface="Arial" panose="020B0604020202020204" pitchFamily="34" charset="0"/>
                          <a:cs typeface="Arial" panose="020B0604020202020204" pitchFamily="34" charset="0"/>
                        </a:rPr>
                        <a:t> </a:t>
                      </a:r>
                      <a:r>
                        <a:rPr lang="en-US" sz="1400" b="1" dirty="0" err="1">
                          <a:latin typeface="Arial" panose="020B0604020202020204" pitchFamily="34" charset="0"/>
                          <a:cs typeface="Arial" panose="020B0604020202020204" pitchFamily="34" charset="0"/>
                        </a:rPr>
                        <a:t>điểm</a:t>
                      </a:r>
                      <a:endParaRPr lang="en-US" sz="14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dirty="0">
                          <a:latin typeface="Arial" panose="020B0604020202020204" pitchFamily="34" charset="0"/>
                          <a:cs typeface="Arial" panose="020B0604020202020204" pitchFamily="34" charset="0"/>
                        </a:rPr>
                        <a:t>H3K4me2</a:t>
                      </a:r>
                      <a:endParaRPr lang="en-US" sz="14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a:latin typeface="Arial" panose="020B0604020202020204" pitchFamily="34" charset="0"/>
                          <a:cs typeface="Arial" panose="020B0604020202020204" pitchFamily="34" charset="0"/>
                        </a:rPr>
                        <a:t>H3K9me2</a:t>
                      </a:r>
                      <a:endParaRPr lang="en-US" sz="14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732622229"/>
                  </a:ext>
                </a:extLst>
              </a:tr>
              <a:tr h="361488">
                <a:tc>
                  <a:txBody>
                    <a:bodyPr/>
                    <a:lstStyle/>
                    <a:p>
                      <a:r>
                        <a:rPr lang="en-US" sz="1400" b="1">
                          <a:latin typeface="Arial" panose="020B0604020202020204" pitchFamily="34" charset="0"/>
                          <a:cs typeface="Arial" panose="020B0604020202020204" pitchFamily="34" charset="0"/>
                        </a:rPr>
                        <a:t>Vị trí sửa đổi histone</a:t>
                      </a:r>
                      <a:endParaRPr lang="en-US" sz="14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Arial" panose="020B0604020202020204" pitchFamily="34" charset="0"/>
                          <a:cs typeface="Arial" panose="020B0604020202020204" pitchFamily="34" charset="0"/>
                        </a:rPr>
                        <a:t>Lysine 4 trên histone H3 (H3K4)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Arial" panose="020B0604020202020204" pitchFamily="34" charset="0"/>
                          <a:cs typeface="Arial" panose="020B0604020202020204" pitchFamily="34" charset="0"/>
                        </a:rPr>
                        <a:t>Lysine 9 trên histone H3 (H3K9)</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227015275"/>
                  </a:ext>
                </a:extLst>
              </a:tr>
              <a:tr h="630023">
                <a:tc>
                  <a:txBody>
                    <a:bodyPr/>
                    <a:lstStyle/>
                    <a:p>
                      <a:r>
                        <a:rPr lang="en-US" sz="1400" b="1" dirty="0" err="1">
                          <a:latin typeface="Arial" panose="020B0604020202020204" pitchFamily="34" charset="0"/>
                          <a:cs typeface="Arial" panose="020B0604020202020204" pitchFamily="34" charset="0"/>
                        </a:rPr>
                        <a:t>Chức</a:t>
                      </a:r>
                      <a:r>
                        <a:rPr lang="en-US" sz="1400" b="1" dirty="0">
                          <a:latin typeface="Arial" panose="020B0604020202020204" pitchFamily="34" charset="0"/>
                          <a:cs typeface="Arial" panose="020B0604020202020204" pitchFamily="34" charset="0"/>
                        </a:rPr>
                        <a:t> </a:t>
                      </a:r>
                      <a:r>
                        <a:rPr lang="en-US" sz="1400" b="1" dirty="0" err="1">
                          <a:latin typeface="Arial" panose="020B0604020202020204" pitchFamily="34" charset="0"/>
                          <a:cs typeface="Arial" panose="020B0604020202020204" pitchFamily="34" charset="0"/>
                        </a:rPr>
                        <a:t>năng</a:t>
                      </a:r>
                      <a:endParaRPr lang="en-US" sz="14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Arial" panose="020B0604020202020204" pitchFamily="34" charset="0"/>
                          <a:cs typeface="Arial" panose="020B0604020202020204" pitchFamily="34" charset="0"/>
                        </a:rPr>
                        <a:t>Kích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hoạt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phiên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mã</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làm</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mở</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rộng</a:t>
                      </a:r>
                      <a:r>
                        <a:rPr lang="en-US" sz="1400" dirty="0">
                          <a:latin typeface="Arial" panose="020B0604020202020204" pitchFamily="34" charset="0"/>
                          <a:cs typeface="Arial" panose="020B0604020202020204" pitchFamily="34" charset="0"/>
                        </a:rPr>
                        <a:t> chromatin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Arial" panose="020B0604020202020204" pitchFamily="34" charset="0"/>
                          <a:cs typeface="Arial" panose="020B0604020202020204" pitchFamily="34" charset="0"/>
                        </a:rPr>
                        <a:t>Ức chế phiên mã, duy trì heterochromatin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986861371"/>
                  </a:ext>
                </a:extLst>
              </a:tr>
              <a:tr h="630023">
                <a:tc>
                  <a:txBody>
                    <a:bodyPr/>
                    <a:lstStyle/>
                    <a:p>
                      <a:r>
                        <a:rPr lang="en-US" sz="1400" b="1" dirty="0" err="1">
                          <a:latin typeface="Arial" panose="020B0604020202020204" pitchFamily="34" charset="0"/>
                          <a:cs typeface="Arial" panose="020B0604020202020204" pitchFamily="34" charset="0"/>
                        </a:rPr>
                        <a:t>Liên</a:t>
                      </a:r>
                      <a:r>
                        <a:rPr lang="en-US" sz="1400" b="1" dirty="0">
                          <a:latin typeface="Arial" panose="020B0604020202020204" pitchFamily="34" charset="0"/>
                          <a:cs typeface="Arial" panose="020B0604020202020204" pitchFamily="34" charset="0"/>
                        </a:rPr>
                        <a:t> </a:t>
                      </a:r>
                      <a:r>
                        <a:rPr lang="en-US" sz="1400" b="1" dirty="0" err="1">
                          <a:latin typeface="Arial" panose="020B0604020202020204" pitchFamily="34" charset="0"/>
                          <a:cs typeface="Arial" panose="020B0604020202020204" pitchFamily="34" charset="0"/>
                        </a:rPr>
                        <a:t>quan</a:t>
                      </a:r>
                      <a:r>
                        <a:rPr lang="en-US" sz="1400" b="1" dirty="0">
                          <a:latin typeface="Arial" panose="020B0604020202020204" pitchFamily="34" charset="0"/>
                          <a:cs typeface="Arial" panose="020B0604020202020204" pitchFamily="34" charset="0"/>
                        </a:rPr>
                        <a:t> </a:t>
                      </a:r>
                      <a:r>
                        <a:rPr lang="en-US" sz="1400" b="1" dirty="0" err="1">
                          <a:latin typeface="Arial" panose="020B0604020202020204" pitchFamily="34" charset="0"/>
                          <a:cs typeface="Arial" panose="020B0604020202020204" pitchFamily="34" charset="0"/>
                        </a:rPr>
                        <a:t>đến</a:t>
                      </a:r>
                      <a:endParaRPr lang="en-US" sz="14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Arial" panose="020B0604020202020204" pitchFamily="34" charset="0"/>
                          <a:cs typeface="Arial" panose="020B0604020202020204" pitchFamily="34" charset="0"/>
                        </a:rPr>
                        <a:t>Phiên mã hoạt động, gen chuẩn bị biểu hiện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Arial" panose="020B0604020202020204" pitchFamily="34" charset="0"/>
                          <a:cs typeface="Arial" panose="020B0604020202020204" pitchFamily="34" charset="0"/>
                        </a:rPr>
                        <a:t>Im lặng gen, ức chế hoạt động gen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39702195"/>
                  </a:ext>
                </a:extLst>
              </a:tr>
              <a:tr h="630023">
                <a:tc>
                  <a:txBody>
                    <a:bodyPr/>
                    <a:lstStyle/>
                    <a:p>
                      <a:r>
                        <a:rPr lang="vi-VN" sz="1400" b="1">
                          <a:latin typeface="Arial" panose="020B0604020202020204" pitchFamily="34" charset="0"/>
                          <a:cs typeface="Arial" panose="020B0604020202020204" pitchFamily="34" charset="0"/>
                        </a:rPr>
                        <a:t>Ảnh hưởng đến cấu trúc chromatin</a:t>
                      </a:r>
                      <a:endParaRPr lang="vi-VN" sz="14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Arial" panose="020B0604020202020204" pitchFamily="34" charset="0"/>
                          <a:cs typeface="Arial" panose="020B0604020202020204" pitchFamily="34" charset="0"/>
                        </a:rPr>
                        <a:t>Tạo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điều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kiện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mở</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cấu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trúc</a:t>
                      </a:r>
                      <a:r>
                        <a:rPr lang="en-US" sz="1400" dirty="0">
                          <a:latin typeface="Arial" panose="020B0604020202020204" pitchFamily="34" charset="0"/>
                          <a:cs typeface="Arial" panose="020B0604020202020204" pitchFamily="34" charset="0"/>
                        </a:rPr>
                        <a:t> chromatin </a:t>
                      </a:r>
                      <a:r>
                        <a:rPr lang="en-US" sz="1400" dirty="0" err="1">
                          <a:latin typeface="Arial" panose="020B0604020202020204" pitchFamily="34" charset="0"/>
                          <a:cs typeface="Arial" panose="020B0604020202020204" pitchFamily="34" charset="0"/>
                        </a:rPr>
                        <a:t>để</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phiên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mã</a:t>
                      </a:r>
                      <a:endParaRPr lang="en-US" sz="14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Arial" panose="020B0604020202020204" pitchFamily="34" charset="0"/>
                          <a:cs typeface="Arial" panose="020B0604020202020204" pitchFamily="34" charset="0"/>
                        </a:rPr>
                        <a:t>Làm chặt lại chromatin, ngừng phiên mã</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37932233"/>
                  </a:ext>
                </a:extLst>
              </a:tr>
              <a:tr h="630023">
                <a:tc>
                  <a:txBody>
                    <a:bodyPr/>
                    <a:lstStyle/>
                    <a:p>
                      <a:r>
                        <a:rPr lang="en-US" sz="1400" b="1">
                          <a:latin typeface="Arial" panose="020B0604020202020204" pitchFamily="34" charset="0"/>
                          <a:cs typeface="Arial" panose="020B0604020202020204" pitchFamily="34" charset="0"/>
                        </a:rPr>
                        <a:t>Vai trò trong biểu hiện gen</a:t>
                      </a:r>
                      <a:endParaRPr lang="en-US" sz="14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400">
                          <a:latin typeface="Arial" panose="020B0604020202020204" pitchFamily="34" charset="0"/>
                          <a:cs typeface="Arial" panose="020B0604020202020204" pitchFamily="34" charset="0"/>
                        </a:rPr>
                        <a:t>Kích hoạt và tăng cường biểu hiện gen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Arial" panose="020B0604020202020204" pitchFamily="34" charset="0"/>
                          <a:cs typeface="Arial" panose="020B0604020202020204" pitchFamily="34" charset="0"/>
                        </a:rPr>
                        <a:t>Ức chế và ngừng biểu hiện gen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51163167"/>
                  </a:ext>
                </a:extLst>
              </a:tr>
              <a:tr h="630023">
                <a:tc>
                  <a:txBody>
                    <a:bodyPr/>
                    <a:lstStyle/>
                    <a:p>
                      <a:r>
                        <a:rPr lang="en-US" sz="1400" b="1">
                          <a:latin typeface="Arial" panose="020B0604020202020204" pitchFamily="34" charset="0"/>
                          <a:cs typeface="Arial" panose="020B0604020202020204" pitchFamily="34" charset="0"/>
                        </a:rPr>
                        <a:t>Mối quan hệ với nhau</a:t>
                      </a:r>
                      <a:endParaRPr lang="en-US" sz="14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err="1">
                          <a:latin typeface="Arial" panose="020B0604020202020204" pitchFamily="34" charset="0"/>
                          <a:cs typeface="Arial" panose="020B0604020202020204" pitchFamily="34" charset="0"/>
                        </a:rPr>
                        <a:t>Hoạt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động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đối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lập</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một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dấu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hiệu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kích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hoạt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một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dấu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hiệu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ức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chế</a:t>
                      </a:r>
                      <a:endParaRPr lang="en-US" sz="14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400" dirty="0">
                          <a:latin typeface="Arial" panose="020B0604020202020204" pitchFamily="34" charset="0"/>
                          <a:cs typeface="Arial" panose="020B0604020202020204" pitchFamily="34" charset="0"/>
                        </a:rPr>
                        <a:t>Cùng tham gia điều hòa, nhưng với cơ chế đối lập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105860318"/>
                  </a:ext>
                </a:extLst>
              </a:tr>
            </a:tbl>
          </a:graphicData>
        </a:graphic>
      </p:graphicFrame>
      <p:sp>
        <p:nvSpPr>
          <p:cNvPr id="5" name="Rectangle 1">
            <a:extLst>
              <a:ext uri="{FF2B5EF4-FFF2-40B4-BE49-F238E27FC236}">
                <a16:creationId xmlns:a16="http://schemas.microsoft.com/office/drawing/2014/main" xmlns="" id="{356B28BD-676E-91EE-7BAD-E78E264C61BF}"/>
              </a:ext>
            </a:extLst>
          </p:cNvPr>
          <p:cNvSpPr>
            <a:spLocks noChangeArrowheads="1"/>
          </p:cNvSpPr>
          <p:nvPr/>
        </p:nvSpPr>
        <p:spPr bwMode="auto">
          <a:xfrm>
            <a:off x="261257" y="342528"/>
            <a:ext cx="5500545" cy="561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x-none" altLang="x-none" sz="1600" b="1" dirty="0">
                <a:solidFill>
                  <a:srgbClr val="000000"/>
                </a:solidFill>
              </a:rPr>
              <a:t>Bảng tóm tắt sự khác biệt giữa H3K4me2 và H3K9me2:</a:t>
            </a:r>
            <a:endParaRPr lang="x-none" altLang="x-none" sz="1600" b="1" dirty="0"/>
          </a:p>
          <a:p>
            <a:pPr defTabSz="685800"/>
            <a:endParaRPr lang="x-none" altLang="x-none" sz="1600" b="1" dirty="0"/>
          </a:p>
        </p:txBody>
      </p:sp>
    </p:spTree>
    <p:extLst>
      <p:ext uri="{BB962C8B-B14F-4D97-AF65-F5344CB8AC3E}">
        <p14:creationId xmlns:p14="http://schemas.microsoft.com/office/powerpoint/2010/main" val="2169251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45FE5CCA-1F30-DE8A-DC3C-CB68527A86F5}"/>
              </a:ext>
            </a:extLst>
          </p:cNvPr>
          <p:cNvPicPr>
            <a:picLocks noChangeAspect="1"/>
          </p:cNvPicPr>
          <p:nvPr/>
        </p:nvPicPr>
        <p:blipFill>
          <a:blip r:embed="rId3"/>
          <a:stretch>
            <a:fillRect/>
          </a:stretch>
        </p:blipFill>
        <p:spPr>
          <a:xfrm>
            <a:off x="0" y="0"/>
            <a:ext cx="5897880" cy="6858000"/>
          </a:xfrm>
          <a:prstGeom prst="rect">
            <a:avLst/>
          </a:prstGeom>
        </p:spPr>
      </p:pic>
      <p:sp>
        <p:nvSpPr>
          <p:cNvPr id="6" name="TextBox 5">
            <a:extLst>
              <a:ext uri="{FF2B5EF4-FFF2-40B4-BE49-F238E27FC236}">
                <a16:creationId xmlns:a16="http://schemas.microsoft.com/office/drawing/2014/main" xmlns="" id="{0F86C33F-2E7A-04E1-7D64-E2DBF0BA00F6}"/>
              </a:ext>
            </a:extLst>
          </p:cNvPr>
          <p:cNvSpPr txBox="1"/>
          <p:nvPr/>
        </p:nvSpPr>
        <p:spPr>
          <a:xfrm>
            <a:off x="5897880" y="100304"/>
            <a:ext cx="3246120" cy="7017306"/>
          </a:xfrm>
          <a:prstGeom prst="rect">
            <a:avLst/>
          </a:prstGeom>
          <a:noFill/>
        </p:spPr>
        <p:txBody>
          <a:bodyPr wrap="square">
            <a:spAutoFit/>
          </a:bodyPr>
          <a:lstStyle/>
          <a:p>
            <a:pPr algn="l"/>
            <a:r>
              <a:rPr lang="vi-VN" b="1" dirty="0">
                <a:solidFill>
                  <a:srgbClr val="000000"/>
                </a:solidFill>
              </a:rPr>
              <a:t>(A) Bảng dữ liệu</a:t>
            </a:r>
          </a:p>
          <a:p>
            <a:pPr algn="l">
              <a:buFont typeface="Arial" panose="020B0604020202020204" pitchFamily="34" charset="0"/>
              <a:buChar char="•"/>
            </a:pPr>
            <a:r>
              <a:rPr lang="en-US" b="1" dirty="0" smtClean="0">
                <a:solidFill>
                  <a:srgbClr val="000000"/>
                </a:solidFill>
              </a:rPr>
              <a:t> </a:t>
            </a:r>
            <a:r>
              <a:rPr lang="vi-VN" b="1" dirty="0" smtClean="0">
                <a:solidFill>
                  <a:srgbClr val="000000"/>
                </a:solidFill>
              </a:rPr>
              <a:t>Các </a:t>
            </a:r>
            <a:r>
              <a:rPr lang="vi-VN" b="1" dirty="0">
                <a:solidFill>
                  <a:srgbClr val="000000"/>
                </a:solidFill>
              </a:rPr>
              <a:t>biến đổi histone</a:t>
            </a:r>
            <a:r>
              <a:rPr lang="vi-VN" dirty="0">
                <a:solidFill>
                  <a:srgbClr val="000000"/>
                </a:solidFill>
              </a:rPr>
              <a:t> như H3K18ac, H3K9ac, H3K4me2 → thường </a:t>
            </a:r>
            <a:r>
              <a:rPr lang="vi-VN" b="1" dirty="0">
                <a:solidFill>
                  <a:srgbClr val="000000"/>
                </a:solidFill>
              </a:rPr>
              <a:t>kích hoạt biểu hiện gen</a:t>
            </a:r>
            <a:r>
              <a:rPr lang="vi-VN" dirty="0">
                <a:solidFill>
                  <a:srgbClr val="000000"/>
                </a:solidFill>
              </a:rPr>
              <a:t> và </a:t>
            </a:r>
            <a:r>
              <a:rPr lang="vi-VN" b="1" dirty="0">
                <a:solidFill>
                  <a:srgbClr val="000000"/>
                </a:solidFill>
              </a:rPr>
              <a:t>thúc đẩy sự phát triển ung thư vú</a:t>
            </a:r>
            <a:r>
              <a:rPr lang="vi-VN" dirty="0">
                <a:solidFill>
                  <a:srgbClr val="000000"/>
                </a:solidFill>
              </a:rPr>
              <a:t>.</a:t>
            </a:r>
          </a:p>
          <a:p>
            <a:pPr algn="l">
              <a:buFont typeface="Arial" panose="020B0604020202020204" pitchFamily="34" charset="0"/>
              <a:buChar char="•"/>
            </a:pPr>
            <a:r>
              <a:rPr lang="en-US" b="1" dirty="0" smtClean="0">
                <a:solidFill>
                  <a:srgbClr val="000000"/>
                </a:solidFill>
              </a:rPr>
              <a:t> </a:t>
            </a:r>
            <a:r>
              <a:rPr lang="vi-VN" b="1" dirty="0" smtClean="0">
                <a:solidFill>
                  <a:srgbClr val="000000"/>
                </a:solidFill>
              </a:rPr>
              <a:t>Tỷ </a:t>
            </a:r>
            <a:r>
              <a:rPr lang="vi-VN" b="1" dirty="0">
                <a:solidFill>
                  <a:srgbClr val="000000"/>
                </a:solidFill>
              </a:rPr>
              <a:t>lệ IHC cao</a:t>
            </a:r>
            <a:r>
              <a:rPr lang="vi-VN" dirty="0">
                <a:solidFill>
                  <a:srgbClr val="000000"/>
                </a:solidFill>
              </a:rPr>
              <a:t> cho thấy những dấu ấn này phổ biến ở mẫu bệnh (ví dụ: H3K18ac 70.41%).</a:t>
            </a:r>
          </a:p>
          <a:p>
            <a:pPr algn="l"/>
            <a:r>
              <a:rPr lang="vi-VN" b="1" dirty="0">
                <a:solidFill>
                  <a:srgbClr val="000000"/>
                </a:solidFill>
              </a:rPr>
              <a:t>(B) Hình nhuộm IHC</a:t>
            </a:r>
          </a:p>
          <a:p>
            <a:pPr algn="l">
              <a:buFont typeface="Arial" panose="020B0604020202020204" pitchFamily="34" charset="0"/>
              <a:buChar char="•"/>
            </a:pPr>
            <a:r>
              <a:rPr lang="en-US" dirty="0" smtClean="0">
                <a:solidFill>
                  <a:srgbClr val="000000"/>
                </a:solidFill>
              </a:rPr>
              <a:t> </a:t>
            </a:r>
            <a:r>
              <a:rPr lang="vi-VN" dirty="0" smtClean="0">
                <a:solidFill>
                  <a:srgbClr val="000000"/>
                </a:solidFill>
              </a:rPr>
              <a:t>Mẫu</a:t>
            </a:r>
            <a:r>
              <a:rPr lang="vi-VN" dirty="0">
                <a:solidFill>
                  <a:srgbClr val="000000"/>
                </a:solidFill>
              </a:rPr>
              <a:t> </a:t>
            </a:r>
            <a:r>
              <a:rPr lang="vi-VN" b="1" dirty="0">
                <a:solidFill>
                  <a:srgbClr val="000000"/>
                </a:solidFill>
              </a:rPr>
              <a:t>High-IHC (H)</a:t>
            </a:r>
            <a:r>
              <a:rPr lang="vi-VN" dirty="0">
                <a:solidFill>
                  <a:srgbClr val="000000"/>
                </a:solidFill>
              </a:rPr>
              <a:t> có mức nhuộm nâu đậm hơn mẫu </a:t>
            </a:r>
            <a:r>
              <a:rPr lang="vi-VN" b="1" dirty="0">
                <a:solidFill>
                  <a:srgbClr val="000000"/>
                </a:solidFill>
              </a:rPr>
              <a:t>Low-IHC (L)</a:t>
            </a:r>
            <a:r>
              <a:rPr lang="vi-VN" dirty="0">
                <a:solidFill>
                  <a:srgbClr val="000000"/>
                </a:solidFill>
              </a:rPr>
              <a:t> → biểu hiện histone cao hơn.</a:t>
            </a:r>
          </a:p>
          <a:p>
            <a:pPr algn="l">
              <a:buFont typeface="Arial" panose="020B0604020202020204" pitchFamily="34" charset="0"/>
              <a:buChar char="•"/>
            </a:pPr>
            <a:r>
              <a:rPr lang="en-US" dirty="0" smtClean="0">
                <a:solidFill>
                  <a:srgbClr val="000000"/>
                </a:solidFill>
              </a:rPr>
              <a:t> </a:t>
            </a:r>
            <a:r>
              <a:rPr lang="vi-VN" dirty="0" smtClean="0">
                <a:solidFill>
                  <a:srgbClr val="000000"/>
                </a:solidFill>
              </a:rPr>
              <a:t>Marker </a:t>
            </a:r>
            <a:r>
              <a:rPr lang="vi-VN" dirty="0">
                <a:solidFill>
                  <a:srgbClr val="000000"/>
                </a:solidFill>
              </a:rPr>
              <a:t>như </a:t>
            </a:r>
            <a:r>
              <a:rPr lang="vi-VN" b="1" dirty="0">
                <a:solidFill>
                  <a:srgbClr val="000000"/>
                </a:solidFill>
              </a:rPr>
              <a:t>H3K9ac, H3K36me2</a:t>
            </a:r>
            <a:r>
              <a:rPr lang="vi-VN" dirty="0">
                <a:solidFill>
                  <a:srgbClr val="000000"/>
                </a:solidFill>
              </a:rPr>
              <a:t> rõ ràng cao ở nhóm High-IHC.</a:t>
            </a:r>
          </a:p>
          <a:p>
            <a:pPr algn="l"/>
            <a:r>
              <a:rPr lang="vi-VN" b="1" dirty="0">
                <a:solidFill>
                  <a:srgbClr val="000000"/>
                </a:solidFill>
              </a:rPr>
              <a:t>(C) So sánh mô học</a:t>
            </a:r>
          </a:p>
          <a:p>
            <a:pPr algn="l">
              <a:buFont typeface="Arial" panose="020B0604020202020204" pitchFamily="34" charset="0"/>
              <a:buChar char="•"/>
            </a:pPr>
            <a:r>
              <a:rPr lang="en-US" dirty="0" smtClean="0">
                <a:solidFill>
                  <a:srgbClr val="000000"/>
                </a:solidFill>
              </a:rPr>
              <a:t> </a:t>
            </a:r>
            <a:r>
              <a:rPr lang="vi-VN" dirty="0" smtClean="0">
                <a:solidFill>
                  <a:srgbClr val="000000"/>
                </a:solidFill>
              </a:rPr>
              <a:t>High-IHC</a:t>
            </a:r>
            <a:r>
              <a:rPr lang="vi-VN" dirty="0">
                <a:solidFill>
                  <a:srgbClr val="000000"/>
                </a:solidFill>
              </a:rPr>
              <a:t>: Nhuộm mạnh, nhiều nhân tế bào dương tính.</a:t>
            </a:r>
          </a:p>
          <a:p>
            <a:pPr algn="l">
              <a:buFont typeface="Arial" panose="020B0604020202020204" pitchFamily="34" charset="0"/>
              <a:buChar char="•"/>
            </a:pPr>
            <a:r>
              <a:rPr lang="en-US" dirty="0" smtClean="0">
                <a:solidFill>
                  <a:srgbClr val="000000"/>
                </a:solidFill>
              </a:rPr>
              <a:t> </a:t>
            </a:r>
            <a:r>
              <a:rPr lang="vi-VN" dirty="0" smtClean="0">
                <a:solidFill>
                  <a:srgbClr val="000000"/>
                </a:solidFill>
              </a:rPr>
              <a:t>Low-IHC</a:t>
            </a:r>
            <a:r>
              <a:rPr lang="vi-VN" dirty="0">
                <a:solidFill>
                  <a:srgbClr val="000000"/>
                </a:solidFill>
              </a:rPr>
              <a:t>: Nhuộm nhạt, ít tế bào dương tính.</a:t>
            </a:r>
          </a:p>
          <a:p>
            <a:pPr algn="l">
              <a:buFont typeface="Arial" panose="020B0604020202020204" pitchFamily="34" charset="0"/>
              <a:buChar char="•"/>
            </a:pPr>
            <a:endParaRPr lang="vi-VN" dirty="0">
              <a:solidFill>
                <a:srgbClr val="000000"/>
              </a:solidFill>
            </a:endParaRPr>
          </a:p>
        </p:txBody>
      </p:sp>
    </p:spTree>
    <p:extLst>
      <p:ext uri="{BB962C8B-B14F-4D97-AF65-F5344CB8AC3E}">
        <p14:creationId xmlns:p14="http://schemas.microsoft.com/office/powerpoint/2010/main" val="23215389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E1FD6887-45FF-798F-5C17-F2780662A4F9}"/>
              </a:ext>
            </a:extLst>
          </p:cNvPr>
          <p:cNvPicPr>
            <a:picLocks noChangeAspect="1"/>
          </p:cNvPicPr>
          <p:nvPr/>
        </p:nvPicPr>
        <p:blipFill>
          <a:blip r:embed="rId3"/>
          <a:stretch>
            <a:fillRect/>
          </a:stretch>
        </p:blipFill>
        <p:spPr>
          <a:xfrm>
            <a:off x="-1228" y="0"/>
            <a:ext cx="4573228" cy="6743700"/>
          </a:xfrm>
          <a:prstGeom prst="rect">
            <a:avLst/>
          </a:prstGeom>
        </p:spPr>
      </p:pic>
      <p:sp>
        <p:nvSpPr>
          <p:cNvPr id="3" name="TextBox 2">
            <a:extLst>
              <a:ext uri="{FF2B5EF4-FFF2-40B4-BE49-F238E27FC236}">
                <a16:creationId xmlns:a16="http://schemas.microsoft.com/office/drawing/2014/main" xmlns="" id="{1E7D45A3-8B62-8EBF-AAC6-3588E4990905}"/>
              </a:ext>
            </a:extLst>
          </p:cNvPr>
          <p:cNvSpPr txBox="1"/>
          <p:nvPr/>
        </p:nvSpPr>
        <p:spPr>
          <a:xfrm>
            <a:off x="4572000" y="751344"/>
            <a:ext cx="4572000" cy="5355312"/>
          </a:xfrm>
          <a:prstGeom prst="rect">
            <a:avLst/>
          </a:prstGeom>
          <a:noFill/>
        </p:spPr>
        <p:txBody>
          <a:bodyPr wrap="square">
            <a:spAutoFit/>
          </a:bodyPr>
          <a:lstStyle/>
          <a:p>
            <a:pPr algn="l"/>
            <a:r>
              <a:rPr lang="vi-VN" b="1" dirty="0">
                <a:solidFill>
                  <a:srgbClr val="000000"/>
                </a:solidFill>
              </a:rPr>
              <a:t>Hình</a:t>
            </a:r>
            <a:r>
              <a:rPr lang="vi-VN" b="1" i="0" u="none" strike="noStrike" dirty="0">
                <a:solidFill>
                  <a:srgbClr val="000000"/>
                </a:solidFill>
                <a:effectLst/>
              </a:rPr>
              <a:t> (A) để xác định nhóm</a:t>
            </a:r>
          </a:p>
          <a:p>
            <a:pPr algn="l">
              <a:buFont typeface="Arial" panose="020B0604020202020204" pitchFamily="34" charset="0"/>
              <a:buChar char="•"/>
            </a:pPr>
            <a:r>
              <a:rPr lang="en-US" b="1" i="0" u="none" strike="noStrike" dirty="0" smtClean="0">
                <a:solidFill>
                  <a:srgbClr val="000000"/>
                </a:solidFill>
                <a:effectLst/>
              </a:rPr>
              <a:t> </a:t>
            </a:r>
            <a:r>
              <a:rPr lang="vi-VN" b="1" i="0" u="none" strike="noStrike" dirty="0" smtClean="0">
                <a:solidFill>
                  <a:srgbClr val="000000"/>
                </a:solidFill>
                <a:effectLst/>
              </a:rPr>
              <a:t>Luminal </a:t>
            </a:r>
            <a:r>
              <a:rPr lang="vi-VN" b="1" i="0" u="none" strike="noStrike" dirty="0">
                <a:solidFill>
                  <a:srgbClr val="000000"/>
                </a:solidFill>
                <a:effectLst/>
              </a:rPr>
              <a:t>A/B</a:t>
            </a:r>
            <a:r>
              <a:rPr lang="vi-VN" b="0" i="0" u="none" strike="noStrike" dirty="0">
                <a:solidFill>
                  <a:srgbClr val="000000"/>
                </a:solidFill>
                <a:effectLst/>
              </a:rPr>
              <a:t>: có màu nhuộm ER+, PR+.</a:t>
            </a:r>
          </a:p>
          <a:p>
            <a:pPr algn="l">
              <a:buFont typeface="Arial" panose="020B0604020202020204" pitchFamily="34" charset="0"/>
              <a:buChar char="•"/>
            </a:pPr>
            <a:r>
              <a:rPr lang="en-US" b="1" i="0" u="none" strike="noStrike" dirty="0" smtClean="0">
                <a:solidFill>
                  <a:srgbClr val="000000"/>
                </a:solidFill>
                <a:effectLst/>
              </a:rPr>
              <a:t> </a:t>
            </a:r>
            <a:r>
              <a:rPr lang="vi-VN" b="1" i="0" u="none" strike="noStrike" dirty="0" smtClean="0">
                <a:solidFill>
                  <a:srgbClr val="000000"/>
                </a:solidFill>
                <a:effectLst/>
              </a:rPr>
              <a:t>HER2-enriched</a:t>
            </a:r>
            <a:r>
              <a:rPr lang="vi-VN" b="0" i="0" u="none" strike="noStrike" dirty="0">
                <a:solidFill>
                  <a:srgbClr val="000000"/>
                </a:solidFill>
                <a:effectLst/>
              </a:rPr>
              <a:t>: HER2+.</a:t>
            </a:r>
          </a:p>
          <a:p>
            <a:pPr algn="l">
              <a:buFont typeface="Arial" panose="020B0604020202020204" pitchFamily="34" charset="0"/>
              <a:buChar char="•"/>
            </a:pPr>
            <a:r>
              <a:rPr lang="vi-VN" b="1" i="0" u="none" strike="noStrike" dirty="0">
                <a:solidFill>
                  <a:srgbClr val="000000"/>
                </a:solidFill>
                <a:effectLst/>
              </a:rPr>
              <a:t>TNBC</a:t>
            </a:r>
            <a:r>
              <a:rPr lang="vi-VN" b="0" i="0" u="none" strike="noStrike" dirty="0">
                <a:solidFill>
                  <a:srgbClr val="000000"/>
                </a:solidFill>
                <a:effectLst/>
              </a:rPr>
              <a:t>: âm tính.</a:t>
            </a:r>
          </a:p>
          <a:p>
            <a:pPr algn="l"/>
            <a:r>
              <a:rPr lang="vi-VN" b="0" i="0" u="none" strike="noStrike" dirty="0">
                <a:solidFill>
                  <a:srgbClr val="000000"/>
                </a:solidFill>
                <a:effectLst/>
              </a:rPr>
              <a:t>(Bước này chỉ cần lướt mắt qua, thấy vết nhuộm đậm hay nhạt.)</a:t>
            </a:r>
          </a:p>
          <a:p>
            <a:pPr algn="l"/>
            <a:r>
              <a:rPr lang="vi-VN" b="1" dirty="0">
                <a:solidFill>
                  <a:srgbClr val="000000"/>
                </a:solidFill>
              </a:rPr>
              <a:t>Hình</a:t>
            </a:r>
            <a:r>
              <a:rPr lang="vi-VN" b="1" i="0" u="none" strike="noStrike" dirty="0">
                <a:solidFill>
                  <a:srgbClr val="000000"/>
                </a:solidFill>
                <a:effectLst/>
              </a:rPr>
              <a:t> (B) heatmap – tìm màu cam</a:t>
            </a:r>
          </a:p>
          <a:p>
            <a:pPr algn="l">
              <a:buFont typeface="Arial" panose="020B0604020202020204" pitchFamily="34" charset="0"/>
              <a:buChar char="•"/>
            </a:pPr>
            <a:r>
              <a:rPr lang="en-US" b="0" i="0" u="none" strike="noStrike" dirty="0" smtClean="0">
                <a:solidFill>
                  <a:srgbClr val="000000"/>
                </a:solidFill>
                <a:effectLst/>
              </a:rPr>
              <a:t> </a:t>
            </a:r>
            <a:r>
              <a:rPr lang="vi-VN" b="0" i="0" u="none" strike="noStrike" dirty="0" smtClean="0">
                <a:solidFill>
                  <a:srgbClr val="000000"/>
                </a:solidFill>
                <a:effectLst/>
              </a:rPr>
              <a:t>Dấu </a:t>
            </a:r>
            <a:r>
              <a:rPr lang="vi-VN" b="0" i="0" u="none" strike="noStrike" dirty="0">
                <a:solidFill>
                  <a:srgbClr val="000000"/>
                </a:solidFill>
                <a:effectLst/>
              </a:rPr>
              <a:t>hiệu nào màu cam đậm ở TNBC = biểu hiện cao bất thường → ghi chú lại.</a:t>
            </a:r>
          </a:p>
          <a:p>
            <a:pPr algn="l">
              <a:buFont typeface="Arial" panose="020B0604020202020204" pitchFamily="34" charset="0"/>
              <a:buChar char="•"/>
            </a:pPr>
            <a:r>
              <a:rPr lang="en-US" b="0" i="0" u="none" strike="noStrike" dirty="0" smtClean="0">
                <a:solidFill>
                  <a:srgbClr val="000000"/>
                </a:solidFill>
                <a:effectLst/>
              </a:rPr>
              <a:t> </a:t>
            </a:r>
            <a:r>
              <a:rPr lang="vi-VN" b="0" i="0" u="none" strike="noStrike" dirty="0" smtClean="0">
                <a:solidFill>
                  <a:srgbClr val="000000"/>
                </a:solidFill>
                <a:effectLst/>
              </a:rPr>
              <a:t>(</a:t>
            </a:r>
            <a:r>
              <a:rPr lang="vi-VN" b="0" i="0" u="none" strike="noStrike" dirty="0">
                <a:solidFill>
                  <a:srgbClr val="000000"/>
                </a:solidFill>
                <a:effectLst/>
              </a:rPr>
              <a:t>Ở đây: H3K9me2, G9a, EZH2 hơi nổi bật.)</a:t>
            </a:r>
          </a:p>
          <a:p>
            <a:pPr algn="l"/>
            <a:r>
              <a:rPr lang="vi-VN" b="1" dirty="0">
                <a:solidFill>
                  <a:srgbClr val="000000"/>
                </a:solidFill>
              </a:rPr>
              <a:t>Hình</a:t>
            </a:r>
            <a:r>
              <a:rPr lang="vi-VN" b="1" i="0" u="none" strike="noStrike" dirty="0">
                <a:solidFill>
                  <a:srgbClr val="000000"/>
                </a:solidFill>
                <a:effectLst/>
              </a:rPr>
              <a:t> (C) hình nhuộm – xác nhận</a:t>
            </a:r>
          </a:p>
          <a:p>
            <a:pPr algn="l">
              <a:buFont typeface="Arial" panose="020B0604020202020204" pitchFamily="34" charset="0"/>
              <a:buChar char="•"/>
            </a:pPr>
            <a:r>
              <a:rPr lang="en-US" b="0" i="0" u="none" strike="noStrike" dirty="0" smtClean="0">
                <a:solidFill>
                  <a:srgbClr val="000000"/>
                </a:solidFill>
                <a:effectLst/>
              </a:rPr>
              <a:t> </a:t>
            </a:r>
            <a:r>
              <a:rPr lang="vi-VN" b="0" i="0" u="none" strike="noStrike" dirty="0" smtClean="0">
                <a:solidFill>
                  <a:srgbClr val="000000"/>
                </a:solidFill>
                <a:effectLst/>
              </a:rPr>
              <a:t>Nhìn </a:t>
            </a:r>
            <a:r>
              <a:rPr lang="vi-VN" b="0" i="0" u="none" strike="noStrike" dirty="0">
                <a:solidFill>
                  <a:srgbClr val="000000"/>
                </a:solidFill>
                <a:effectLst/>
              </a:rPr>
              <a:t>hàng H3K9me2, G9a: nếu TNBC đậm hơn các loại khác Chỉ cần so </a:t>
            </a:r>
            <a:r>
              <a:rPr lang="vi-VN" b="1" i="0" u="none" strike="noStrike" dirty="0">
                <a:solidFill>
                  <a:srgbClr val="000000"/>
                </a:solidFill>
                <a:effectLst/>
              </a:rPr>
              <a:t>độ đậm màu</a:t>
            </a:r>
            <a:r>
              <a:rPr lang="vi-VN" b="0" i="0" u="none" strike="noStrike" dirty="0">
                <a:solidFill>
                  <a:srgbClr val="000000"/>
                </a:solidFill>
                <a:effectLst/>
              </a:rPr>
              <a:t> ở 4 cột.</a:t>
            </a:r>
          </a:p>
          <a:p>
            <a:pPr algn="l"/>
            <a:r>
              <a:rPr lang="vi-VN" b="1" i="0" u="none" strike="noStrike" dirty="0">
                <a:solidFill>
                  <a:srgbClr val="000000"/>
                </a:solidFill>
                <a:effectLst/>
              </a:rPr>
              <a:t>Kết luận</a:t>
            </a:r>
          </a:p>
          <a:p>
            <a:r>
              <a:rPr lang="vi-VN" dirty="0"/>
              <a:t>TNBC có H3K9me2 và G9a tăng cao → khác biệt rõ → tiềm năng làm dấu ấn sinh học và mục tiêu điều trị.</a:t>
            </a:r>
          </a:p>
        </p:txBody>
      </p:sp>
    </p:spTree>
    <p:extLst>
      <p:ext uri="{BB962C8B-B14F-4D97-AF65-F5344CB8AC3E}">
        <p14:creationId xmlns:p14="http://schemas.microsoft.com/office/powerpoint/2010/main" val="6027737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D1C6EA85-5203-0920-E960-B073B2953D2F}"/>
              </a:ext>
            </a:extLst>
          </p:cNvPr>
          <p:cNvPicPr>
            <a:picLocks noChangeAspect="1"/>
          </p:cNvPicPr>
          <p:nvPr/>
        </p:nvPicPr>
        <p:blipFill>
          <a:blip r:embed="rId3"/>
          <a:stretch>
            <a:fillRect/>
          </a:stretch>
        </p:blipFill>
        <p:spPr>
          <a:xfrm>
            <a:off x="0" y="0"/>
            <a:ext cx="4336187" cy="6858000"/>
          </a:xfrm>
          <a:prstGeom prst="rect">
            <a:avLst/>
          </a:prstGeom>
        </p:spPr>
      </p:pic>
      <p:sp>
        <p:nvSpPr>
          <p:cNvPr id="6" name="TextBox 5">
            <a:extLst>
              <a:ext uri="{FF2B5EF4-FFF2-40B4-BE49-F238E27FC236}">
                <a16:creationId xmlns:a16="http://schemas.microsoft.com/office/drawing/2014/main" xmlns="" id="{57989951-EC7F-B050-B334-7036871B3AA6}"/>
              </a:ext>
            </a:extLst>
          </p:cNvPr>
          <p:cNvSpPr txBox="1"/>
          <p:nvPr/>
        </p:nvSpPr>
        <p:spPr>
          <a:xfrm>
            <a:off x="4568734" y="172701"/>
            <a:ext cx="4575266" cy="6001643"/>
          </a:xfrm>
          <a:prstGeom prst="rect">
            <a:avLst/>
          </a:prstGeom>
          <a:noFill/>
        </p:spPr>
        <p:txBody>
          <a:bodyPr wrap="square">
            <a:spAutoFit/>
          </a:bodyPr>
          <a:lstStyle/>
          <a:p>
            <a:pPr algn="l"/>
            <a:r>
              <a:rPr lang="vi-VN" sz="1600" dirty="0">
                <a:solidFill>
                  <a:srgbClr val="000000"/>
                </a:solidFill>
                <a:latin typeface="Arial" panose="020B0604020202020204" pitchFamily="34" charset="0"/>
                <a:cs typeface="Arial" panose="020B0604020202020204" pitchFamily="34" charset="0"/>
              </a:rPr>
              <a:t> </a:t>
            </a:r>
            <a:r>
              <a:rPr lang="en-US" sz="1600" b="1" dirty="0">
                <a:solidFill>
                  <a:srgbClr val="000000"/>
                </a:solidFill>
                <a:latin typeface="Arial" panose="020B0604020202020204" pitchFamily="34" charset="0"/>
                <a:cs typeface="Arial" panose="020B0604020202020204" pitchFamily="34" charset="0"/>
              </a:rPr>
              <a:t>S</a:t>
            </a:r>
            <a:r>
              <a:rPr lang="vi-VN" sz="1600" b="1" dirty="0" smtClean="0">
                <a:solidFill>
                  <a:srgbClr val="000000"/>
                </a:solidFill>
                <a:latin typeface="Arial" panose="020B0604020202020204" pitchFamily="34" charset="0"/>
                <a:cs typeface="Arial" panose="020B0604020202020204" pitchFamily="34" charset="0"/>
              </a:rPr>
              <a:t>o </a:t>
            </a:r>
            <a:r>
              <a:rPr lang="vi-VN" sz="1600" b="1" dirty="0">
                <a:solidFill>
                  <a:srgbClr val="000000"/>
                </a:solidFill>
                <a:latin typeface="Arial" panose="020B0604020202020204" pitchFamily="34" charset="0"/>
                <a:cs typeface="Arial" panose="020B0604020202020204" pitchFamily="34" charset="0"/>
              </a:rPr>
              <a:t>sánh mô ngực khỏe mạnh với mô ung thư vú</a:t>
            </a:r>
            <a:r>
              <a:rPr lang="vi-VN" sz="1600" dirty="0">
                <a:solidFill>
                  <a:srgbClr val="000000"/>
                </a:solidFill>
                <a:latin typeface="Arial" panose="020B0604020202020204" pitchFamily="34" charset="0"/>
                <a:cs typeface="Arial" panose="020B0604020202020204" pitchFamily="34" charset="0"/>
              </a:rPr>
              <a:t>, để coi những "dấu hiệu" (gọi là </a:t>
            </a:r>
            <a:r>
              <a:rPr lang="vi-VN" sz="1600" b="1" dirty="0">
                <a:solidFill>
                  <a:srgbClr val="000000"/>
                </a:solidFill>
                <a:latin typeface="Arial" panose="020B0604020202020204" pitchFamily="34" charset="0"/>
                <a:cs typeface="Arial" panose="020B0604020202020204" pitchFamily="34" charset="0"/>
              </a:rPr>
              <a:t>histone mark</a:t>
            </a:r>
            <a:r>
              <a:rPr lang="vi-VN" sz="1600" dirty="0">
                <a:solidFill>
                  <a:srgbClr val="000000"/>
                </a:solidFill>
                <a:latin typeface="Arial" panose="020B0604020202020204" pitchFamily="34" charset="0"/>
                <a:cs typeface="Arial" panose="020B0604020202020204" pitchFamily="34" charset="0"/>
              </a:rPr>
              <a:t>) nào xuất hiện nhiều hay ít → để </a:t>
            </a:r>
            <a:r>
              <a:rPr lang="vi-VN" sz="1600" b="1" dirty="0">
                <a:solidFill>
                  <a:srgbClr val="000000"/>
                </a:solidFill>
                <a:latin typeface="Arial" panose="020B0604020202020204" pitchFamily="34" charset="0"/>
                <a:cs typeface="Arial" panose="020B0604020202020204" pitchFamily="34" charset="0"/>
              </a:rPr>
              <a:t>tìm manh mối liên quan đến ung thư</a:t>
            </a:r>
            <a:r>
              <a:rPr lang="vi-VN" sz="1600" dirty="0">
                <a:solidFill>
                  <a:srgbClr val="000000"/>
                </a:solidFill>
                <a:latin typeface="Arial" panose="020B0604020202020204" pitchFamily="34" charset="0"/>
                <a:cs typeface="Arial" panose="020B0604020202020204" pitchFamily="34" charset="0"/>
              </a:rPr>
              <a:t>.</a:t>
            </a:r>
          </a:p>
          <a:p>
            <a:pPr algn="l"/>
            <a:r>
              <a:rPr lang="x-none" sz="1600" b="1" dirty="0">
                <a:solidFill>
                  <a:srgbClr val="000000"/>
                </a:solidFill>
                <a:latin typeface="Arial" panose="020B0604020202020204" pitchFamily="34" charset="0"/>
                <a:cs typeface="Arial" panose="020B0604020202020204" pitchFamily="34" charset="0"/>
              </a:rPr>
              <a:t>🔹 </a:t>
            </a:r>
            <a:r>
              <a:rPr lang="vi-VN" sz="1600" b="1" dirty="0">
                <a:solidFill>
                  <a:srgbClr val="000000"/>
                </a:solidFill>
                <a:latin typeface="Arial" panose="020B0604020202020204" pitchFamily="34" charset="0"/>
                <a:cs typeface="Arial" panose="020B0604020202020204" pitchFamily="34" charset="0"/>
              </a:rPr>
              <a:t>Hình A – So sánh mô giữa các nhóm:</a:t>
            </a: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Cột</a:t>
            </a:r>
            <a:r>
              <a:rPr lang="vi-VN" sz="1600" dirty="0">
                <a:solidFill>
                  <a:srgbClr val="000000"/>
                </a:solidFill>
                <a:latin typeface="Arial" panose="020B0604020202020204" pitchFamily="34" charset="0"/>
                <a:cs typeface="Arial" panose="020B0604020202020204" pitchFamily="34" charset="0"/>
              </a:rPr>
              <a:t> </a:t>
            </a:r>
            <a:r>
              <a:rPr lang="vi-VN" sz="1600" b="1" dirty="0">
                <a:solidFill>
                  <a:srgbClr val="000000"/>
                </a:solidFill>
                <a:latin typeface="Arial" panose="020B0604020202020204" pitchFamily="34" charset="0"/>
                <a:cs typeface="Arial" panose="020B0604020202020204" pitchFamily="34" charset="0"/>
              </a:rPr>
              <a:t>Healthy</a:t>
            </a:r>
            <a:r>
              <a:rPr lang="vi-VN" sz="1600" dirty="0">
                <a:solidFill>
                  <a:srgbClr val="000000"/>
                </a:solidFill>
                <a:latin typeface="Arial" panose="020B0604020202020204" pitchFamily="34" charset="0"/>
                <a:cs typeface="Arial" panose="020B0604020202020204" pitchFamily="34" charset="0"/>
              </a:rPr>
              <a:t>: mô ngực bình thường</a:t>
            </a: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Cột</a:t>
            </a:r>
            <a:r>
              <a:rPr lang="vi-VN" sz="1600" dirty="0">
                <a:solidFill>
                  <a:srgbClr val="000000"/>
                </a:solidFill>
                <a:latin typeface="Arial" panose="020B0604020202020204" pitchFamily="34" charset="0"/>
                <a:cs typeface="Arial" panose="020B0604020202020204" pitchFamily="34" charset="0"/>
              </a:rPr>
              <a:t> </a:t>
            </a:r>
            <a:r>
              <a:rPr lang="vi-VN" sz="1600" b="1" dirty="0">
                <a:solidFill>
                  <a:srgbClr val="000000"/>
                </a:solidFill>
                <a:latin typeface="Arial" panose="020B0604020202020204" pitchFamily="34" charset="0"/>
                <a:cs typeface="Arial" panose="020B0604020202020204" pitchFamily="34" charset="0"/>
              </a:rPr>
              <a:t>Luminal A</a:t>
            </a:r>
            <a:r>
              <a:rPr lang="vi-VN" sz="1600" dirty="0">
                <a:solidFill>
                  <a:srgbClr val="000000"/>
                </a:solidFill>
                <a:latin typeface="Arial" panose="020B0604020202020204" pitchFamily="34" charset="0"/>
                <a:cs typeface="Arial" panose="020B0604020202020204" pitchFamily="34" charset="0"/>
              </a:rPr>
              <a:t> và </a:t>
            </a:r>
            <a:r>
              <a:rPr lang="vi-VN" sz="1600" b="1" dirty="0">
                <a:solidFill>
                  <a:srgbClr val="000000"/>
                </a:solidFill>
                <a:latin typeface="Arial" panose="020B0604020202020204" pitchFamily="34" charset="0"/>
                <a:cs typeface="Arial" panose="020B0604020202020204" pitchFamily="34" charset="0"/>
              </a:rPr>
              <a:t>TNBC</a:t>
            </a:r>
            <a:r>
              <a:rPr lang="vi-VN" sz="1600" dirty="0">
                <a:solidFill>
                  <a:srgbClr val="000000"/>
                </a:solidFill>
                <a:latin typeface="Arial" panose="020B0604020202020204" pitchFamily="34" charset="0"/>
                <a:cs typeface="Arial" panose="020B0604020202020204" pitchFamily="34" charset="0"/>
              </a:rPr>
              <a:t>: hai loại ung thư vú</a:t>
            </a: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Hàng </a:t>
            </a:r>
            <a:r>
              <a:rPr lang="vi-VN" sz="1600" dirty="0">
                <a:solidFill>
                  <a:srgbClr val="000000"/>
                </a:solidFill>
                <a:latin typeface="Arial" panose="020B0604020202020204" pitchFamily="34" charset="0"/>
                <a:cs typeface="Arial" panose="020B0604020202020204" pitchFamily="34" charset="0"/>
              </a:rPr>
              <a:t>dọc: các “dấu histone” như </a:t>
            </a:r>
            <a:r>
              <a:rPr lang="vi-VN" sz="1600" b="1" dirty="0">
                <a:solidFill>
                  <a:srgbClr val="000000"/>
                </a:solidFill>
                <a:latin typeface="Arial" panose="020B0604020202020204" pitchFamily="34" charset="0"/>
                <a:cs typeface="Arial" panose="020B0604020202020204" pitchFamily="34" charset="0"/>
              </a:rPr>
              <a:t>H3K4me2</a:t>
            </a:r>
            <a:r>
              <a:rPr lang="vi-VN" sz="1600" dirty="0">
                <a:solidFill>
                  <a:srgbClr val="000000"/>
                </a:solidFill>
                <a:latin typeface="Arial" panose="020B0604020202020204" pitchFamily="34" charset="0"/>
                <a:cs typeface="Arial" panose="020B0604020202020204" pitchFamily="34" charset="0"/>
              </a:rPr>
              <a:t>, </a:t>
            </a:r>
            <a:r>
              <a:rPr lang="vi-VN" sz="1600" b="1" dirty="0">
                <a:solidFill>
                  <a:srgbClr val="000000"/>
                </a:solidFill>
                <a:latin typeface="Arial" panose="020B0604020202020204" pitchFamily="34" charset="0"/>
                <a:cs typeface="Arial" panose="020B0604020202020204" pitchFamily="34" charset="0"/>
              </a:rPr>
              <a:t>H3K9ac</a:t>
            </a:r>
            <a:r>
              <a:rPr lang="vi-VN" sz="1600" dirty="0">
                <a:solidFill>
                  <a:srgbClr val="000000"/>
                </a:solidFill>
                <a:latin typeface="Arial" panose="020B0604020202020204" pitchFamily="34" charset="0"/>
                <a:cs typeface="Arial" panose="020B0604020202020204" pitchFamily="34" charset="0"/>
              </a:rPr>
              <a:t>, </a:t>
            </a:r>
            <a:r>
              <a:rPr lang="vi-VN" sz="1600" b="1" dirty="0">
                <a:solidFill>
                  <a:srgbClr val="000000"/>
                </a:solidFill>
                <a:latin typeface="Arial" panose="020B0604020202020204" pitchFamily="34" charset="0"/>
                <a:cs typeface="Arial" panose="020B0604020202020204" pitchFamily="34" charset="0"/>
              </a:rPr>
              <a:t>G9a</a:t>
            </a:r>
            <a:r>
              <a:rPr lang="vi-VN" sz="1600" dirty="0">
                <a:solidFill>
                  <a:srgbClr val="000000"/>
                </a:solidFill>
                <a:latin typeface="Arial" panose="020B0604020202020204" pitchFamily="34" charset="0"/>
                <a:cs typeface="Arial" panose="020B0604020202020204" pitchFamily="34" charset="0"/>
              </a:rPr>
              <a:t>...</a:t>
            </a:r>
          </a:p>
          <a:p>
            <a:pPr algn="l"/>
            <a:r>
              <a:rPr lang="x-none" sz="1600" dirty="0">
                <a:solidFill>
                  <a:srgbClr val="000000"/>
                </a:solidFill>
                <a:latin typeface="Arial" panose="020B0604020202020204" pitchFamily="34" charset="0"/>
                <a:cs typeface="Arial" panose="020B0604020202020204" pitchFamily="34" charset="0"/>
              </a:rPr>
              <a:t>👉 </a:t>
            </a:r>
            <a:r>
              <a:rPr lang="vi-VN" sz="1600" dirty="0">
                <a:solidFill>
                  <a:srgbClr val="000000"/>
                </a:solidFill>
                <a:latin typeface="Arial" panose="020B0604020202020204" pitchFamily="34" charset="0"/>
                <a:cs typeface="Arial" panose="020B0604020202020204" pitchFamily="34" charset="0"/>
              </a:rPr>
              <a:t>Nhìn vào hình:</a:t>
            </a: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Cái </a:t>
            </a:r>
            <a:r>
              <a:rPr lang="vi-VN" sz="1600" dirty="0">
                <a:solidFill>
                  <a:srgbClr val="000000"/>
                </a:solidFill>
                <a:latin typeface="Arial" panose="020B0604020202020204" pitchFamily="34" charset="0"/>
                <a:cs typeface="Arial" panose="020B0604020202020204" pitchFamily="34" charset="0"/>
              </a:rPr>
              <a:t>nào </a:t>
            </a:r>
            <a:r>
              <a:rPr lang="vi-VN" sz="1600" b="1" dirty="0">
                <a:solidFill>
                  <a:srgbClr val="000000"/>
                </a:solidFill>
                <a:latin typeface="Arial" panose="020B0604020202020204" pitchFamily="34" charset="0"/>
                <a:cs typeface="Arial" panose="020B0604020202020204" pitchFamily="34" charset="0"/>
              </a:rPr>
              <a:t>nhuộm đậm</a:t>
            </a:r>
            <a:r>
              <a:rPr lang="vi-VN" sz="1600" dirty="0">
                <a:solidFill>
                  <a:srgbClr val="000000"/>
                </a:solidFill>
                <a:latin typeface="Arial" panose="020B0604020202020204" pitchFamily="34" charset="0"/>
                <a:cs typeface="Arial" panose="020B0604020202020204" pitchFamily="34" charset="0"/>
              </a:rPr>
              <a:t> → histone đó </a:t>
            </a:r>
            <a:r>
              <a:rPr lang="vi-VN" sz="1600" b="1" dirty="0">
                <a:solidFill>
                  <a:srgbClr val="000000"/>
                </a:solidFill>
                <a:latin typeface="Arial" panose="020B0604020202020204" pitchFamily="34" charset="0"/>
                <a:cs typeface="Arial" panose="020B0604020202020204" pitchFamily="34" charset="0"/>
              </a:rPr>
              <a:t>nhiều</a:t>
            </a:r>
            <a:endParaRPr lang="vi-VN" sz="1600" dirty="0">
              <a:solidFill>
                <a:srgbClr val="000000"/>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Cái </a:t>
            </a:r>
            <a:r>
              <a:rPr lang="vi-VN" sz="1600" dirty="0">
                <a:solidFill>
                  <a:srgbClr val="000000"/>
                </a:solidFill>
                <a:latin typeface="Arial" panose="020B0604020202020204" pitchFamily="34" charset="0"/>
                <a:cs typeface="Arial" panose="020B0604020202020204" pitchFamily="34" charset="0"/>
              </a:rPr>
              <a:t>nào </a:t>
            </a:r>
            <a:r>
              <a:rPr lang="vi-VN" sz="1600" b="1" dirty="0">
                <a:solidFill>
                  <a:srgbClr val="000000"/>
                </a:solidFill>
                <a:latin typeface="Arial" panose="020B0604020202020204" pitchFamily="34" charset="0"/>
                <a:cs typeface="Arial" panose="020B0604020202020204" pitchFamily="34" charset="0"/>
              </a:rPr>
              <a:t>nhạt</a:t>
            </a:r>
            <a:r>
              <a:rPr lang="vi-VN" sz="1600" dirty="0">
                <a:solidFill>
                  <a:srgbClr val="000000"/>
                </a:solidFill>
                <a:latin typeface="Arial" panose="020B0604020202020204" pitchFamily="34" charset="0"/>
                <a:cs typeface="Arial" panose="020B0604020202020204" pitchFamily="34" charset="0"/>
              </a:rPr>
              <a:t> → histone đó </a:t>
            </a:r>
            <a:r>
              <a:rPr lang="vi-VN" sz="1600" b="1" dirty="0">
                <a:solidFill>
                  <a:srgbClr val="000000"/>
                </a:solidFill>
                <a:latin typeface="Arial" panose="020B0604020202020204" pitchFamily="34" charset="0"/>
                <a:cs typeface="Arial" panose="020B0604020202020204" pitchFamily="34" charset="0"/>
              </a:rPr>
              <a:t>ít</a:t>
            </a:r>
            <a:endParaRPr lang="vi-VN" sz="1600" dirty="0">
              <a:solidFill>
                <a:srgbClr val="000000"/>
              </a:solidFill>
              <a:latin typeface="Arial" panose="020B0604020202020204" pitchFamily="34" charset="0"/>
              <a:cs typeface="Arial" panose="020B0604020202020204" pitchFamily="34" charset="0"/>
            </a:endParaRPr>
          </a:p>
          <a:p>
            <a:pPr algn="l"/>
            <a:r>
              <a:rPr lang="vi-VN" sz="1600" b="1" dirty="0">
                <a:solidFill>
                  <a:srgbClr val="000000"/>
                </a:solidFill>
                <a:latin typeface="Arial" panose="020B0604020202020204" pitchFamily="34" charset="0"/>
                <a:cs typeface="Arial" panose="020B0604020202020204" pitchFamily="34" charset="0"/>
              </a:rPr>
              <a:t>Ví dụ:</a:t>
            </a:r>
            <a:endParaRPr lang="vi-VN" sz="1600" dirty="0">
              <a:solidFill>
                <a:srgbClr val="000000"/>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H3K4me2</a:t>
            </a:r>
            <a:r>
              <a:rPr lang="vi-VN" sz="1600" dirty="0">
                <a:solidFill>
                  <a:srgbClr val="000000"/>
                </a:solidFill>
                <a:latin typeface="Arial" panose="020B0604020202020204" pitchFamily="34" charset="0"/>
                <a:cs typeface="Arial" panose="020B0604020202020204" pitchFamily="34" charset="0"/>
              </a:rPr>
              <a:t>: rõ ở Healthy, nhưng mờ ở ung thư</a:t>
            </a:r>
            <a:br>
              <a:rPr lang="vi-VN" sz="1600" dirty="0">
                <a:solidFill>
                  <a:srgbClr val="000000"/>
                </a:solidFill>
                <a:latin typeface="Arial" panose="020B0604020202020204" pitchFamily="34" charset="0"/>
                <a:cs typeface="Arial" panose="020B0604020202020204" pitchFamily="34" charset="0"/>
              </a:rPr>
            </a:br>
            <a:r>
              <a:rPr lang="vi-VN" sz="1600" dirty="0">
                <a:solidFill>
                  <a:srgbClr val="000000"/>
                </a:solidFill>
                <a:latin typeface="Arial" panose="020B0604020202020204" pitchFamily="34" charset="0"/>
                <a:cs typeface="Arial" panose="020B0604020202020204" pitchFamily="34" charset="0"/>
              </a:rPr>
              <a:t>→ → Có thể bị </a:t>
            </a:r>
            <a:r>
              <a:rPr lang="vi-VN" sz="1600" b="1" dirty="0">
                <a:solidFill>
                  <a:srgbClr val="000000"/>
                </a:solidFill>
                <a:latin typeface="Arial" panose="020B0604020202020204" pitchFamily="34" charset="0"/>
                <a:cs typeface="Arial" panose="020B0604020202020204" pitchFamily="34" charset="0"/>
              </a:rPr>
              <a:t>giảm trong ung thư</a:t>
            </a:r>
            <a:endParaRPr lang="vi-VN" sz="1600" dirty="0">
              <a:solidFill>
                <a:srgbClr val="000000"/>
              </a:solidFill>
              <a:latin typeface="Arial" panose="020B0604020202020204" pitchFamily="34" charset="0"/>
              <a:cs typeface="Arial" panose="020B0604020202020204" pitchFamily="34" charset="0"/>
            </a:endParaRPr>
          </a:p>
          <a:p>
            <a:pPr algn="l"/>
            <a:r>
              <a:rPr lang="x-none" sz="1600" b="1" dirty="0">
                <a:solidFill>
                  <a:srgbClr val="000000"/>
                </a:solidFill>
                <a:latin typeface="Arial" panose="020B0604020202020204" pitchFamily="34" charset="0"/>
                <a:cs typeface="Arial" panose="020B0604020202020204" pitchFamily="34" charset="0"/>
              </a:rPr>
              <a:t>🔹 </a:t>
            </a:r>
            <a:r>
              <a:rPr lang="vi-VN" sz="1600" b="1" dirty="0">
                <a:solidFill>
                  <a:srgbClr val="000000"/>
                </a:solidFill>
                <a:latin typeface="Arial" panose="020B0604020202020204" pitchFamily="34" charset="0"/>
                <a:cs typeface="Arial" panose="020B0604020202020204" pitchFamily="34" charset="0"/>
              </a:rPr>
              <a:t>Hình B – So sánh tế bào có &amp; không estrogen</a:t>
            </a: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So </a:t>
            </a:r>
            <a:r>
              <a:rPr lang="vi-VN" sz="1600" dirty="0">
                <a:solidFill>
                  <a:srgbClr val="000000"/>
                </a:solidFill>
                <a:latin typeface="Arial" panose="020B0604020202020204" pitchFamily="34" charset="0"/>
                <a:cs typeface="Arial" panose="020B0604020202020204" pitchFamily="34" charset="0"/>
              </a:rPr>
              <a:t>sánh giữa tế bào có hormone estrogen (+) và không có (–)</a:t>
            </a:r>
            <a:br>
              <a:rPr lang="vi-VN" sz="1600" dirty="0">
                <a:solidFill>
                  <a:srgbClr val="000000"/>
                </a:solidFill>
                <a:latin typeface="Arial" panose="020B0604020202020204" pitchFamily="34" charset="0"/>
                <a:cs typeface="Arial" panose="020B0604020202020204" pitchFamily="34" charset="0"/>
              </a:rPr>
            </a:br>
            <a:r>
              <a:rPr lang="vi-VN" sz="1600" dirty="0">
                <a:solidFill>
                  <a:srgbClr val="000000"/>
                </a:solidFill>
                <a:latin typeface="Arial" panose="020B0604020202020204" pitchFamily="34" charset="0"/>
                <a:cs typeface="Arial" panose="020B0604020202020204" pitchFamily="34" charset="0"/>
              </a:rPr>
              <a:t>→ Để xem estrogen có làm thay đổi các histone không</a:t>
            </a:r>
          </a:p>
          <a:p>
            <a:pPr algn="l"/>
            <a:r>
              <a:rPr lang="vi-VN" sz="1600" b="1" dirty="0">
                <a:solidFill>
                  <a:srgbClr val="000000"/>
                </a:solidFill>
                <a:latin typeface="Arial" panose="020B0604020202020204" pitchFamily="34" charset="0"/>
                <a:cs typeface="Arial" panose="020B0604020202020204" pitchFamily="34" charset="0"/>
              </a:rPr>
              <a:t>Ví dụ:</a:t>
            </a:r>
            <a:endParaRPr lang="vi-VN" sz="1600" dirty="0">
              <a:solidFill>
                <a:srgbClr val="000000"/>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1600" dirty="0" smtClean="0">
                <a:solidFill>
                  <a:srgbClr val="000000"/>
                </a:solidFill>
                <a:latin typeface="Arial" panose="020B0604020202020204" pitchFamily="34" charset="0"/>
                <a:cs typeface="Arial" panose="020B0604020202020204" pitchFamily="34" charset="0"/>
              </a:rPr>
              <a:t> </a:t>
            </a:r>
            <a:r>
              <a:rPr lang="vi-VN" sz="1600" dirty="0" smtClean="0">
                <a:solidFill>
                  <a:srgbClr val="000000"/>
                </a:solidFill>
                <a:latin typeface="Arial" panose="020B0604020202020204" pitchFamily="34" charset="0"/>
                <a:cs typeface="Arial" panose="020B0604020202020204" pitchFamily="34" charset="0"/>
              </a:rPr>
              <a:t>H3K9ac</a:t>
            </a:r>
            <a:r>
              <a:rPr lang="vi-VN" sz="1600" dirty="0">
                <a:solidFill>
                  <a:srgbClr val="000000"/>
                </a:solidFill>
                <a:latin typeface="Arial" panose="020B0604020202020204" pitchFamily="34" charset="0"/>
                <a:cs typeface="Arial" panose="020B0604020202020204" pitchFamily="34" charset="0"/>
              </a:rPr>
              <a:t>: đậm hơn ở estrogen (+)</a:t>
            </a:r>
            <a:br>
              <a:rPr lang="vi-VN" sz="1600" dirty="0">
                <a:solidFill>
                  <a:srgbClr val="000000"/>
                </a:solidFill>
                <a:latin typeface="Arial" panose="020B0604020202020204" pitchFamily="34" charset="0"/>
                <a:cs typeface="Arial" panose="020B0604020202020204" pitchFamily="34" charset="0"/>
              </a:rPr>
            </a:br>
            <a:r>
              <a:rPr lang="vi-VN" sz="1600" dirty="0">
                <a:solidFill>
                  <a:srgbClr val="000000"/>
                </a:solidFill>
                <a:latin typeface="Arial" panose="020B0604020202020204" pitchFamily="34" charset="0"/>
                <a:cs typeface="Arial" panose="020B0604020202020204" pitchFamily="34" charset="0"/>
              </a:rPr>
              <a:t>→ Có thể estrogen </a:t>
            </a:r>
            <a:r>
              <a:rPr lang="vi-VN" sz="1600" b="1" dirty="0">
                <a:solidFill>
                  <a:srgbClr val="000000"/>
                </a:solidFill>
                <a:latin typeface="Arial" panose="020B0604020202020204" pitchFamily="34" charset="0"/>
                <a:cs typeface="Arial" panose="020B0604020202020204" pitchFamily="34" charset="0"/>
              </a:rPr>
              <a:t>kích hoạt</a:t>
            </a:r>
            <a:r>
              <a:rPr lang="vi-VN" sz="1600" dirty="0">
                <a:solidFill>
                  <a:srgbClr val="000000"/>
                </a:solidFill>
                <a:latin typeface="Arial" panose="020B0604020202020204" pitchFamily="34" charset="0"/>
                <a:cs typeface="Arial" panose="020B0604020202020204" pitchFamily="34" charset="0"/>
              </a:rPr>
              <a:t> dấu hiệu này</a:t>
            </a:r>
          </a:p>
        </p:txBody>
      </p:sp>
    </p:spTree>
    <p:extLst>
      <p:ext uri="{BB962C8B-B14F-4D97-AF65-F5344CB8AC3E}">
        <p14:creationId xmlns:p14="http://schemas.microsoft.com/office/powerpoint/2010/main" val="9392015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9FA44638-2180-0ED3-9758-9EA15EFBA130}"/>
              </a:ext>
            </a:extLst>
          </p:cNvPr>
          <p:cNvPicPr>
            <a:picLocks noChangeAspect="1"/>
          </p:cNvPicPr>
          <p:nvPr/>
        </p:nvPicPr>
        <p:blipFill>
          <a:blip r:embed="rId3"/>
          <a:stretch>
            <a:fillRect/>
          </a:stretch>
        </p:blipFill>
        <p:spPr>
          <a:xfrm>
            <a:off x="0" y="857250"/>
            <a:ext cx="4165679" cy="5143500"/>
          </a:xfrm>
          <a:prstGeom prst="rect">
            <a:avLst/>
          </a:prstGeom>
        </p:spPr>
      </p:pic>
      <p:sp>
        <p:nvSpPr>
          <p:cNvPr id="7" name="TextBox 6">
            <a:extLst>
              <a:ext uri="{FF2B5EF4-FFF2-40B4-BE49-F238E27FC236}">
                <a16:creationId xmlns:a16="http://schemas.microsoft.com/office/drawing/2014/main" xmlns="" id="{A8D177DC-1EB8-6AA3-33BA-1B0DA7533A8F}"/>
              </a:ext>
            </a:extLst>
          </p:cNvPr>
          <p:cNvSpPr txBox="1"/>
          <p:nvPr/>
        </p:nvSpPr>
        <p:spPr>
          <a:xfrm>
            <a:off x="4310742" y="1052944"/>
            <a:ext cx="4833258" cy="5693866"/>
          </a:xfrm>
          <a:prstGeom prst="rect">
            <a:avLst/>
          </a:prstGeom>
          <a:noFill/>
        </p:spPr>
        <p:txBody>
          <a:bodyPr wrap="square">
            <a:spAutoFit/>
          </a:bodyPr>
          <a:lstStyle/>
          <a:p>
            <a:r>
              <a:rPr lang="vi-VN" sz="1400" b="1" dirty="0">
                <a:solidFill>
                  <a:srgbClr val="000000"/>
                </a:solidFill>
                <a:latin typeface="Arial" panose="020B0604020202020204" pitchFamily="34" charset="0"/>
                <a:cs typeface="Arial" panose="020B0604020202020204" pitchFamily="34" charset="0"/>
              </a:rPr>
              <a:t>Biểu đồ  thể hiện mức độ biểu hiện epigenetic theo các mức độ nặng của ung thư vú</a:t>
            </a:r>
            <a:endParaRPr lang="vi-VN" sz="1400" dirty="0">
              <a:solidFill>
                <a:srgbClr val="000000"/>
              </a:solidFill>
              <a:latin typeface="Arial" panose="020B0604020202020204" pitchFamily="34" charset="0"/>
              <a:cs typeface="Arial" panose="020B0604020202020204" pitchFamily="34" charset="0"/>
            </a:endParaRPr>
          </a:p>
          <a:p>
            <a:pPr algn="l"/>
            <a:r>
              <a:rPr lang="vi-VN" sz="1400" dirty="0">
                <a:solidFill>
                  <a:srgbClr val="000000"/>
                </a:solidFill>
                <a:latin typeface="Arial" panose="020B0604020202020204" pitchFamily="34" charset="0"/>
                <a:cs typeface="Arial" panose="020B0604020202020204" pitchFamily="34" charset="0"/>
              </a:rPr>
              <a:t>Dữ liệu Hình A được chuyển thành biểu đồ cột ở Hình B để dễ so sánh hơn.</a:t>
            </a:r>
          </a:p>
          <a:p>
            <a:pPr algn="l">
              <a:buFont typeface="Arial" panose="020B0604020202020204" pitchFamily="34" charset="0"/>
              <a:buChar char="•"/>
            </a:pPr>
            <a:r>
              <a:rPr lang="vi-VN" sz="1400" b="1" dirty="0">
                <a:solidFill>
                  <a:srgbClr val="000000"/>
                </a:solidFill>
                <a:latin typeface="Arial" panose="020B0604020202020204" pitchFamily="34" charset="0"/>
                <a:cs typeface="Arial" panose="020B0604020202020204" pitchFamily="34" charset="0"/>
              </a:rPr>
              <a:t>Hình A</a:t>
            </a:r>
            <a:r>
              <a:rPr lang="vi-VN" sz="1400" dirty="0">
                <a:solidFill>
                  <a:srgbClr val="000000"/>
                </a:solidFill>
                <a:latin typeface="Arial" panose="020B0604020202020204" pitchFamily="34" charset="0"/>
                <a:cs typeface="Arial" panose="020B0604020202020204" pitchFamily="34" charset="0"/>
              </a:rPr>
              <a:t>: Vòng tròn thể hiện % mẫu có mức biểu hiện cao (High-IHC) theo từng giai đoạn bệnh.</a:t>
            </a:r>
          </a:p>
          <a:p>
            <a:pPr algn="l">
              <a:buFont typeface="Arial" panose="020B0604020202020204" pitchFamily="34" charset="0"/>
              <a:buChar char="•"/>
            </a:pPr>
            <a:r>
              <a:rPr lang="vi-VN" sz="1400" b="1" dirty="0">
                <a:solidFill>
                  <a:srgbClr val="000000"/>
                </a:solidFill>
                <a:latin typeface="Arial" panose="020B0604020202020204" pitchFamily="34" charset="0"/>
                <a:cs typeface="Arial" panose="020B0604020202020204" pitchFamily="34" charset="0"/>
              </a:rPr>
              <a:t>Hình B</a:t>
            </a:r>
            <a:r>
              <a:rPr lang="vi-VN" sz="1400" dirty="0">
                <a:solidFill>
                  <a:srgbClr val="000000"/>
                </a:solidFill>
                <a:latin typeface="Arial" panose="020B0604020202020204" pitchFamily="34" charset="0"/>
                <a:cs typeface="Arial" panose="020B0604020202020204" pitchFamily="34" charset="0"/>
              </a:rPr>
              <a:t>: Dữ liệu đó được vẽ lại thành cột, giúp thấy rõ xu hướng tăng/giảm.</a:t>
            </a:r>
          </a:p>
          <a:p>
            <a:pPr algn="l"/>
            <a:r>
              <a:rPr lang="vi-VN" sz="1400" dirty="0">
                <a:solidFill>
                  <a:srgbClr val="000000"/>
                </a:solidFill>
                <a:latin typeface="Arial" panose="020B0604020202020204" pitchFamily="34" charset="0"/>
                <a:cs typeface="Arial" panose="020B0604020202020204" pitchFamily="34" charset="0"/>
              </a:rPr>
              <a:t>Trong </a:t>
            </a:r>
            <a:r>
              <a:rPr lang="vi-VN" sz="1400" b="1" dirty="0">
                <a:solidFill>
                  <a:srgbClr val="000000"/>
                </a:solidFill>
                <a:latin typeface="Arial" panose="020B0604020202020204" pitchFamily="34" charset="0"/>
                <a:cs typeface="Arial" panose="020B0604020202020204" pitchFamily="34" charset="0"/>
              </a:rPr>
              <a:t>Hình A</a:t>
            </a:r>
            <a:r>
              <a:rPr lang="vi-VN" sz="1400" dirty="0">
                <a:solidFill>
                  <a:srgbClr val="000000"/>
                </a:solidFill>
                <a:latin typeface="Arial" panose="020B0604020202020204" pitchFamily="34" charset="0"/>
                <a:cs typeface="Arial" panose="020B0604020202020204" pitchFamily="34" charset="0"/>
              </a:rPr>
              <a:t>, màu sắc thể hiện </a:t>
            </a:r>
            <a:r>
              <a:rPr lang="vi-VN" sz="1400" b="1" dirty="0">
                <a:solidFill>
                  <a:srgbClr val="000000"/>
                </a:solidFill>
                <a:latin typeface="Arial" panose="020B0604020202020204" pitchFamily="34" charset="0"/>
                <a:cs typeface="Arial" panose="020B0604020202020204" pitchFamily="34" charset="0"/>
              </a:rPr>
              <a:t>mức độ biểu hiện</a:t>
            </a:r>
            <a:r>
              <a:rPr lang="vi-VN" sz="1400" dirty="0">
                <a:solidFill>
                  <a:srgbClr val="000000"/>
                </a:solidFill>
                <a:latin typeface="Arial" panose="020B0604020202020204" pitchFamily="34" charset="0"/>
                <a:cs typeface="Arial" panose="020B0604020202020204" pitchFamily="34" charset="0"/>
              </a:rPr>
              <a:t> của các dấu ấn biểu mô (epigenetic markers):</a:t>
            </a:r>
          </a:p>
          <a:p>
            <a:pPr algn="l">
              <a:buFont typeface="Arial" panose="020B0604020202020204" pitchFamily="34" charset="0"/>
              <a:buChar char="•"/>
            </a:pPr>
            <a:r>
              <a:rPr lang="vi-VN" sz="1400" b="1" dirty="0">
                <a:solidFill>
                  <a:srgbClr val="000000"/>
                </a:solidFill>
                <a:latin typeface="Arial" panose="020B0604020202020204" pitchFamily="34" charset="0"/>
                <a:cs typeface="Arial" panose="020B0604020202020204" pitchFamily="34" charset="0"/>
              </a:rPr>
              <a:t>Màu nâu đậm (cam)</a:t>
            </a:r>
            <a:r>
              <a:rPr lang="vi-VN" sz="1400" dirty="0">
                <a:solidFill>
                  <a:srgbClr val="000000"/>
                </a:solidFill>
                <a:latin typeface="Arial" panose="020B0604020202020204" pitchFamily="34" charset="0"/>
                <a:cs typeface="Arial" panose="020B0604020202020204" pitchFamily="34" charset="0"/>
              </a:rPr>
              <a:t> → </a:t>
            </a:r>
            <a:r>
              <a:rPr lang="vi-VN" sz="1400" b="1" dirty="0">
                <a:solidFill>
                  <a:srgbClr val="000000"/>
                </a:solidFill>
                <a:latin typeface="Arial" panose="020B0604020202020204" pitchFamily="34" charset="0"/>
                <a:cs typeface="Arial" panose="020B0604020202020204" pitchFamily="34" charset="0"/>
              </a:rPr>
              <a:t>Mức biểu hiện cao</a:t>
            </a:r>
            <a:endParaRPr lang="vi-VN" sz="1400" dirty="0">
              <a:solidFill>
                <a:srgbClr val="000000"/>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vi-VN" sz="1400" b="1" dirty="0">
                <a:solidFill>
                  <a:srgbClr val="000000"/>
                </a:solidFill>
                <a:latin typeface="Arial" panose="020B0604020202020204" pitchFamily="34" charset="0"/>
                <a:cs typeface="Arial" panose="020B0604020202020204" pitchFamily="34" charset="0"/>
              </a:rPr>
              <a:t>Màu xanh nhạt</a:t>
            </a:r>
            <a:r>
              <a:rPr lang="vi-VN" sz="1400" dirty="0">
                <a:solidFill>
                  <a:srgbClr val="000000"/>
                </a:solidFill>
                <a:latin typeface="Arial" panose="020B0604020202020204" pitchFamily="34" charset="0"/>
                <a:cs typeface="Arial" panose="020B0604020202020204" pitchFamily="34" charset="0"/>
              </a:rPr>
              <a:t> → </a:t>
            </a:r>
            <a:r>
              <a:rPr lang="vi-VN" sz="1400" b="1" dirty="0">
                <a:solidFill>
                  <a:srgbClr val="000000"/>
                </a:solidFill>
                <a:latin typeface="Arial" panose="020B0604020202020204" pitchFamily="34" charset="0"/>
                <a:cs typeface="Arial" panose="020B0604020202020204" pitchFamily="34" charset="0"/>
              </a:rPr>
              <a:t>Mức biểu hiện thấp</a:t>
            </a:r>
            <a:endParaRPr lang="vi-VN" sz="1400" dirty="0">
              <a:solidFill>
                <a:srgbClr val="000000"/>
              </a:solidFill>
              <a:latin typeface="Arial" panose="020B0604020202020204" pitchFamily="34" charset="0"/>
              <a:cs typeface="Arial" panose="020B0604020202020204" pitchFamily="34" charset="0"/>
            </a:endParaRPr>
          </a:p>
          <a:p>
            <a:pPr algn="l"/>
            <a:r>
              <a:rPr lang="vi-VN" sz="1400" b="1" dirty="0">
                <a:solidFill>
                  <a:srgbClr val="000000"/>
                </a:solidFill>
                <a:latin typeface="Arial" panose="020B0604020202020204" pitchFamily="34" charset="0"/>
                <a:cs typeface="Arial" panose="020B0604020202020204" pitchFamily="34" charset="0"/>
              </a:rPr>
              <a:t>Ý nghĩa màu theo cột:</a:t>
            </a:r>
          </a:p>
          <a:p>
            <a:pPr algn="l">
              <a:buFont typeface="Arial" panose="020B0604020202020204" pitchFamily="34" charset="0"/>
              <a:buChar char="•"/>
            </a:pPr>
            <a:r>
              <a:rPr lang="vi-VN" sz="1400" b="1" dirty="0">
                <a:solidFill>
                  <a:srgbClr val="000000"/>
                </a:solidFill>
                <a:latin typeface="Arial" panose="020B0604020202020204" pitchFamily="34" charset="0"/>
                <a:cs typeface="Arial" panose="020B0604020202020204" pitchFamily="34" charset="0"/>
              </a:rPr>
              <a:t>Grade (Độ biệt hóa)</a:t>
            </a:r>
            <a:r>
              <a:rPr lang="vi-VN" sz="1400" dirty="0">
                <a:solidFill>
                  <a:srgbClr val="000000"/>
                </a:solidFill>
                <a:latin typeface="Arial" panose="020B0604020202020204" pitchFamily="34" charset="0"/>
                <a:cs typeface="Arial" panose="020B0604020202020204" pitchFamily="34" charset="0"/>
              </a:rPr>
              <a:t>: từ 2 đến 3 → các dấu ấn như H3K79me, DNMT1, H3K18ac tăng dần theo mức độ ác tính.</a:t>
            </a:r>
          </a:p>
          <a:p>
            <a:pPr algn="l">
              <a:buFont typeface="Arial" panose="020B0604020202020204" pitchFamily="34" charset="0"/>
              <a:buChar char="•"/>
            </a:pPr>
            <a:r>
              <a:rPr lang="vi-VN" sz="1400" b="1" dirty="0">
                <a:solidFill>
                  <a:srgbClr val="000000"/>
                </a:solidFill>
                <a:latin typeface="Arial" panose="020B0604020202020204" pitchFamily="34" charset="0"/>
                <a:cs typeface="Arial" panose="020B0604020202020204" pitchFamily="34" charset="0"/>
              </a:rPr>
              <a:t>Tumor Stage (T và N)</a:t>
            </a:r>
            <a:r>
              <a:rPr lang="vi-VN" sz="1400" dirty="0">
                <a:solidFill>
                  <a:srgbClr val="000000"/>
                </a:solidFill>
                <a:latin typeface="Arial" panose="020B0604020202020204" pitchFamily="34" charset="0"/>
                <a:cs typeface="Arial" panose="020B0604020202020204" pitchFamily="34" charset="0"/>
              </a:rPr>
              <a:t>:</a:t>
            </a:r>
          </a:p>
          <a:p>
            <a:pPr marL="557213" lvl="1" indent="-214313">
              <a:buFont typeface="Arial" panose="020B0604020202020204" pitchFamily="34" charset="0"/>
              <a:buChar char="•"/>
            </a:pPr>
            <a:r>
              <a:rPr lang="vi-VN" sz="1400" dirty="0">
                <a:solidFill>
                  <a:srgbClr val="000000"/>
                </a:solidFill>
                <a:latin typeface="Arial" panose="020B0604020202020204" pitchFamily="34" charset="0"/>
                <a:cs typeface="Arial" panose="020B0604020202020204" pitchFamily="34" charset="0"/>
              </a:rPr>
              <a:t>Từ T2 → T4 và N0 → N2: nhiều dấu ấn (G9a, H3K4me2…) có màu nâu đậm hơn → biểu hiện tăng theo giai đoạn.</a:t>
            </a:r>
          </a:p>
          <a:p>
            <a:pPr algn="l">
              <a:buFont typeface="Arial" panose="020B0604020202020204" pitchFamily="34" charset="0"/>
              <a:buChar char="•"/>
            </a:pPr>
            <a:r>
              <a:rPr lang="vi-VN" sz="1400" b="1" dirty="0">
                <a:solidFill>
                  <a:srgbClr val="000000"/>
                </a:solidFill>
                <a:latin typeface="Arial" panose="020B0604020202020204" pitchFamily="34" charset="0"/>
                <a:cs typeface="Arial" panose="020B0604020202020204" pitchFamily="34" charset="0"/>
              </a:rPr>
              <a:t>Clinical Stage (II, III)</a:t>
            </a:r>
            <a:r>
              <a:rPr lang="vi-VN" sz="1400" dirty="0">
                <a:solidFill>
                  <a:srgbClr val="000000"/>
                </a:solidFill>
                <a:latin typeface="Arial" panose="020B0604020202020204" pitchFamily="34" charset="0"/>
                <a:cs typeface="Arial" panose="020B0604020202020204" pitchFamily="34" charset="0"/>
              </a:rPr>
              <a:t>: màu nâu nhiều hơn ở giai đoạn III → dấu ấn tăng ở giai đoạn bệnh nặng hơn.</a:t>
            </a:r>
          </a:p>
          <a:p>
            <a:pPr algn="l"/>
            <a:r>
              <a:rPr lang="x-none" sz="1400" dirty="0">
                <a:solidFill>
                  <a:srgbClr val="000000"/>
                </a:solidFill>
                <a:latin typeface="Arial" panose="020B0604020202020204" pitchFamily="34" charset="0"/>
                <a:cs typeface="Arial" panose="020B0604020202020204" pitchFamily="34" charset="0"/>
              </a:rPr>
              <a:t>💡 </a:t>
            </a:r>
            <a:r>
              <a:rPr lang="vi-VN" sz="1400" b="1" dirty="0">
                <a:solidFill>
                  <a:srgbClr val="000000"/>
                </a:solidFill>
                <a:latin typeface="Arial" panose="020B0604020202020204" pitchFamily="34" charset="0"/>
                <a:cs typeface="Arial" panose="020B0604020202020204" pitchFamily="34" charset="0"/>
              </a:rPr>
              <a:t>Tóm lại</a:t>
            </a:r>
            <a:r>
              <a:rPr lang="vi-VN" sz="1400" dirty="0">
                <a:solidFill>
                  <a:srgbClr val="000000"/>
                </a:solidFill>
                <a:latin typeface="Arial" panose="020B0604020202020204" pitchFamily="34" charset="0"/>
                <a:cs typeface="Arial" panose="020B0604020202020204" pitchFamily="34" charset="0"/>
              </a:rPr>
              <a:t>: màu </a:t>
            </a:r>
            <a:r>
              <a:rPr lang="vi-VN" sz="1400" b="1" dirty="0">
                <a:solidFill>
                  <a:srgbClr val="000000"/>
                </a:solidFill>
                <a:latin typeface="Arial" panose="020B0604020202020204" pitchFamily="34" charset="0"/>
                <a:cs typeface="Arial" panose="020B0604020202020204" pitchFamily="34" charset="0"/>
              </a:rPr>
              <a:t>nâu đậm</a:t>
            </a:r>
            <a:r>
              <a:rPr lang="vi-VN" sz="1400" dirty="0">
                <a:solidFill>
                  <a:srgbClr val="000000"/>
                </a:solidFill>
                <a:latin typeface="Arial" panose="020B0604020202020204" pitchFamily="34" charset="0"/>
                <a:cs typeface="Arial" panose="020B0604020202020204" pitchFamily="34" charset="0"/>
              </a:rPr>
              <a:t> trong Hình A phản ánh </a:t>
            </a:r>
            <a:r>
              <a:rPr lang="vi-VN" sz="1400" b="1" dirty="0">
                <a:solidFill>
                  <a:srgbClr val="000000"/>
                </a:solidFill>
                <a:latin typeface="Arial" panose="020B0604020202020204" pitchFamily="34" charset="0"/>
                <a:cs typeface="Arial" panose="020B0604020202020204" pitchFamily="34" charset="0"/>
              </a:rPr>
              <a:t>mức độ biểu hiện cao</a:t>
            </a:r>
            <a:r>
              <a:rPr lang="vi-VN" sz="1400" dirty="0">
                <a:solidFill>
                  <a:srgbClr val="000000"/>
                </a:solidFill>
                <a:latin typeface="Arial" panose="020B0604020202020204" pitchFamily="34" charset="0"/>
                <a:cs typeface="Arial" panose="020B0604020202020204" pitchFamily="34" charset="0"/>
              </a:rPr>
              <a:t> của các dấu ấn liên quan đến </a:t>
            </a:r>
            <a:r>
              <a:rPr lang="vi-VN" sz="1400" b="1" dirty="0">
                <a:solidFill>
                  <a:srgbClr val="000000"/>
                </a:solidFill>
                <a:latin typeface="Arial" panose="020B0604020202020204" pitchFamily="34" charset="0"/>
                <a:cs typeface="Arial" panose="020B0604020202020204" pitchFamily="34" charset="0"/>
              </a:rPr>
              <a:t>tiến triển ung thư</a:t>
            </a:r>
            <a:r>
              <a:rPr lang="vi-VN" sz="1400" dirty="0">
                <a:solidFill>
                  <a:srgbClr val="000000"/>
                </a:solidFill>
                <a:latin typeface="Arial" panose="020B0604020202020204" pitchFamily="34" charset="0"/>
                <a:cs typeface="Arial" panose="020B0604020202020204" pitchFamily="34" charset="0"/>
              </a:rPr>
              <a:t>.</a:t>
            </a:r>
          </a:p>
          <a:p>
            <a:pPr algn="l"/>
            <a:endParaRPr lang="vi-VN" sz="14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5661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7B28FEFF-C20F-8A87-BD80-478D7EDA20FA}"/>
              </a:ext>
            </a:extLst>
          </p:cNvPr>
          <p:cNvSpPr txBox="1"/>
          <p:nvPr/>
        </p:nvSpPr>
        <p:spPr>
          <a:xfrm>
            <a:off x="2340427" y="0"/>
            <a:ext cx="3472544" cy="715581"/>
          </a:xfrm>
          <a:prstGeom prst="rect">
            <a:avLst/>
          </a:prstGeom>
          <a:noFill/>
        </p:spPr>
        <p:txBody>
          <a:bodyPr wrap="square">
            <a:spAutoFit/>
          </a:bodyPr>
          <a:lstStyle/>
          <a:p>
            <a:pPr algn="l"/>
            <a:r>
              <a:rPr lang="vi-VN" sz="1350" dirty="0">
                <a:solidFill>
                  <a:srgbClr val="000000"/>
                </a:solidFill>
              </a:rPr>
              <a:t>Xử lý số liệu</a:t>
            </a:r>
          </a:p>
          <a:p>
            <a:pPr marL="214313" indent="-214313">
              <a:buFontTx/>
              <a:buChar char="-"/>
            </a:pPr>
            <a:r>
              <a:rPr lang="vi-VN" sz="1350" dirty="0">
                <a:solidFill>
                  <a:srgbClr val="000000"/>
                </a:solidFill>
              </a:rPr>
              <a:t>Lấy số liệu từ hình A chuẩn hóa </a:t>
            </a:r>
          </a:p>
          <a:p>
            <a:pPr marL="214313" indent="-214313">
              <a:buFontTx/>
              <a:buChar char="-"/>
            </a:pPr>
            <a:r>
              <a:rPr lang="vi-VN" sz="1350" dirty="0">
                <a:solidFill>
                  <a:srgbClr val="000000"/>
                </a:solidFill>
              </a:rPr>
              <a:t>Vẽ thông số thành hình B</a:t>
            </a:r>
          </a:p>
        </p:txBody>
      </p:sp>
      <p:graphicFrame>
        <p:nvGraphicFramePr>
          <p:cNvPr id="2" name="Table 1">
            <a:extLst>
              <a:ext uri="{FF2B5EF4-FFF2-40B4-BE49-F238E27FC236}">
                <a16:creationId xmlns:a16="http://schemas.microsoft.com/office/drawing/2014/main" xmlns="" id="{97BA9FDB-A700-DBF5-EF13-4A1CBC682E87}"/>
              </a:ext>
            </a:extLst>
          </p:cNvPr>
          <p:cNvGraphicFramePr>
            <a:graphicFrameLocks noGrp="1"/>
          </p:cNvGraphicFramePr>
          <p:nvPr>
            <p:extLst>
              <p:ext uri="{D42A27DB-BD31-4B8C-83A1-F6EECF244321}">
                <p14:modId xmlns:p14="http://schemas.microsoft.com/office/powerpoint/2010/main" val="2951623699"/>
              </p:ext>
            </p:extLst>
          </p:nvPr>
        </p:nvGraphicFramePr>
        <p:xfrm>
          <a:off x="391885" y="783772"/>
          <a:ext cx="7913916" cy="2716665"/>
        </p:xfrm>
        <a:graphic>
          <a:graphicData uri="http://schemas.openxmlformats.org/drawingml/2006/table">
            <a:tbl>
              <a:tblPr>
                <a:tableStyleId>{5C22544A-7EE6-4342-B048-85BDC9FD1C3A}</a:tableStyleId>
              </a:tblPr>
              <a:tblGrid>
                <a:gridCol w="659493">
                  <a:extLst>
                    <a:ext uri="{9D8B030D-6E8A-4147-A177-3AD203B41FA5}">
                      <a16:colId xmlns:a16="http://schemas.microsoft.com/office/drawing/2014/main" xmlns="" val="3154555518"/>
                    </a:ext>
                  </a:extLst>
                </a:gridCol>
                <a:gridCol w="659493">
                  <a:extLst>
                    <a:ext uri="{9D8B030D-6E8A-4147-A177-3AD203B41FA5}">
                      <a16:colId xmlns:a16="http://schemas.microsoft.com/office/drawing/2014/main" xmlns="" val="2621282680"/>
                    </a:ext>
                  </a:extLst>
                </a:gridCol>
                <a:gridCol w="659493">
                  <a:extLst>
                    <a:ext uri="{9D8B030D-6E8A-4147-A177-3AD203B41FA5}">
                      <a16:colId xmlns:a16="http://schemas.microsoft.com/office/drawing/2014/main" xmlns="" val="2544364368"/>
                    </a:ext>
                  </a:extLst>
                </a:gridCol>
                <a:gridCol w="659493">
                  <a:extLst>
                    <a:ext uri="{9D8B030D-6E8A-4147-A177-3AD203B41FA5}">
                      <a16:colId xmlns:a16="http://schemas.microsoft.com/office/drawing/2014/main" xmlns="" val="2704079806"/>
                    </a:ext>
                  </a:extLst>
                </a:gridCol>
                <a:gridCol w="659493">
                  <a:extLst>
                    <a:ext uri="{9D8B030D-6E8A-4147-A177-3AD203B41FA5}">
                      <a16:colId xmlns:a16="http://schemas.microsoft.com/office/drawing/2014/main" xmlns="" val="3935647600"/>
                    </a:ext>
                  </a:extLst>
                </a:gridCol>
                <a:gridCol w="659493">
                  <a:extLst>
                    <a:ext uri="{9D8B030D-6E8A-4147-A177-3AD203B41FA5}">
                      <a16:colId xmlns:a16="http://schemas.microsoft.com/office/drawing/2014/main" xmlns="" val="849537129"/>
                    </a:ext>
                  </a:extLst>
                </a:gridCol>
                <a:gridCol w="659493">
                  <a:extLst>
                    <a:ext uri="{9D8B030D-6E8A-4147-A177-3AD203B41FA5}">
                      <a16:colId xmlns:a16="http://schemas.microsoft.com/office/drawing/2014/main" xmlns="" val="1687339655"/>
                    </a:ext>
                  </a:extLst>
                </a:gridCol>
                <a:gridCol w="659493">
                  <a:extLst>
                    <a:ext uri="{9D8B030D-6E8A-4147-A177-3AD203B41FA5}">
                      <a16:colId xmlns:a16="http://schemas.microsoft.com/office/drawing/2014/main" xmlns="" val="1022852725"/>
                    </a:ext>
                  </a:extLst>
                </a:gridCol>
                <a:gridCol w="659493">
                  <a:extLst>
                    <a:ext uri="{9D8B030D-6E8A-4147-A177-3AD203B41FA5}">
                      <a16:colId xmlns:a16="http://schemas.microsoft.com/office/drawing/2014/main" xmlns="" val="3019788848"/>
                    </a:ext>
                  </a:extLst>
                </a:gridCol>
                <a:gridCol w="659493">
                  <a:extLst>
                    <a:ext uri="{9D8B030D-6E8A-4147-A177-3AD203B41FA5}">
                      <a16:colId xmlns:a16="http://schemas.microsoft.com/office/drawing/2014/main" xmlns="" val="921369718"/>
                    </a:ext>
                  </a:extLst>
                </a:gridCol>
                <a:gridCol w="659493">
                  <a:extLst>
                    <a:ext uri="{9D8B030D-6E8A-4147-A177-3AD203B41FA5}">
                      <a16:colId xmlns:a16="http://schemas.microsoft.com/office/drawing/2014/main" xmlns="" val="2994369626"/>
                    </a:ext>
                  </a:extLst>
                </a:gridCol>
                <a:gridCol w="659493">
                  <a:extLst>
                    <a:ext uri="{9D8B030D-6E8A-4147-A177-3AD203B41FA5}">
                      <a16:colId xmlns:a16="http://schemas.microsoft.com/office/drawing/2014/main" xmlns="" val="2002547332"/>
                    </a:ext>
                  </a:extLst>
                </a:gridCol>
              </a:tblGrid>
              <a:tr h="181111">
                <a:tc>
                  <a:txBody>
                    <a:bodyPr/>
                    <a:lstStyle/>
                    <a:p>
                      <a:pPr algn="l" fontAlgn="ctr"/>
                      <a:r>
                        <a:rPr lang="en-US" sz="900" u="none" strike="noStrike" dirty="0">
                          <a:effectLst/>
                          <a:latin typeface="Arial" panose="020B0604020202020204" pitchFamily="34" charset="0"/>
                          <a:cs typeface="Arial" panose="020B0604020202020204" pitchFamily="34" charset="0"/>
                        </a:rPr>
                        <a:t>Biomarker</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Grade 2</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Grade 2/3</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Grade 3</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T2</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T3</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T4</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N0</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N1</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N2</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Stage II</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900" u="none" strike="noStrike">
                          <a:effectLst/>
                          <a:latin typeface="Arial" panose="020B0604020202020204" pitchFamily="34" charset="0"/>
                          <a:cs typeface="Arial" panose="020B0604020202020204" pitchFamily="34" charset="0"/>
                        </a:rPr>
                        <a:t>Stage III</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98664903"/>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H3K9me2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12.0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18.2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18.4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10.4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17.4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12.5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16.7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4760201"/>
                  </a:ext>
                </a:extLst>
              </a:tr>
              <a:tr h="181111">
                <a:tc>
                  <a:txBody>
                    <a:bodyPr/>
                    <a:lstStyle/>
                    <a:p>
                      <a:pPr algn="l" fontAlgn="ctr"/>
                      <a:r>
                        <a:rPr lang="en-US" sz="900" u="none" strike="noStrike" dirty="0">
                          <a:effectLst/>
                          <a:latin typeface="Arial" panose="020B0604020202020204" pitchFamily="34" charset="0"/>
                          <a:cs typeface="Arial" panose="020B0604020202020204" pitchFamily="34" charset="0"/>
                        </a:rPr>
                        <a:t>DNMT1</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47.5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36.4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39.4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43.1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42.1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41.8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45.7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43.8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39.4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46.7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77284159"/>
                  </a:ext>
                </a:extLst>
              </a:tr>
              <a:tr h="181111">
                <a:tc>
                  <a:txBody>
                    <a:bodyPr/>
                    <a:lstStyle/>
                    <a:p>
                      <a:pPr algn="l" fontAlgn="ctr"/>
                      <a:r>
                        <a:rPr lang="en-US" sz="900" u="none" strike="noStrike" dirty="0">
                          <a:effectLst/>
                          <a:latin typeface="Arial" panose="020B0604020202020204" pitchFamily="34" charset="0"/>
                          <a:cs typeface="Arial" panose="020B0604020202020204" pitchFamily="34" charset="0"/>
                        </a:rPr>
                        <a:t>H4K12ac</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40.9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37.2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27.6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42.1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41.8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32.6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12.5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37.1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33.3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65251805"/>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H3K4me2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75.9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62.5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45.5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73.4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60.3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78.9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76.1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71.7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31.3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61.1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62055339"/>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H4K20me3</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67.1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37.5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40.9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62.8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56.9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60.5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64.9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31.3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65.9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29662686"/>
                  </a:ext>
                </a:extLst>
              </a:tr>
              <a:tr h="181111">
                <a:tc>
                  <a:txBody>
                    <a:bodyPr/>
                    <a:lstStyle/>
                    <a:p>
                      <a:pPr algn="l" fontAlgn="ctr"/>
                      <a:r>
                        <a:rPr lang="en-US" sz="900" u="none" strike="noStrike" dirty="0">
                          <a:effectLst/>
                          <a:latin typeface="Arial" panose="020B0604020202020204" pitchFamily="34" charset="0"/>
                          <a:cs typeface="Arial" panose="020B0604020202020204" pitchFamily="34" charset="0"/>
                        </a:rPr>
                        <a:t>H3K79me</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35.4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28.7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32.8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23.7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34.3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30.4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31.8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71536820"/>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H3K18ac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71.5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69.1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79.3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60.5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76.9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67.4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77.3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53.3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68169091"/>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H3K27ac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52.5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45.7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39.5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55.2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45.7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56.1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36.7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8233971"/>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EZH2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70.9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37.5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54.5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74.1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55.3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69.4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69.6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31.3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71.2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53.3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23502774"/>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NSD1</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60.1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31.3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45.5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52.1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55.3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61.9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47.8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31.3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56.1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53.3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32458616"/>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H4R3me2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30.4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22.7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18.1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27.6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27.6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78.9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26.9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56.5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19.7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80160694"/>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SMYD2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58.9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44.7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55.2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92.1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59.7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58.7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45806540"/>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G9a</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41.1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75.0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13.6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31.9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43.1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55.3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47.8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32.6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39.4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35537837"/>
                  </a:ext>
                </a:extLst>
              </a:tr>
              <a:tr h="181111">
                <a:tc>
                  <a:txBody>
                    <a:bodyPr/>
                    <a:lstStyle/>
                    <a:p>
                      <a:pPr algn="l" fontAlgn="ctr"/>
                      <a:r>
                        <a:rPr lang="en-US" sz="900" u="none" strike="noStrike">
                          <a:effectLst/>
                          <a:latin typeface="Arial" panose="020B0604020202020204" pitchFamily="34" charset="0"/>
                          <a:cs typeface="Arial" panose="020B0604020202020204" pitchFamily="34" charset="0"/>
                        </a:rPr>
                        <a:t>KDM3A</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13.9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12.5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4.5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10.6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10.5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14.9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8.7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a:effectLst/>
                          <a:latin typeface="Arial" panose="020B0604020202020204" pitchFamily="34" charset="0"/>
                          <a:cs typeface="Arial" panose="020B0604020202020204" pitchFamily="34" charset="0"/>
                        </a:rPr>
                        <a:t>11.4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x-none" sz="900" u="none" strike="noStrike" dirty="0">
                          <a:effectLst/>
                          <a:latin typeface="Arial" panose="020B0604020202020204" pitchFamily="34" charset="0"/>
                          <a:cs typeface="Arial" panose="020B0604020202020204" pitchFamily="34" charset="0"/>
                        </a:rPr>
                        <a:t>10.0</a:t>
                      </a:r>
                      <a:endParaRPr lang="x-none"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18993767"/>
                  </a:ext>
                </a:extLst>
              </a:tr>
            </a:tbl>
          </a:graphicData>
        </a:graphic>
      </p:graphicFrame>
      <p:graphicFrame>
        <p:nvGraphicFramePr>
          <p:cNvPr id="3" name="Table 2">
            <a:extLst>
              <a:ext uri="{FF2B5EF4-FFF2-40B4-BE49-F238E27FC236}">
                <a16:creationId xmlns:a16="http://schemas.microsoft.com/office/drawing/2014/main" xmlns="" id="{F2CBA852-71B2-C501-76F0-9E9346001AF0}"/>
              </a:ext>
            </a:extLst>
          </p:cNvPr>
          <p:cNvGraphicFramePr>
            <a:graphicFrameLocks noGrp="1"/>
          </p:cNvGraphicFramePr>
          <p:nvPr>
            <p:extLst>
              <p:ext uri="{D42A27DB-BD31-4B8C-83A1-F6EECF244321}">
                <p14:modId xmlns:p14="http://schemas.microsoft.com/office/powerpoint/2010/main" val="1030883704"/>
              </p:ext>
            </p:extLst>
          </p:nvPr>
        </p:nvGraphicFramePr>
        <p:xfrm>
          <a:off x="391885" y="3700463"/>
          <a:ext cx="7946568" cy="2645910"/>
        </p:xfrm>
        <a:graphic>
          <a:graphicData uri="http://schemas.openxmlformats.org/drawingml/2006/table">
            <a:tbl>
              <a:tblPr>
                <a:tableStyleId>{5C22544A-7EE6-4342-B048-85BDC9FD1C3A}</a:tableStyleId>
              </a:tblPr>
              <a:tblGrid>
                <a:gridCol w="662214">
                  <a:extLst>
                    <a:ext uri="{9D8B030D-6E8A-4147-A177-3AD203B41FA5}">
                      <a16:colId xmlns:a16="http://schemas.microsoft.com/office/drawing/2014/main" xmlns="" val="420797855"/>
                    </a:ext>
                  </a:extLst>
                </a:gridCol>
                <a:gridCol w="662214">
                  <a:extLst>
                    <a:ext uri="{9D8B030D-6E8A-4147-A177-3AD203B41FA5}">
                      <a16:colId xmlns:a16="http://schemas.microsoft.com/office/drawing/2014/main" xmlns="" val="1131352890"/>
                    </a:ext>
                  </a:extLst>
                </a:gridCol>
                <a:gridCol w="662214">
                  <a:extLst>
                    <a:ext uri="{9D8B030D-6E8A-4147-A177-3AD203B41FA5}">
                      <a16:colId xmlns:a16="http://schemas.microsoft.com/office/drawing/2014/main" xmlns="" val="1343772181"/>
                    </a:ext>
                  </a:extLst>
                </a:gridCol>
                <a:gridCol w="662214">
                  <a:extLst>
                    <a:ext uri="{9D8B030D-6E8A-4147-A177-3AD203B41FA5}">
                      <a16:colId xmlns:a16="http://schemas.microsoft.com/office/drawing/2014/main" xmlns="" val="1652769107"/>
                    </a:ext>
                  </a:extLst>
                </a:gridCol>
                <a:gridCol w="662214">
                  <a:extLst>
                    <a:ext uri="{9D8B030D-6E8A-4147-A177-3AD203B41FA5}">
                      <a16:colId xmlns:a16="http://schemas.microsoft.com/office/drawing/2014/main" xmlns="" val="4010402799"/>
                    </a:ext>
                  </a:extLst>
                </a:gridCol>
                <a:gridCol w="662214">
                  <a:extLst>
                    <a:ext uri="{9D8B030D-6E8A-4147-A177-3AD203B41FA5}">
                      <a16:colId xmlns:a16="http://schemas.microsoft.com/office/drawing/2014/main" xmlns="" val="3335126017"/>
                    </a:ext>
                  </a:extLst>
                </a:gridCol>
                <a:gridCol w="662214">
                  <a:extLst>
                    <a:ext uri="{9D8B030D-6E8A-4147-A177-3AD203B41FA5}">
                      <a16:colId xmlns:a16="http://schemas.microsoft.com/office/drawing/2014/main" xmlns="" val="654145753"/>
                    </a:ext>
                  </a:extLst>
                </a:gridCol>
                <a:gridCol w="662214">
                  <a:extLst>
                    <a:ext uri="{9D8B030D-6E8A-4147-A177-3AD203B41FA5}">
                      <a16:colId xmlns:a16="http://schemas.microsoft.com/office/drawing/2014/main" xmlns="" val="3420605574"/>
                    </a:ext>
                  </a:extLst>
                </a:gridCol>
                <a:gridCol w="662214">
                  <a:extLst>
                    <a:ext uri="{9D8B030D-6E8A-4147-A177-3AD203B41FA5}">
                      <a16:colId xmlns:a16="http://schemas.microsoft.com/office/drawing/2014/main" xmlns="" val="3977175985"/>
                    </a:ext>
                  </a:extLst>
                </a:gridCol>
                <a:gridCol w="662214">
                  <a:extLst>
                    <a:ext uri="{9D8B030D-6E8A-4147-A177-3AD203B41FA5}">
                      <a16:colId xmlns:a16="http://schemas.microsoft.com/office/drawing/2014/main" xmlns="" val="2197998088"/>
                    </a:ext>
                  </a:extLst>
                </a:gridCol>
                <a:gridCol w="662214">
                  <a:extLst>
                    <a:ext uri="{9D8B030D-6E8A-4147-A177-3AD203B41FA5}">
                      <a16:colId xmlns:a16="http://schemas.microsoft.com/office/drawing/2014/main" xmlns="" val="832646370"/>
                    </a:ext>
                  </a:extLst>
                </a:gridCol>
                <a:gridCol w="662214">
                  <a:extLst>
                    <a:ext uri="{9D8B030D-6E8A-4147-A177-3AD203B41FA5}">
                      <a16:colId xmlns:a16="http://schemas.microsoft.com/office/drawing/2014/main" xmlns="" val="2592783991"/>
                    </a:ext>
                  </a:extLst>
                </a:gridCol>
              </a:tblGrid>
              <a:tr h="176394">
                <a:tc>
                  <a:txBody>
                    <a:bodyPr/>
                    <a:lstStyle/>
                    <a:p>
                      <a:pPr algn="l" fontAlgn="b"/>
                      <a:r>
                        <a:rPr lang="en-US" sz="900" u="none" strike="noStrike" dirty="0">
                          <a:effectLst/>
                          <a:latin typeface="Arial" panose="020B0604020202020204" pitchFamily="34" charset="0"/>
                          <a:cs typeface="Arial" panose="020B0604020202020204" pitchFamily="34" charset="0"/>
                        </a:rPr>
                        <a:t>Biomarker</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dirty="0">
                          <a:effectLst/>
                          <a:latin typeface="Arial" panose="020B0604020202020204" pitchFamily="34" charset="0"/>
                          <a:cs typeface="Arial" panose="020B0604020202020204" pitchFamily="34" charset="0"/>
                        </a:rPr>
                        <a:t>Grade_2</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Grade_2_3</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Grade_3</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T2</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T3</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T4</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N0</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N1</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N2</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Stage_II</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u="none" strike="noStrike">
                          <a:effectLst/>
                          <a:latin typeface="Arial" panose="020B0604020202020204" pitchFamily="34" charset="0"/>
                          <a:cs typeface="Arial" panose="020B0604020202020204" pitchFamily="34" charset="0"/>
                        </a:rPr>
                        <a:t>Stage_III</a:t>
                      </a:r>
                      <a:endParaRPr lang="en-US" sz="9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64694370"/>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H3K9me2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67995005"/>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DNMT1</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08755130"/>
                  </a:ext>
                </a:extLst>
              </a:tr>
              <a:tr h="176394">
                <a:tc>
                  <a:txBody>
                    <a:bodyPr/>
                    <a:lstStyle/>
                    <a:p>
                      <a:pPr algn="l" fontAlgn="b"/>
                      <a:r>
                        <a:rPr lang="en-US" sz="900" u="none" strike="noStrike" dirty="0">
                          <a:effectLst/>
                          <a:latin typeface="Arial" panose="020B0604020202020204" pitchFamily="34" charset="0"/>
                          <a:cs typeface="Arial" panose="020B0604020202020204" pitchFamily="34" charset="0"/>
                        </a:rPr>
                        <a:t>H4K12ac</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0.21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32083557"/>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H3K18ac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46009247"/>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H3K4me2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66344501"/>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H4K20me3</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8680477"/>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H3K79me</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0633639"/>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H3K27ac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0.75</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84018079"/>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EZH2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827253"/>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NSD1</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0.88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80617933"/>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H4R3me2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0.20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0.03</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46604241"/>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SMYD2</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0.22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0.22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0.32</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76209150"/>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G9a</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0.54</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0.71</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53008367"/>
                  </a:ext>
                </a:extLst>
              </a:tr>
              <a:tr h="176394">
                <a:tc>
                  <a:txBody>
                    <a:bodyPr/>
                    <a:lstStyle/>
                    <a:p>
                      <a:pPr algn="l" fontAlgn="b"/>
                      <a:r>
                        <a:rPr lang="en-US" sz="900" u="none" strike="noStrike">
                          <a:effectLst/>
                          <a:latin typeface="Arial" panose="020B0604020202020204" pitchFamily="34" charset="0"/>
                          <a:cs typeface="Arial" panose="020B0604020202020204" pitchFamily="34" charset="0"/>
                        </a:rPr>
                        <a:t>KDM3A</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0.90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0.77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0.39</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0.58</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1.00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0.40</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0.17</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a:effectLst/>
                          <a:latin typeface="Arial" panose="020B0604020202020204" pitchFamily="34" charset="0"/>
                          <a:cs typeface="Arial" panose="020B0604020202020204" pitchFamily="34" charset="0"/>
                        </a:rPr>
                        <a:t>0.66</a:t>
                      </a:r>
                      <a:endParaRPr lang="x-none" sz="9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x-none" sz="900" u="none" strike="noStrike" dirty="0">
                          <a:effectLst/>
                          <a:latin typeface="Arial" panose="020B0604020202020204" pitchFamily="34" charset="0"/>
                          <a:cs typeface="Arial" panose="020B0604020202020204" pitchFamily="34" charset="0"/>
                        </a:rPr>
                        <a:t>0.53</a:t>
                      </a:r>
                      <a:endParaRPr lang="x-none"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75270033"/>
                  </a:ext>
                </a:extLst>
              </a:tr>
            </a:tbl>
          </a:graphicData>
        </a:graphic>
      </p:graphicFrame>
      <p:sp>
        <p:nvSpPr>
          <p:cNvPr id="5" name="Down Arrow 4">
            <a:extLst>
              <a:ext uri="{FF2B5EF4-FFF2-40B4-BE49-F238E27FC236}">
                <a16:creationId xmlns:a16="http://schemas.microsoft.com/office/drawing/2014/main" xmlns="" id="{D8F0179B-A4F7-CC9A-6C45-111959D40B9D}"/>
              </a:ext>
            </a:extLst>
          </p:cNvPr>
          <p:cNvSpPr/>
          <p:nvPr/>
        </p:nvSpPr>
        <p:spPr>
          <a:xfrm>
            <a:off x="4076699" y="3500437"/>
            <a:ext cx="214313" cy="2000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sz="1350"/>
          </a:p>
        </p:txBody>
      </p:sp>
    </p:spTree>
    <p:extLst>
      <p:ext uri="{BB962C8B-B14F-4D97-AF65-F5344CB8AC3E}">
        <p14:creationId xmlns:p14="http://schemas.microsoft.com/office/powerpoint/2010/main" val="14258055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CBF53995-630B-BF6A-F14F-814716ACBFAE}"/>
              </a:ext>
            </a:extLst>
          </p:cNvPr>
          <p:cNvSpPr txBox="1"/>
          <p:nvPr/>
        </p:nvSpPr>
        <p:spPr>
          <a:xfrm>
            <a:off x="57150" y="377897"/>
            <a:ext cx="4471988" cy="523220"/>
          </a:xfrm>
          <a:prstGeom prst="rect">
            <a:avLst/>
          </a:prstGeom>
          <a:noFill/>
        </p:spPr>
        <p:txBody>
          <a:bodyPr wrap="square">
            <a:spAutoFit/>
          </a:bodyPr>
          <a:lstStyle/>
          <a:p>
            <a:r>
              <a:rPr lang="x-none" sz="1400" dirty="0">
                <a:latin typeface="Arial" panose="020B0604020202020204" pitchFamily="34" charset="0"/>
                <a:cs typeface="Arial" panose="020B0604020202020204" pitchFamily="34" charset="0"/>
              </a:rPr>
              <a:t>#1. Kiểm tra và cài đặt các gói cần thiết</a:t>
            </a:r>
          </a:p>
          <a:p>
            <a:r>
              <a:rPr lang="x-none" sz="1400" dirty="0">
                <a:latin typeface="Arial" panose="020B0604020202020204" pitchFamily="34" charset="0"/>
                <a:cs typeface="Arial" panose="020B0604020202020204" pitchFamily="34" charset="0"/>
              </a:rPr>
              <a:t>Trong R Studio chọn Package</a:t>
            </a:r>
          </a:p>
        </p:txBody>
      </p:sp>
      <p:graphicFrame>
        <p:nvGraphicFramePr>
          <p:cNvPr id="9" name="Table 8">
            <a:extLst>
              <a:ext uri="{FF2B5EF4-FFF2-40B4-BE49-F238E27FC236}">
                <a16:creationId xmlns:a16="http://schemas.microsoft.com/office/drawing/2014/main" xmlns="" id="{0D35F44A-D71B-81EF-1FDB-3CE8C3267527}"/>
              </a:ext>
            </a:extLst>
          </p:cNvPr>
          <p:cNvGraphicFramePr>
            <a:graphicFrameLocks noGrp="1"/>
          </p:cNvGraphicFramePr>
          <p:nvPr>
            <p:extLst>
              <p:ext uri="{D42A27DB-BD31-4B8C-83A1-F6EECF244321}">
                <p14:modId xmlns:p14="http://schemas.microsoft.com/office/powerpoint/2010/main" val="3829736130"/>
              </p:ext>
            </p:extLst>
          </p:nvPr>
        </p:nvGraphicFramePr>
        <p:xfrm>
          <a:off x="100012" y="1101686"/>
          <a:ext cx="3933144" cy="4715221"/>
        </p:xfrm>
        <a:graphic>
          <a:graphicData uri="http://schemas.openxmlformats.org/drawingml/2006/table">
            <a:tbl>
              <a:tblPr>
                <a:tableStyleId>{5C22544A-7EE6-4342-B048-85BDC9FD1C3A}</a:tableStyleId>
              </a:tblPr>
              <a:tblGrid>
                <a:gridCol w="1179943">
                  <a:extLst>
                    <a:ext uri="{9D8B030D-6E8A-4147-A177-3AD203B41FA5}">
                      <a16:colId xmlns:a16="http://schemas.microsoft.com/office/drawing/2014/main" xmlns="" val="3752565790"/>
                    </a:ext>
                  </a:extLst>
                </a:gridCol>
                <a:gridCol w="2753201">
                  <a:extLst>
                    <a:ext uri="{9D8B030D-6E8A-4147-A177-3AD203B41FA5}">
                      <a16:colId xmlns:a16="http://schemas.microsoft.com/office/drawing/2014/main" xmlns="" val="1474335350"/>
                    </a:ext>
                  </a:extLst>
                </a:gridCol>
              </a:tblGrid>
              <a:tr h="512318">
                <a:tc>
                  <a:txBody>
                    <a:bodyPr/>
                    <a:lstStyle/>
                    <a:p>
                      <a:pPr algn="ctr" fontAlgn="ctr"/>
                      <a:r>
                        <a:rPr lang="en-US" sz="1000" u="none" strike="noStrike" dirty="0">
                          <a:solidFill>
                            <a:srgbClr val="FF0000"/>
                          </a:solidFill>
                          <a:effectLst/>
                          <a:latin typeface="Arial" panose="020B0604020202020204" pitchFamily="34" charset="0"/>
                          <a:cs typeface="Arial" panose="020B0604020202020204" pitchFamily="34" charset="0"/>
                        </a:rPr>
                        <a:t>ggplot2</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dirty="0" err="1">
                          <a:solidFill>
                            <a:srgbClr val="FF0000"/>
                          </a:solidFill>
                          <a:effectLst/>
                          <a:latin typeface="Arial" panose="020B0604020202020204" pitchFamily="34" charset="0"/>
                          <a:cs typeface="Arial" panose="020B0604020202020204" pitchFamily="34" charset="0"/>
                        </a:rPr>
                        <a:t>Vẽ</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biểu</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đồ</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đẹp</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linh</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hoạt</a:t>
                      </a:r>
                      <a:r>
                        <a:rPr lang="en-US" sz="1000" u="none" strike="noStrike" dirty="0">
                          <a:solidFill>
                            <a:srgbClr val="FF0000"/>
                          </a:solidFill>
                          <a:effectLst/>
                          <a:latin typeface="Arial" panose="020B0604020202020204" pitchFamily="34" charset="0"/>
                          <a:cs typeface="Arial" panose="020B0604020202020204" pitchFamily="34" charset="0"/>
                        </a:rPr>
                        <a:t> – </a:t>
                      </a:r>
                      <a:r>
                        <a:rPr lang="en-US" sz="1000" u="none" strike="noStrike" dirty="0" err="1">
                          <a:solidFill>
                            <a:srgbClr val="FF0000"/>
                          </a:solidFill>
                          <a:effectLst/>
                          <a:latin typeface="Arial" panose="020B0604020202020204" pitchFamily="34" charset="0"/>
                          <a:cs typeface="Arial" panose="020B0604020202020204" pitchFamily="34" charset="0"/>
                        </a:rPr>
                        <a:t>chuẩn</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trong</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phân</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tích</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dữ</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liệu</a:t>
                      </a:r>
                      <a:endParaRPr lang="en-US" sz="1000" b="0" i="0" u="none" strike="noStrike" dirty="0">
                        <a:solidFill>
                          <a:srgbClr val="FF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82145061"/>
                  </a:ext>
                </a:extLst>
              </a:tr>
              <a:tr h="853863">
                <a:tc>
                  <a:txBody>
                    <a:bodyPr/>
                    <a:lstStyle/>
                    <a:p>
                      <a:pPr algn="ctr" fontAlgn="ctr"/>
                      <a:r>
                        <a:rPr lang="en-US" sz="1000" u="none" strike="noStrike" dirty="0" err="1">
                          <a:solidFill>
                            <a:srgbClr val="FF0000"/>
                          </a:solidFill>
                          <a:effectLst/>
                          <a:latin typeface="Arial" panose="020B0604020202020204" pitchFamily="34" charset="0"/>
                          <a:cs typeface="Arial" panose="020B0604020202020204" pitchFamily="34" charset="0"/>
                        </a:rPr>
                        <a:t>cowplot</a:t>
                      </a:r>
                      <a:endParaRPr lang="en-US" sz="1000" b="1" i="0" u="none" strike="noStrike" dirty="0">
                        <a:solidFill>
                          <a:srgbClr val="FF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dirty="0" err="1">
                          <a:solidFill>
                            <a:srgbClr val="FF0000"/>
                          </a:solidFill>
                          <a:effectLst/>
                          <a:latin typeface="Arial" panose="020B0604020202020204" pitchFamily="34" charset="0"/>
                          <a:cs typeface="Arial" panose="020B0604020202020204" pitchFamily="34" charset="0"/>
                        </a:rPr>
                        <a:t>Dùng</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để</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kết</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hợp</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nhiều</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biểu</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đồ</a:t>
                      </a:r>
                      <a:r>
                        <a:rPr lang="en-US" sz="1000" u="none" strike="noStrike" dirty="0">
                          <a:solidFill>
                            <a:srgbClr val="FF0000"/>
                          </a:solidFill>
                          <a:effectLst/>
                          <a:latin typeface="Arial" panose="020B0604020202020204" pitchFamily="34" charset="0"/>
                          <a:cs typeface="Arial" panose="020B0604020202020204" pitchFamily="34" charset="0"/>
                        </a:rPr>
                        <a:t> ggplot2 </a:t>
                      </a:r>
                      <a:r>
                        <a:rPr lang="en-US" sz="1000" u="none" strike="noStrike" dirty="0" err="1">
                          <a:solidFill>
                            <a:srgbClr val="FF0000"/>
                          </a:solidFill>
                          <a:effectLst/>
                          <a:latin typeface="Arial" panose="020B0604020202020204" pitchFamily="34" charset="0"/>
                          <a:cs typeface="Arial" panose="020B0604020202020204" pitchFamily="34" charset="0"/>
                        </a:rPr>
                        <a:t>lại</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với</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nhau</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trên</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cùng</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một</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hình</a:t>
                      </a:r>
                      <a:r>
                        <a:rPr lang="en-US" sz="1000" u="none" strike="noStrike" dirty="0">
                          <a:solidFill>
                            <a:srgbClr val="FF0000"/>
                          </a:solidFill>
                          <a:effectLst/>
                          <a:latin typeface="Arial" panose="020B0604020202020204" pitchFamily="34" charset="0"/>
                          <a:cs typeface="Arial" panose="020B0604020202020204" pitchFamily="34" charset="0"/>
                        </a:rPr>
                        <a:t> – </a:t>
                      </a:r>
                      <a:r>
                        <a:rPr lang="en-US" sz="1000" u="none" strike="noStrike" dirty="0" err="1">
                          <a:solidFill>
                            <a:srgbClr val="FF0000"/>
                          </a:solidFill>
                          <a:effectLst/>
                          <a:latin typeface="Arial" panose="020B0604020202020204" pitchFamily="34" charset="0"/>
                          <a:cs typeface="Arial" panose="020B0604020202020204" pitchFamily="34" charset="0"/>
                        </a:rPr>
                        <a:t>rất</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tiện</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cho</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bài</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báo</a:t>
                      </a:r>
                      <a:r>
                        <a:rPr lang="en-US" sz="1000" u="none" strike="noStrike" dirty="0">
                          <a:solidFill>
                            <a:srgbClr val="FF0000"/>
                          </a:solidFill>
                          <a:effectLst/>
                          <a:latin typeface="Arial" panose="020B0604020202020204" pitchFamily="34" charset="0"/>
                          <a:cs typeface="Arial" panose="020B0604020202020204" pitchFamily="34" charset="0"/>
                        </a:rPr>
                        <a:t> khoa </a:t>
                      </a:r>
                      <a:r>
                        <a:rPr lang="en-US" sz="1000" u="none" strike="noStrike" dirty="0" err="1">
                          <a:solidFill>
                            <a:srgbClr val="FF0000"/>
                          </a:solidFill>
                          <a:effectLst/>
                          <a:latin typeface="Arial" panose="020B0604020202020204" pitchFamily="34" charset="0"/>
                          <a:cs typeface="Arial" panose="020B0604020202020204" pitchFamily="34" charset="0"/>
                        </a:rPr>
                        <a:t>học</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hoặc</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báo</a:t>
                      </a:r>
                      <a:r>
                        <a:rPr lang="en-US" sz="1000" u="none" strike="noStrike" dirty="0">
                          <a:solidFill>
                            <a:srgbClr val="FF0000"/>
                          </a:solidFill>
                          <a:effectLst/>
                          <a:latin typeface="Arial" panose="020B0604020202020204" pitchFamily="34" charset="0"/>
                          <a:cs typeface="Arial" panose="020B0604020202020204" pitchFamily="34" charset="0"/>
                        </a:rPr>
                        <a:t> </a:t>
                      </a:r>
                      <a:r>
                        <a:rPr lang="en-US" sz="1000" u="none" strike="noStrike" dirty="0" err="1">
                          <a:solidFill>
                            <a:srgbClr val="FF0000"/>
                          </a:solidFill>
                          <a:effectLst/>
                          <a:latin typeface="Arial" panose="020B0604020202020204" pitchFamily="34" charset="0"/>
                          <a:cs typeface="Arial" panose="020B0604020202020204" pitchFamily="34" charset="0"/>
                        </a:rPr>
                        <a:t>cáo</a:t>
                      </a:r>
                      <a:endParaRPr lang="en-US" sz="1000" b="0" i="0" u="none" strike="noStrike" dirty="0">
                        <a:solidFill>
                          <a:srgbClr val="FF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30249038"/>
                  </a:ext>
                </a:extLst>
              </a:tr>
              <a:tr h="512318">
                <a:tc>
                  <a:txBody>
                    <a:bodyPr/>
                    <a:lstStyle/>
                    <a:p>
                      <a:pPr algn="ctr" fontAlgn="ctr"/>
                      <a:r>
                        <a:rPr lang="en-US" sz="1000" u="none" strike="noStrike" dirty="0">
                          <a:effectLst/>
                          <a:latin typeface="Arial" panose="020B0604020202020204" pitchFamily="34" charset="0"/>
                          <a:cs typeface="Arial" panose="020B0604020202020204" pitchFamily="34" charset="0"/>
                        </a:rPr>
                        <a:t>base</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dirty="0">
                          <a:effectLst/>
                          <a:latin typeface="Arial" panose="020B0604020202020204" pitchFamily="34" charset="0"/>
                          <a:cs typeface="Arial" panose="020B0604020202020204" pitchFamily="34" charset="0"/>
                        </a:rPr>
                        <a:t>Cốt lõi của R. Chứa tất cả các toán tử cơ bản (+, -, if, for, function, v.v.)</a:t>
                      </a:r>
                      <a:endParaRPr lang="vi-VN" sz="1000" b="0" i="0" u="none" strike="noStrike" dirty="0">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8793452"/>
                  </a:ext>
                </a:extLst>
              </a:tr>
              <a:tr h="645141">
                <a:tc>
                  <a:txBody>
                    <a:bodyPr/>
                    <a:lstStyle/>
                    <a:p>
                      <a:pPr algn="ctr" fontAlgn="ctr"/>
                      <a:r>
                        <a:rPr lang="en-US" sz="1000" u="none" strike="noStrike">
                          <a:effectLst/>
                          <a:latin typeface="Arial" panose="020B0604020202020204" pitchFamily="34" charset="0"/>
                          <a:cs typeface="Arial" panose="020B0604020202020204" pitchFamily="34" charset="0"/>
                        </a:rPr>
                        <a:t>stats</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Hàm thống kê: hồi quy, kiểm định t-test, ANOVA, phân phối xác suất...</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49793489"/>
                  </a:ext>
                </a:extLst>
              </a:tr>
              <a:tr h="483856">
                <a:tc>
                  <a:txBody>
                    <a:bodyPr/>
                    <a:lstStyle/>
                    <a:p>
                      <a:pPr algn="ctr" fontAlgn="ctr"/>
                      <a:r>
                        <a:rPr lang="en-US" sz="1000" u="none" strike="noStrike">
                          <a:effectLst/>
                          <a:latin typeface="Arial" panose="020B0604020202020204" pitchFamily="34" charset="0"/>
                          <a:cs typeface="Arial" panose="020B0604020202020204" pitchFamily="34" charset="0"/>
                        </a:rPr>
                        <a:t>graphics</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dirty="0">
                          <a:effectLst/>
                          <a:latin typeface="Arial" panose="020B0604020202020204" pitchFamily="34" charset="0"/>
                          <a:cs typeface="Arial" panose="020B0604020202020204" pitchFamily="34" charset="0"/>
                        </a:rPr>
                        <a:t>Vẽ đồ thị cơ bản (plot(), hist(), boxplot()...)</a:t>
                      </a:r>
                      <a:endParaRPr lang="vi-VN" sz="1000" b="0" i="0" u="none" strike="noStrike" dirty="0">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52444749"/>
                  </a:ext>
                </a:extLst>
              </a:tr>
              <a:tr h="512318">
                <a:tc>
                  <a:txBody>
                    <a:bodyPr/>
                    <a:lstStyle/>
                    <a:p>
                      <a:pPr algn="ctr" fontAlgn="ctr"/>
                      <a:r>
                        <a:rPr lang="en-US" sz="1000" u="none" strike="noStrike">
                          <a:effectLst/>
                          <a:latin typeface="Arial" panose="020B0604020202020204" pitchFamily="34" charset="0"/>
                          <a:cs typeface="Arial" panose="020B0604020202020204" pitchFamily="34" charset="0"/>
                        </a:rPr>
                        <a:t>grDevices</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Giao diện đồ họa: xuất file PNG, PDF, v.v. và quản lý thiết bị đồ họa</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61953166"/>
                  </a:ext>
                </a:extLst>
              </a:tr>
              <a:tr h="683089">
                <a:tc>
                  <a:txBody>
                    <a:bodyPr/>
                    <a:lstStyle/>
                    <a:p>
                      <a:pPr algn="ctr" fontAlgn="ctr"/>
                      <a:r>
                        <a:rPr lang="en-US" sz="1000" u="none" strike="noStrike">
                          <a:effectLst/>
                          <a:latin typeface="Arial" panose="020B0604020202020204" pitchFamily="34" charset="0"/>
                          <a:cs typeface="Arial" panose="020B0604020202020204" pitchFamily="34" charset="0"/>
                        </a:rPr>
                        <a:t>utils</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a:effectLst/>
                          <a:latin typeface="Arial" panose="020B0604020202020204" pitchFamily="34" charset="0"/>
                          <a:cs typeface="Arial" panose="020B0604020202020204" pitchFamily="34" charset="0"/>
                        </a:rPr>
                        <a:t>Các tiện ích như read.table(), write.csv(), xem file, quản lý packages</a:t>
                      </a:r>
                      <a:endParaRPr lang="vi-VN" sz="1000" b="0"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66878874"/>
                  </a:ext>
                </a:extLst>
              </a:tr>
              <a:tr h="512318">
                <a:tc>
                  <a:txBody>
                    <a:bodyPr/>
                    <a:lstStyle/>
                    <a:p>
                      <a:pPr algn="ctr" fontAlgn="ctr"/>
                      <a:r>
                        <a:rPr lang="en-US" sz="1000" u="none" strike="noStrike">
                          <a:effectLst/>
                          <a:latin typeface="Arial" panose="020B0604020202020204" pitchFamily="34" charset="0"/>
                          <a:cs typeface="Arial" panose="020B0604020202020204" pitchFamily="34" charset="0"/>
                        </a:rPr>
                        <a:t>methods</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dirty="0">
                          <a:effectLst/>
                          <a:latin typeface="Arial" panose="020B0604020202020204" pitchFamily="34" charset="0"/>
                          <a:cs typeface="Arial" panose="020B0604020202020204" pitchFamily="34" charset="0"/>
                        </a:rPr>
                        <a:t>Hỗ trợ lập trình hướng đối tượng (OOP) kiểu S3/S4 trong R</a:t>
                      </a:r>
                      <a:endParaRPr lang="vi-VN" sz="1000" b="0" i="0" u="none" strike="noStrike" dirty="0">
                        <a:solidFill>
                          <a:srgbClr val="000000"/>
                        </a:solidFill>
                        <a:effectLst/>
                        <a:latin typeface="Arial" panose="020B0604020202020204" pitchFamily="34" charset="0"/>
                        <a:cs typeface="Arial" panose="020B0604020202020204" pitchFamily="34" charset="0"/>
                      </a:endParaRPr>
                    </a:p>
                  </a:txBody>
                  <a:tcPr marL="4925" marR="4925" marT="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7254942"/>
                  </a:ext>
                </a:extLst>
              </a:tr>
            </a:tbl>
          </a:graphicData>
        </a:graphic>
      </p:graphicFrame>
      <p:sp>
        <p:nvSpPr>
          <p:cNvPr id="11" name="TextBox 10">
            <a:extLst>
              <a:ext uri="{FF2B5EF4-FFF2-40B4-BE49-F238E27FC236}">
                <a16:creationId xmlns:a16="http://schemas.microsoft.com/office/drawing/2014/main" xmlns="" id="{07ECDB8F-0F9C-5731-CC22-74387F3C7F88}"/>
              </a:ext>
            </a:extLst>
          </p:cNvPr>
          <p:cNvSpPr txBox="1"/>
          <p:nvPr/>
        </p:nvSpPr>
        <p:spPr>
          <a:xfrm>
            <a:off x="0" y="6066422"/>
            <a:ext cx="4586288" cy="523220"/>
          </a:xfrm>
          <a:prstGeom prst="rect">
            <a:avLst/>
          </a:prstGeom>
          <a:noFill/>
        </p:spPr>
        <p:txBody>
          <a:bodyPr wrap="square">
            <a:spAutoFit/>
          </a:bodyPr>
          <a:lstStyle/>
          <a:p>
            <a:r>
              <a:rPr lang="x-none" sz="1400" dirty="0">
                <a:latin typeface="Arial" panose="020B0604020202020204" pitchFamily="34" charset="0"/>
                <a:cs typeface="Arial" panose="020B0604020202020204" pitchFamily="34" charset="0"/>
              </a:rPr>
              <a:t># 2. Kiểm tra thư mục làm việc hiện tại</a:t>
            </a:r>
          </a:p>
          <a:p>
            <a:r>
              <a:rPr lang="x-none" sz="1400" dirty="0">
                <a:latin typeface="Arial" panose="020B0604020202020204" pitchFamily="34" charset="0"/>
                <a:cs typeface="Arial" panose="020B0604020202020204" pitchFamily="34" charset="0"/>
              </a:rPr>
              <a:t># 3. Tạo dữ liệu và biểu đồ cho DNMT1</a:t>
            </a:r>
          </a:p>
        </p:txBody>
      </p:sp>
      <p:pic>
        <p:nvPicPr>
          <p:cNvPr id="4098" name="Picture 2">
            <a:extLst>
              <a:ext uri="{FF2B5EF4-FFF2-40B4-BE49-F238E27FC236}">
                <a16:creationId xmlns:a16="http://schemas.microsoft.com/office/drawing/2014/main" xmlns="" id="{C2429CFA-F43A-0D1F-790C-FECA07C60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3156" y="1718630"/>
            <a:ext cx="5110844" cy="318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3982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6FF84F9-2E72-FFB0-8D67-C82E965052D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xmlns="" id="{2DE91104-6E25-7F56-AAD1-9C5559B95647}"/>
              </a:ext>
            </a:extLst>
          </p:cNvPr>
          <p:cNvSpPr txBox="1"/>
          <p:nvPr/>
        </p:nvSpPr>
        <p:spPr>
          <a:xfrm>
            <a:off x="-14288" y="600075"/>
            <a:ext cx="4586288" cy="5909310"/>
          </a:xfrm>
          <a:prstGeom prst="rect">
            <a:avLst/>
          </a:prstGeom>
          <a:noFill/>
        </p:spPr>
        <p:txBody>
          <a:bodyPr wrap="square">
            <a:spAutoFit/>
          </a:bodyPr>
          <a:lstStyle/>
          <a:p>
            <a:r>
              <a:rPr lang="x-none" sz="1350" b="1" dirty="0">
                <a:latin typeface="Arial" panose="020B0604020202020204" pitchFamily="34" charset="0"/>
                <a:cs typeface="Arial" panose="020B0604020202020204" pitchFamily="34" charset="0"/>
              </a:rPr>
              <a:t># 2. Kiểm tra thư mục làm việc hiện tại</a:t>
            </a:r>
          </a:p>
          <a:p>
            <a:r>
              <a:rPr lang="vi-VN" sz="1350" dirty="0">
                <a:latin typeface="Arial" panose="020B0604020202020204" pitchFamily="34" charset="0"/>
                <a:cs typeface="Arial" panose="020B0604020202020204" pitchFamily="34" charset="0"/>
              </a:rPr>
              <a:t>cat("Thư mục làm việc hiện tại:", getwd(), "\n")</a:t>
            </a:r>
            <a:endParaRPr lang="x-none" sz="1350" dirty="0">
              <a:latin typeface="Arial" panose="020B0604020202020204" pitchFamily="34" charset="0"/>
              <a:cs typeface="Arial" panose="020B0604020202020204" pitchFamily="34" charset="0"/>
            </a:endParaRPr>
          </a:p>
          <a:p>
            <a:endParaRPr lang="x-none" sz="1350" dirty="0">
              <a:latin typeface="Arial" panose="020B0604020202020204" pitchFamily="34" charset="0"/>
              <a:cs typeface="Arial" panose="020B0604020202020204" pitchFamily="34" charset="0"/>
            </a:endParaRPr>
          </a:p>
          <a:p>
            <a:r>
              <a:rPr lang="x-none" sz="1350" b="1" dirty="0">
                <a:latin typeface="Arial" panose="020B0604020202020204" pitchFamily="34" charset="0"/>
                <a:cs typeface="Arial" panose="020B0604020202020204" pitchFamily="34" charset="0"/>
              </a:rPr>
              <a:t># 3. Tạo dữ liệu và biểu đồ cho DNMT1</a:t>
            </a:r>
          </a:p>
          <a:p>
            <a:r>
              <a:rPr lang="en-US" sz="1350" dirty="0">
                <a:latin typeface="Arial" panose="020B0604020202020204" pitchFamily="34" charset="0"/>
                <a:cs typeface="Arial" panose="020B0604020202020204" pitchFamily="34" charset="0"/>
              </a:rPr>
              <a:t>dnmt1_data &lt;- </a:t>
            </a:r>
            <a:r>
              <a:rPr lang="en-US" sz="1350" dirty="0" err="1">
                <a:latin typeface="Arial" panose="020B0604020202020204" pitchFamily="34" charset="0"/>
                <a:cs typeface="Arial" panose="020B0604020202020204" pitchFamily="34" charset="0"/>
              </a:rPr>
              <a:t>data.frame</a:t>
            </a:r>
            <a:r>
              <a:rPr lang="en-US" sz="1350" dirty="0">
                <a:latin typeface="Arial" panose="020B0604020202020204" pitchFamily="34" charset="0"/>
                <a:cs typeface="Arial" panose="020B0604020202020204" pitchFamily="34" charset="0"/>
              </a:rPr>
              <a:t>(</a:t>
            </a:r>
          </a:p>
          <a:p>
            <a:r>
              <a:rPr lang="en-US" sz="1350" dirty="0">
                <a:latin typeface="Arial" panose="020B0604020202020204" pitchFamily="34" charset="0"/>
                <a:cs typeface="Arial" panose="020B0604020202020204" pitchFamily="34" charset="0"/>
              </a:rPr>
              <a:t>  Category = c("Grade 2", "Grade 2/3", "Grade 3", "Grade III", "Grade 0", "Grade I", "Grade II", "Clinical Stage N", "Clinical Stage T"),</a:t>
            </a:r>
          </a:p>
          <a:p>
            <a:r>
              <a:rPr lang="en-US" sz="1350" dirty="0">
                <a:latin typeface="Arial" panose="020B0604020202020204" pitchFamily="34" charset="0"/>
                <a:cs typeface="Arial" panose="020B0604020202020204" pitchFamily="34" charset="0"/>
              </a:rPr>
              <a:t>  Value = c(0.1, 0.5, 1.1, 0.5, 0.1, 0.5, 1.2, 0.5, 1.2)</a:t>
            </a:r>
          </a:p>
          <a:p>
            <a:r>
              <a:rPr lang="en-US" sz="1350" dirty="0">
                <a:latin typeface="Arial" panose="020B0604020202020204" pitchFamily="34" charset="0"/>
                <a:cs typeface="Arial" panose="020B0604020202020204" pitchFamily="34" charset="0"/>
              </a:rPr>
              <a:t>)</a:t>
            </a:r>
          </a:p>
          <a:p>
            <a:r>
              <a:rPr lang="en-US" sz="1350" dirty="0">
                <a:latin typeface="Arial" panose="020B0604020202020204" pitchFamily="34" charset="0"/>
                <a:cs typeface="Arial" panose="020B0604020202020204" pitchFamily="34" charset="0"/>
              </a:rPr>
              <a:t>dnmt1_plot &lt;- </a:t>
            </a:r>
            <a:r>
              <a:rPr lang="en-US" sz="1350" dirty="0" err="1">
                <a:latin typeface="Arial" panose="020B0604020202020204" pitchFamily="34" charset="0"/>
                <a:cs typeface="Arial" panose="020B0604020202020204" pitchFamily="34" charset="0"/>
              </a:rPr>
              <a:t>ggplot</a:t>
            </a:r>
            <a:r>
              <a:rPr lang="en-US" sz="1350" dirty="0">
                <a:latin typeface="Arial" panose="020B0604020202020204" pitchFamily="34" charset="0"/>
                <a:cs typeface="Arial" panose="020B0604020202020204" pitchFamily="34" charset="0"/>
              </a:rPr>
              <a:t>(dnmt1_data, </a:t>
            </a:r>
            <a:r>
              <a:rPr lang="en-US" sz="1350" dirty="0" err="1">
                <a:latin typeface="Arial" panose="020B0604020202020204" pitchFamily="34" charset="0"/>
                <a:cs typeface="Arial" panose="020B0604020202020204" pitchFamily="34" charset="0"/>
              </a:rPr>
              <a:t>aes</a:t>
            </a:r>
            <a:r>
              <a:rPr lang="en-US" sz="1350" dirty="0">
                <a:latin typeface="Arial" panose="020B0604020202020204" pitchFamily="34" charset="0"/>
                <a:cs typeface="Arial" panose="020B0604020202020204" pitchFamily="34" charset="0"/>
              </a:rPr>
              <a:t>(x = Category, y = Value, fill = Category)) +</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geom_bar</a:t>
            </a:r>
            <a:r>
              <a:rPr lang="en-US" sz="1350" dirty="0">
                <a:latin typeface="Arial" panose="020B0604020202020204" pitchFamily="34" charset="0"/>
                <a:cs typeface="Arial" panose="020B0604020202020204" pitchFamily="34" charset="0"/>
              </a:rPr>
              <a:t>(stat = "identity") +</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scale_y_continuous</a:t>
            </a:r>
            <a:r>
              <a:rPr lang="en-US" sz="1350" dirty="0">
                <a:latin typeface="Arial" panose="020B0604020202020204" pitchFamily="34" charset="0"/>
                <a:cs typeface="Arial" panose="020B0604020202020204" pitchFamily="34" charset="0"/>
              </a:rPr>
              <a:t>(limits = c(0, 3)) +</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scale_fill_manual</a:t>
            </a:r>
            <a:r>
              <a:rPr lang="en-US" sz="1350" dirty="0">
                <a:latin typeface="Arial" panose="020B0604020202020204" pitchFamily="34" charset="0"/>
                <a:cs typeface="Arial" panose="020B0604020202020204" pitchFamily="34" charset="0"/>
              </a:rPr>
              <a:t>(values = c("</a:t>
            </a:r>
            <a:r>
              <a:rPr lang="en-US" sz="1350" dirty="0" err="1">
                <a:latin typeface="Arial" panose="020B0604020202020204" pitchFamily="34" charset="0"/>
                <a:cs typeface="Arial" panose="020B0604020202020204" pitchFamily="34" charset="0"/>
              </a:rPr>
              <a:t>lightblue</a:t>
            </a:r>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lightcoral</a:t>
            </a:r>
            <a:r>
              <a:rPr lang="en-US" sz="1350" dirty="0">
                <a:latin typeface="Arial" panose="020B0604020202020204" pitchFamily="34" charset="0"/>
                <a:cs typeface="Arial" panose="020B0604020202020204" pitchFamily="34" charset="0"/>
              </a:rPr>
              <a:t>", "brown", "</a:t>
            </a:r>
            <a:r>
              <a:rPr lang="en-US" sz="1350" dirty="0" err="1">
                <a:latin typeface="Arial" panose="020B0604020202020204" pitchFamily="34" charset="0"/>
                <a:cs typeface="Arial" panose="020B0604020202020204" pitchFamily="34" charset="0"/>
              </a:rPr>
              <a:t>lightblue</a:t>
            </a:r>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lightgray</a:t>
            </a:r>
            <a:r>
              <a:rPr lang="en-US" sz="1350" dirty="0">
                <a:latin typeface="Arial" panose="020B0604020202020204" pitchFamily="34" charset="0"/>
                <a:cs typeface="Arial" panose="020B0604020202020204" pitchFamily="34" charset="0"/>
              </a:rPr>
              <a:t>", "gray", "brown", "</a:t>
            </a:r>
            <a:r>
              <a:rPr lang="en-US" sz="1350" dirty="0" err="1">
                <a:latin typeface="Arial" panose="020B0604020202020204" pitchFamily="34" charset="0"/>
                <a:cs typeface="Arial" panose="020B0604020202020204" pitchFamily="34" charset="0"/>
              </a:rPr>
              <a:t>lightblue</a:t>
            </a:r>
            <a:r>
              <a:rPr lang="en-US" sz="1350" dirty="0">
                <a:latin typeface="Arial" panose="020B0604020202020204" pitchFamily="34" charset="0"/>
                <a:cs typeface="Arial" panose="020B0604020202020204" pitchFamily="34" charset="0"/>
              </a:rPr>
              <a:t>", "gray")) +</a:t>
            </a:r>
          </a:p>
          <a:p>
            <a:r>
              <a:rPr lang="en-US" sz="1350" dirty="0">
                <a:latin typeface="Arial" panose="020B0604020202020204" pitchFamily="34" charset="0"/>
                <a:cs typeface="Arial" panose="020B0604020202020204" pitchFamily="34" charset="0"/>
              </a:rPr>
              <a:t>  labs(title = "DNMT1", x = "", y = "Normalized High-H3K%") +</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theme_minimal</a:t>
            </a:r>
            <a:r>
              <a:rPr lang="en-US" sz="1350" dirty="0">
                <a:latin typeface="Arial" panose="020B0604020202020204" pitchFamily="34" charset="0"/>
                <a:cs typeface="Arial" panose="020B0604020202020204" pitchFamily="34" charset="0"/>
              </a:rPr>
              <a:t>() +</a:t>
            </a:r>
          </a:p>
          <a:p>
            <a:r>
              <a:rPr lang="en-US" sz="1350" dirty="0">
                <a:latin typeface="Arial" panose="020B0604020202020204" pitchFamily="34" charset="0"/>
                <a:cs typeface="Arial" panose="020B0604020202020204" pitchFamily="34" charset="0"/>
              </a:rPr>
              <a:t>  theme(</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axis.text.x</a:t>
            </a:r>
            <a:r>
              <a:rPr lang="en-US" sz="1350" dirty="0">
                <a:latin typeface="Arial" panose="020B0604020202020204" pitchFamily="34" charset="0"/>
                <a:cs typeface="Arial" panose="020B0604020202020204" pitchFamily="34" charset="0"/>
              </a:rPr>
              <a:t> = </a:t>
            </a:r>
            <a:r>
              <a:rPr lang="en-US" sz="1350" dirty="0" err="1">
                <a:latin typeface="Arial" panose="020B0604020202020204" pitchFamily="34" charset="0"/>
                <a:cs typeface="Arial" panose="020B0604020202020204" pitchFamily="34" charset="0"/>
              </a:rPr>
              <a:t>element_text</a:t>
            </a:r>
            <a:r>
              <a:rPr lang="en-US" sz="1350" dirty="0">
                <a:latin typeface="Arial" panose="020B0604020202020204" pitchFamily="34" charset="0"/>
                <a:cs typeface="Arial" panose="020B0604020202020204" pitchFamily="34" charset="0"/>
              </a:rPr>
              <a:t>(angle = 45, </a:t>
            </a:r>
            <a:r>
              <a:rPr lang="en-US" sz="1350" dirty="0" err="1">
                <a:latin typeface="Arial" panose="020B0604020202020204" pitchFamily="34" charset="0"/>
                <a:cs typeface="Arial" panose="020B0604020202020204" pitchFamily="34" charset="0"/>
              </a:rPr>
              <a:t>hjust</a:t>
            </a:r>
            <a:r>
              <a:rPr lang="en-US" sz="1350" dirty="0">
                <a:latin typeface="Arial" panose="020B0604020202020204" pitchFamily="34" charset="0"/>
                <a:cs typeface="Arial" panose="020B0604020202020204" pitchFamily="34" charset="0"/>
              </a:rPr>
              <a:t> = 1, size = 6),</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axis.text.y</a:t>
            </a:r>
            <a:r>
              <a:rPr lang="en-US" sz="1350" dirty="0">
                <a:latin typeface="Arial" panose="020B0604020202020204" pitchFamily="34" charset="0"/>
                <a:cs typeface="Arial" panose="020B0604020202020204" pitchFamily="34" charset="0"/>
              </a:rPr>
              <a:t> = </a:t>
            </a:r>
            <a:r>
              <a:rPr lang="en-US" sz="1350" dirty="0" err="1">
                <a:latin typeface="Arial" panose="020B0604020202020204" pitchFamily="34" charset="0"/>
                <a:cs typeface="Arial" panose="020B0604020202020204" pitchFamily="34" charset="0"/>
              </a:rPr>
              <a:t>element_text</a:t>
            </a:r>
            <a:r>
              <a:rPr lang="en-US" sz="1350" dirty="0">
                <a:latin typeface="Arial" panose="020B0604020202020204" pitchFamily="34" charset="0"/>
                <a:cs typeface="Arial" panose="020B0604020202020204" pitchFamily="34" charset="0"/>
              </a:rPr>
              <a:t>(size = 6),</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plot.title</a:t>
            </a:r>
            <a:r>
              <a:rPr lang="en-US" sz="1350" dirty="0">
                <a:latin typeface="Arial" panose="020B0604020202020204" pitchFamily="34" charset="0"/>
                <a:cs typeface="Arial" panose="020B0604020202020204" pitchFamily="34" charset="0"/>
              </a:rPr>
              <a:t> = </a:t>
            </a:r>
            <a:r>
              <a:rPr lang="en-US" sz="1350" dirty="0" err="1">
                <a:latin typeface="Arial" panose="020B0604020202020204" pitchFamily="34" charset="0"/>
                <a:cs typeface="Arial" panose="020B0604020202020204" pitchFamily="34" charset="0"/>
              </a:rPr>
              <a:t>element_text</a:t>
            </a:r>
            <a:r>
              <a:rPr lang="en-US" sz="1350" dirty="0">
                <a:latin typeface="Arial" panose="020B0604020202020204" pitchFamily="34" charset="0"/>
                <a:cs typeface="Arial" panose="020B0604020202020204" pitchFamily="34" charset="0"/>
              </a:rPr>
              <a:t>(size = 8),</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legend.position</a:t>
            </a:r>
            <a:r>
              <a:rPr lang="en-US" sz="1350" dirty="0">
                <a:latin typeface="Arial" panose="020B0604020202020204" pitchFamily="34" charset="0"/>
                <a:cs typeface="Arial" panose="020B0604020202020204" pitchFamily="34" charset="0"/>
              </a:rPr>
              <a:t> = "none"</a:t>
            </a:r>
          </a:p>
          <a:p>
            <a:r>
              <a:rPr lang="en-US" sz="1350" dirty="0">
                <a:latin typeface="Arial" panose="020B0604020202020204" pitchFamily="34" charset="0"/>
                <a:cs typeface="Arial" panose="020B0604020202020204" pitchFamily="34" charset="0"/>
              </a:rPr>
              <a:t>  )</a:t>
            </a:r>
          </a:p>
          <a:p>
            <a:r>
              <a:rPr lang="x-none" sz="1350" dirty="0">
                <a:latin typeface="Arial" panose="020B0604020202020204" pitchFamily="34" charset="0"/>
                <a:cs typeface="Arial" panose="020B0604020202020204" pitchFamily="34" charset="0"/>
              </a:rPr>
              <a:t>Tương tự cho  các. </a:t>
            </a:r>
            <a:r>
              <a:rPr lang="en-US" sz="1350" dirty="0">
                <a:latin typeface="Arial" panose="020B0604020202020204" pitchFamily="34" charset="0"/>
                <a:cs typeface="Arial" panose="020B0604020202020204" pitchFamily="34" charset="0"/>
              </a:rPr>
              <a:t>N</a:t>
            </a:r>
            <a:r>
              <a:rPr lang="x-none" sz="1350" dirty="0">
                <a:latin typeface="Arial" panose="020B0604020202020204" pitchFamily="34" charset="0"/>
                <a:cs typeface="Arial" panose="020B0604020202020204" pitchFamily="34" charset="0"/>
              </a:rPr>
              <a:t>hóm còn lại</a:t>
            </a:r>
          </a:p>
        </p:txBody>
      </p:sp>
      <p:graphicFrame>
        <p:nvGraphicFramePr>
          <p:cNvPr id="16" name="Table 15">
            <a:extLst>
              <a:ext uri="{FF2B5EF4-FFF2-40B4-BE49-F238E27FC236}">
                <a16:creationId xmlns:a16="http://schemas.microsoft.com/office/drawing/2014/main" xmlns="" id="{152647FE-A9FE-C6FC-13B1-714E0BC0ECDE}"/>
              </a:ext>
            </a:extLst>
          </p:cNvPr>
          <p:cNvGraphicFramePr>
            <a:graphicFrameLocks noGrp="1"/>
          </p:cNvGraphicFramePr>
          <p:nvPr>
            <p:extLst>
              <p:ext uri="{D42A27DB-BD31-4B8C-83A1-F6EECF244321}">
                <p14:modId xmlns:p14="http://schemas.microsoft.com/office/powerpoint/2010/main" val="2596137660"/>
              </p:ext>
            </p:extLst>
          </p:nvPr>
        </p:nvGraphicFramePr>
        <p:xfrm>
          <a:off x="4450814" y="1410159"/>
          <a:ext cx="4693186" cy="4573335"/>
        </p:xfrm>
        <a:graphic>
          <a:graphicData uri="http://schemas.openxmlformats.org/drawingml/2006/table">
            <a:tbl>
              <a:tblPr>
                <a:tableStyleId>{5C22544A-7EE6-4342-B048-85BDC9FD1C3A}</a:tableStyleId>
              </a:tblPr>
              <a:tblGrid>
                <a:gridCol w="2211563">
                  <a:extLst>
                    <a:ext uri="{9D8B030D-6E8A-4147-A177-3AD203B41FA5}">
                      <a16:colId xmlns:a16="http://schemas.microsoft.com/office/drawing/2014/main" xmlns="" val="3992581055"/>
                    </a:ext>
                  </a:extLst>
                </a:gridCol>
                <a:gridCol w="2481623">
                  <a:extLst>
                    <a:ext uri="{9D8B030D-6E8A-4147-A177-3AD203B41FA5}">
                      <a16:colId xmlns:a16="http://schemas.microsoft.com/office/drawing/2014/main" xmlns="" val="98723798"/>
                    </a:ext>
                  </a:extLst>
                </a:gridCol>
              </a:tblGrid>
              <a:tr h="739638">
                <a:tc>
                  <a:txBody>
                    <a:bodyPr/>
                    <a:lstStyle/>
                    <a:p>
                      <a:pPr algn="ctr" fontAlgn="ctr"/>
                      <a:r>
                        <a:rPr lang="en-US" sz="1200" u="none" strike="noStrike" dirty="0" err="1">
                          <a:effectLst/>
                          <a:latin typeface="Arial" panose="020B0604020202020204" pitchFamily="34" charset="0"/>
                          <a:cs typeface="Arial" panose="020B0604020202020204" pitchFamily="34" charset="0"/>
                        </a:rPr>
                        <a:t>Dòng</a:t>
                      </a:r>
                      <a:r>
                        <a:rPr lang="en-US" sz="1200" u="none" strike="noStrike" dirty="0">
                          <a:effectLst/>
                          <a:latin typeface="Arial" panose="020B0604020202020204" pitchFamily="34" charset="0"/>
                          <a:cs typeface="Arial" panose="020B0604020202020204" pitchFamily="34" charset="0"/>
                        </a:rPr>
                        <a:t> code</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a:effectLst/>
                          <a:latin typeface="Arial" panose="020B0604020202020204" pitchFamily="34" charset="0"/>
                          <a:cs typeface="Arial" panose="020B0604020202020204" pitchFamily="34" charset="0"/>
                        </a:rPr>
                        <a:t>Ý nghĩa</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4013780"/>
                  </a:ext>
                </a:extLst>
              </a:tr>
              <a:tr h="585398">
                <a:tc>
                  <a:txBody>
                    <a:bodyPr/>
                    <a:lstStyle/>
                    <a:p>
                      <a:pPr algn="ctr" fontAlgn="ctr"/>
                      <a:r>
                        <a:rPr lang="en-US" sz="1200" u="none" strike="noStrike" dirty="0">
                          <a:effectLst/>
                          <a:latin typeface="Arial" panose="020B0604020202020204" pitchFamily="34" charset="0"/>
                          <a:cs typeface="Arial" panose="020B0604020202020204" pitchFamily="34" charset="0"/>
                        </a:rPr>
                        <a:t>dnmt1_data &lt;- </a:t>
                      </a:r>
                      <a:r>
                        <a:rPr lang="en-US" sz="1200" u="none" strike="noStrike" dirty="0" err="1">
                          <a:effectLst/>
                          <a:latin typeface="Arial" panose="020B0604020202020204" pitchFamily="34" charset="0"/>
                          <a:cs typeface="Arial" panose="020B0604020202020204" pitchFamily="34" charset="0"/>
                        </a:rPr>
                        <a:t>data.frame</a:t>
                      </a:r>
                      <a:r>
                        <a:rPr lang="en-US" sz="1200" u="none" strike="noStrike" dirty="0">
                          <a:effectLst/>
                          <a:latin typeface="Arial" panose="020B0604020202020204" pitchFamily="34" charset="0"/>
                          <a:cs typeface="Arial" panose="020B0604020202020204" pitchFamily="34" charset="0"/>
                        </a:rPr>
                        <a:t>(...)</a:t>
                      </a:r>
                      <a:endParaRPr lang="en-US" sz="120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a:effectLst/>
                          <a:latin typeface="Arial" panose="020B0604020202020204" pitchFamily="34" charset="0"/>
                          <a:cs typeface="Arial" panose="020B0604020202020204" pitchFamily="34" charset="0"/>
                        </a:rPr>
                        <a:t>Tạo bảng dữ liệu gồm 2 cột: tên nhóm (Category) và giá trị biểu hiện (Value)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13079020"/>
                  </a:ext>
                </a:extLst>
              </a:tr>
              <a:tr h="585398">
                <a:tc>
                  <a:txBody>
                    <a:bodyPr/>
                    <a:lstStyle/>
                    <a:p>
                      <a:pPr algn="ctr" fontAlgn="ctr"/>
                      <a:r>
                        <a:rPr lang="en-US" sz="1200" u="none" strike="noStrike" dirty="0" err="1">
                          <a:effectLst/>
                          <a:latin typeface="Arial" panose="020B0604020202020204" pitchFamily="34" charset="0"/>
                          <a:cs typeface="Arial" panose="020B0604020202020204" pitchFamily="34" charset="0"/>
                        </a:rPr>
                        <a:t>ggplot</a:t>
                      </a:r>
                      <a:r>
                        <a:rPr lang="en-US" sz="1200" u="none" strike="noStrike" dirty="0">
                          <a:effectLst/>
                          <a:latin typeface="Arial" panose="020B0604020202020204" pitchFamily="34" charset="0"/>
                          <a:cs typeface="Arial" panose="020B0604020202020204" pitchFamily="34" charset="0"/>
                        </a:rPr>
                        <a:t>(...)</a:t>
                      </a:r>
                      <a:endParaRPr lang="en-US" sz="120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a:effectLst/>
                          <a:latin typeface="Arial" panose="020B0604020202020204" pitchFamily="34" charset="0"/>
                          <a:cs typeface="Arial" panose="020B0604020202020204" pitchFamily="34" charset="0"/>
                        </a:rPr>
                        <a:t>Khởi tạo biểu đồ với Category trên trục X, Value trên trục Y, và màu theo nhóm</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26041450"/>
                  </a:ext>
                </a:extLst>
              </a:tr>
              <a:tr h="392774">
                <a:tc>
                  <a:txBody>
                    <a:bodyPr/>
                    <a:lstStyle/>
                    <a:p>
                      <a:pPr algn="ctr" fontAlgn="ctr"/>
                      <a:r>
                        <a:rPr lang="en-US" sz="1200" u="none" strike="noStrike">
                          <a:effectLst/>
                          <a:latin typeface="Arial" panose="020B0604020202020204" pitchFamily="34" charset="0"/>
                          <a:cs typeface="Arial" panose="020B0604020202020204" pitchFamily="34" charset="0"/>
                        </a:rPr>
                        <a:t>geom_bar(stat = "identity")</a:t>
                      </a:r>
                      <a:endParaRPr lang="en-US" sz="12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a:effectLst/>
                          <a:latin typeface="Arial" panose="020B0604020202020204" pitchFamily="34" charset="0"/>
                          <a:cs typeface="Arial" panose="020B0604020202020204" pitchFamily="34" charset="0"/>
                        </a:rPr>
                        <a:t>Vẽ biểu đồ cột với chiều cao đúng theo Value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72578610"/>
                  </a:ext>
                </a:extLst>
              </a:tr>
              <a:tr h="410909">
                <a:tc>
                  <a:txBody>
                    <a:bodyPr/>
                    <a:lstStyle/>
                    <a:p>
                      <a:pPr algn="ctr" fontAlgn="ctr"/>
                      <a:r>
                        <a:rPr lang="en-US" sz="1200" u="none" strike="noStrike">
                          <a:effectLst/>
                          <a:latin typeface="Arial" panose="020B0604020202020204" pitchFamily="34" charset="0"/>
                          <a:cs typeface="Arial" panose="020B0604020202020204" pitchFamily="34" charset="0"/>
                        </a:rPr>
                        <a:t>scale_y_continuous(limits = c(0, 3))</a:t>
                      </a:r>
                      <a:endParaRPr lang="en-US" sz="12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a:effectLst/>
                          <a:latin typeface="Arial" panose="020B0604020202020204" pitchFamily="34" charset="0"/>
                          <a:cs typeface="Arial" panose="020B0604020202020204" pitchFamily="34" charset="0"/>
                        </a:rPr>
                        <a:t>Giới hạn trục Y từ 0 đến 3 để biểu đồ không quá cao</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20356643"/>
                  </a:ext>
                </a:extLst>
              </a:tr>
              <a:tr h="493092">
                <a:tc>
                  <a:txBody>
                    <a:bodyPr/>
                    <a:lstStyle/>
                    <a:p>
                      <a:pPr algn="ctr" fontAlgn="ctr"/>
                      <a:r>
                        <a:rPr lang="en-US" sz="1200" u="none" strike="noStrike">
                          <a:effectLst/>
                          <a:latin typeface="Arial" panose="020B0604020202020204" pitchFamily="34" charset="0"/>
                          <a:cs typeface="Arial" panose="020B0604020202020204" pitchFamily="34" charset="0"/>
                        </a:rPr>
                        <a:t>scale_fill_manual(values = ...)</a:t>
                      </a:r>
                      <a:endParaRPr lang="en-US" sz="12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a:effectLst/>
                          <a:latin typeface="Arial" panose="020B0604020202020204" pitchFamily="34" charset="0"/>
                          <a:cs typeface="Arial" panose="020B0604020202020204" pitchFamily="34" charset="0"/>
                        </a:rPr>
                        <a:t>Tô màu riêng cho từng cột, theo thứ tự các nhóm</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08147466"/>
                  </a:ext>
                </a:extLst>
              </a:tr>
              <a:tr h="452000">
                <a:tc>
                  <a:txBody>
                    <a:bodyPr/>
                    <a:lstStyle/>
                    <a:p>
                      <a:pPr algn="ctr" fontAlgn="ctr"/>
                      <a:r>
                        <a:rPr lang="en-US" sz="1200" u="none" strike="noStrike">
                          <a:effectLst/>
                          <a:latin typeface="Arial" panose="020B0604020202020204" pitchFamily="34" charset="0"/>
                          <a:cs typeface="Arial" panose="020B0604020202020204" pitchFamily="34" charset="0"/>
                        </a:rPr>
                        <a:t>labs(title = "DNMT1", x = "", y = "Normalized High-H3K%")</a:t>
                      </a:r>
                      <a:endParaRPr lang="en-US" sz="12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err="1">
                          <a:effectLst/>
                          <a:latin typeface="Arial" panose="020B0604020202020204" pitchFamily="34" charset="0"/>
                          <a:cs typeface="Arial" panose="020B0604020202020204" pitchFamily="34" charset="0"/>
                        </a:rPr>
                        <a:t>Đặt</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tiêu</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đề</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biểu</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đồ</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là</a:t>
                      </a:r>
                      <a:r>
                        <a:rPr lang="en-US" sz="1200" u="none" strike="noStrike" dirty="0">
                          <a:effectLst/>
                          <a:latin typeface="Arial" panose="020B0604020202020204" pitchFamily="34" charset="0"/>
                          <a:cs typeface="Arial" panose="020B0604020202020204" pitchFamily="34" charset="0"/>
                        </a:rPr>
                        <a:t> "DNMT1", </a:t>
                      </a:r>
                      <a:r>
                        <a:rPr lang="en-US" sz="1200" u="none" strike="noStrike" dirty="0" err="1">
                          <a:effectLst/>
                          <a:latin typeface="Arial" panose="020B0604020202020204" pitchFamily="34" charset="0"/>
                          <a:cs typeface="Arial" panose="020B0604020202020204" pitchFamily="34" charset="0"/>
                        </a:rPr>
                        <a:t>bỏ</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nhãn</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trục</a:t>
                      </a:r>
                      <a:r>
                        <a:rPr lang="en-US" sz="1200" u="none" strike="noStrike" dirty="0">
                          <a:effectLst/>
                          <a:latin typeface="Arial" panose="020B0604020202020204" pitchFamily="34" charset="0"/>
                          <a:cs typeface="Arial" panose="020B0604020202020204" pitchFamily="34" charset="0"/>
                        </a:rPr>
                        <a:t> X, </a:t>
                      </a:r>
                      <a:r>
                        <a:rPr lang="en-US" sz="1200" u="none" strike="noStrike" dirty="0" err="1">
                          <a:effectLst/>
                          <a:latin typeface="Arial" panose="020B0604020202020204" pitchFamily="34" charset="0"/>
                          <a:cs typeface="Arial" panose="020B0604020202020204" pitchFamily="34" charset="0"/>
                        </a:rPr>
                        <a:t>đặt</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nhãn</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trục</a:t>
                      </a:r>
                      <a:r>
                        <a:rPr lang="en-US" sz="1200" u="none" strike="noStrike" dirty="0">
                          <a:effectLst/>
                          <a:latin typeface="Arial" panose="020B0604020202020204" pitchFamily="34" charset="0"/>
                          <a:cs typeface="Arial" panose="020B0604020202020204" pitchFamily="34" charset="0"/>
                        </a:rPr>
                        <a:t> Y</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26027121"/>
                  </a:ext>
                </a:extLst>
              </a:tr>
              <a:tr h="328728">
                <a:tc>
                  <a:txBody>
                    <a:bodyPr/>
                    <a:lstStyle/>
                    <a:p>
                      <a:pPr algn="ctr" fontAlgn="ctr"/>
                      <a:r>
                        <a:rPr lang="en-US" sz="1200" u="none" strike="noStrike">
                          <a:effectLst/>
                          <a:latin typeface="Arial" panose="020B0604020202020204" pitchFamily="34" charset="0"/>
                          <a:cs typeface="Arial" panose="020B0604020202020204" pitchFamily="34" charset="0"/>
                        </a:rPr>
                        <a:t>theme_minimal()</a:t>
                      </a:r>
                      <a:endParaRPr lang="en-US" sz="12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200" u="none" strike="noStrike" dirty="0">
                          <a:effectLst/>
                          <a:latin typeface="Arial" panose="020B0604020202020204" pitchFamily="34" charset="0"/>
                          <a:cs typeface="Arial" panose="020B0604020202020204" pitchFamily="34" charset="0"/>
                        </a:rPr>
                        <a:t>Dùng giao diện đơn giản, dễ nhìn</a:t>
                      </a:r>
                      <a:endParaRPr lang="vi-VN" sz="12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53564984"/>
                  </a:ext>
                </a:extLst>
              </a:tr>
              <a:tr h="585398">
                <a:tc>
                  <a:txBody>
                    <a:bodyPr/>
                    <a:lstStyle/>
                    <a:p>
                      <a:pPr algn="ctr" fontAlgn="ctr"/>
                      <a:r>
                        <a:rPr lang="en-US" sz="1200" u="none" strike="noStrike">
                          <a:effectLst/>
                          <a:latin typeface="Arial" panose="020B0604020202020204" pitchFamily="34" charset="0"/>
                          <a:cs typeface="Arial" panose="020B0604020202020204" pitchFamily="34" charset="0"/>
                        </a:rPr>
                        <a:t>theme(...)</a:t>
                      </a:r>
                      <a:endParaRPr lang="en-US" sz="12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err="1">
                          <a:effectLst/>
                          <a:latin typeface="Arial" panose="020B0604020202020204" pitchFamily="34" charset="0"/>
                          <a:cs typeface="Arial" panose="020B0604020202020204" pitchFamily="34" charset="0"/>
                        </a:rPr>
                        <a:t>Tùy</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chỉnh</a:t>
                      </a:r>
                      <a:r>
                        <a:rPr lang="en-US" sz="1200" u="none" strike="noStrike" dirty="0">
                          <a:effectLst/>
                          <a:latin typeface="Arial" panose="020B0604020202020204" pitchFamily="34" charset="0"/>
                          <a:cs typeface="Arial" panose="020B0604020202020204" pitchFamily="34" charset="0"/>
                        </a:rPr>
                        <a:t> chi </a:t>
                      </a:r>
                      <a:r>
                        <a:rPr lang="en-US" sz="1200" u="none" strike="noStrike" dirty="0" err="1">
                          <a:effectLst/>
                          <a:latin typeface="Arial" panose="020B0604020202020204" pitchFamily="34" charset="0"/>
                          <a:cs typeface="Arial" panose="020B0604020202020204" pitchFamily="34" charset="0"/>
                        </a:rPr>
                        <a:t>tiết</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xoay</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chữ</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trục</a:t>
                      </a:r>
                      <a:r>
                        <a:rPr lang="en-US" sz="1200" u="none" strike="noStrike" dirty="0">
                          <a:effectLst/>
                          <a:latin typeface="Arial" panose="020B0604020202020204" pitchFamily="34" charset="0"/>
                          <a:cs typeface="Arial" panose="020B0604020202020204" pitchFamily="34" charset="0"/>
                        </a:rPr>
                        <a:t> X 45°, </a:t>
                      </a:r>
                      <a:r>
                        <a:rPr lang="en-US" sz="1200" u="none" strike="noStrike" dirty="0" err="1">
                          <a:effectLst/>
                          <a:latin typeface="Arial" panose="020B0604020202020204" pitchFamily="34" charset="0"/>
                          <a:cs typeface="Arial" panose="020B0604020202020204" pitchFamily="34" charset="0"/>
                        </a:rPr>
                        <a:t>ẩn</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chú</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thích</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màu</a:t>
                      </a:r>
                      <a:r>
                        <a:rPr lang="en-US" sz="1200" u="none" strike="noStrike" dirty="0">
                          <a:effectLst/>
                          <a:latin typeface="Arial" panose="020B0604020202020204" pitchFamily="34" charset="0"/>
                          <a:cs typeface="Arial" panose="020B0604020202020204" pitchFamily="34" charset="0"/>
                        </a:rPr>
                        <a:t> (legend), </a:t>
                      </a:r>
                      <a:r>
                        <a:rPr lang="en-US" sz="1200" u="none" strike="noStrike" dirty="0" err="1">
                          <a:effectLst/>
                          <a:latin typeface="Arial" panose="020B0604020202020204" pitchFamily="34" charset="0"/>
                          <a:cs typeface="Arial" panose="020B0604020202020204" pitchFamily="34" charset="0"/>
                        </a:rPr>
                        <a:t>thu</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nhỏ</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chữ</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76629382"/>
                  </a:ext>
                </a:extLst>
              </a:tr>
            </a:tbl>
          </a:graphicData>
        </a:graphic>
      </p:graphicFrame>
    </p:spTree>
    <p:extLst>
      <p:ext uri="{BB962C8B-B14F-4D97-AF65-F5344CB8AC3E}">
        <p14:creationId xmlns:p14="http://schemas.microsoft.com/office/powerpoint/2010/main" val="71374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344EC6-B65E-775C-CAFA-31D55AD90B2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xmlns="" id="{77504E9C-A4FE-54C2-9017-C7914BB80BCA}"/>
              </a:ext>
            </a:extLst>
          </p:cNvPr>
          <p:cNvSpPr txBox="1"/>
          <p:nvPr/>
        </p:nvSpPr>
        <p:spPr>
          <a:xfrm>
            <a:off x="0" y="1452852"/>
            <a:ext cx="3796393" cy="3693319"/>
          </a:xfrm>
          <a:prstGeom prst="rect">
            <a:avLst/>
          </a:prstGeom>
          <a:noFill/>
        </p:spPr>
        <p:txBody>
          <a:bodyPr wrap="square">
            <a:spAutoFit/>
          </a:bodyPr>
          <a:lstStyle/>
          <a:p>
            <a:r>
              <a:rPr lang="vi-VN" sz="1300" dirty="0">
                <a:latin typeface="Arial" panose="020B0604020202020204" pitchFamily="34" charset="0"/>
                <a:cs typeface="Arial" panose="020B0604020202020204" pitchFamily="34" charset="0"/>
              </a:rPr>
              <a:t># 11. Ghép 8 biểu đồ thành 2 hàng (4 trên, 4 dưới)</a:t>
            </a:r>
          </a:p>
          <a:p>
            <a:r>
              <a:rPr lang="vi-VN" sz="1300" dirty="0">
                <a:latin typeface="Arial" panose="020B0604020202020204" pitchFamily="34" charset="0"/>
                <a:cs typeface="Arial" panose="020B0604020202020204" pitchFamily="34" charset="0"/>
              </a:rPr>
              <a:t>top_row &lt;- plot_grid(dnmt1_plot, g9a_plot, h3k18ac_plot, h3k4me2_plot, ncol = 4, nrow = 1)</a:t>
            </a:r>
          </a:p>
          <a:p>
            <a:r>
              <a:rPr lang="vi-VN" sz="1300" dirty="0">
                <a:latin typeface="Arial" panose="020B0604020202020204" pitchFamily="34" charset="0"/>
                <a:cs typeface="Arial" panose="020B0604020202020204" pitchFamily="34" charset="0"/>
              </a:rPr>
              <a:t>bottom_row &lt;- plot_grid(h3k79me_plot, h3k9me2_plot, nsd1_plot, smyd2_plot, ncol = 4, nrow = 1)</a:t>
            </a:r>
          </a:p>
          <a:p>
            <a:r>
              <a:rPr lang="vi-VN" sz="1300" dirty="0">
                <a:latin typeface="Arial" panose="020B0604020202020204" pitchFamily="34" charset="0"/>
                <a:cs typeface="Arial" panose="020B0604020202020204" pitchFamily="34" charset="0"/>
              </a:rPr>
              <a:t>combined_plot &lt;- plot_grid(top_row, bottom_row, ncol = 1, nrow = 2)</a:t>
            </a:r>
          </a:p>
          <a:p>
            <a:endParaRPr lang="vi-VN" sz="1300" dirty="0">
              <a:latin typeface="Arial" panose="020B0604020202020204" pitchFamily="34" charset="0"/>
              <a:cs typeface="Arial" panose="020B0604020202020204" pitchFamily="34" charset="0"/>
            </a:endParaRPr>
          </a:p>
          <a:p>
            <a:r>
              <a:rPr lang="vi-VN" sz="1300" dirty="0">
                <a:latin typeface="Arial" panose="020B0604020202020204" pitchFamily="34" charset="0"/>
                <a:cs typeface="Arial" panose="020B0604020202020204" pitchFamily="34" charset="0"/>
              </a:rPr>
              <a:t># 12. Lưu biểu đồ ghép thành file PNG</a:t>
            </a:r>
          </a:p>
          <a:p>
            <a:r>
              <a:rPr lang="vi-VN" sz="1300" dirty="0">
                <a:latin typeface="Arial" panose="020B0604020202020204" pitchFamily="34" charset="0"/>
                <a:cs typeface="Arial" panose="020B0604020202020204" pitchFamily="34" charset="0"/>
              </a:rPr>
              <a:t>ggsave("combined_figure_4B_8labels.png", plot = combined_plot, width = 12, height = 6)</a:t>
            </a:r>
          </a:p>
          <a:p>
            <a:endParaRPr lang="vi-VN" sz="1300" dirty="0">
              <a:latin typeface="Arial" panose="020B0604020202020204" pitchFamily="34" charset="0"/>
              <a:cs typeface="Arial" panose="020B0604020202020204" pitchFamily="34" charset="0"/>
            </a:endParaRPr>
          </a:p>
          <a:p>
            <a:r>
              <a:rPr lang="vi-VN" sz="1300" dirty="0">
                <a:latin typeface="Arial" panose="020B0604020202020204" pitchFamily="34" charset="0"/>
                <a:cs typeface="Arial" panose="020B0604020202020204" pitchFamily="34" charset="0"/>
              </a:rPr>
              <a:t># 13. Thông báo hoàn thành</a:t>
            </a:r>
          </a:p>
          <a:p>
            <a:r>
              <a:rPr lang="vi-VN" sz="1300" dirty="0">
                <a:latin typeface="Arial" panose="020B0604020202020204" pitchFamily="34" charset="0"/>
                <a:cs typeface="Arial" panose="020B0604020202020204" pitchFamily="34" charset="0"/>
              </a:rPr>
              <a:t>cat("Biểu đồ ghép đã được lưu tại:", file.path(getwd(), "combined_figure_4B_8labels.png"), "\n")</a:t>
            </a:r>
            <a:endParaRPr lang="x-none" sz="1300" dirty="0">
              <a:latin typeface="Arial" panose="020B0604020202020204" pitchFamily="34" charset="0"/>
              <a:cs typeface="Arial" panose="020B0604020202020204" pitchFamily="34" charset="0"/>
            </a:endParaRPr>
          </a:p>
        </p:txBody>
      </p:sp>
      <p:pic>
        <p:nvPicPr>
          <p:cNvPr id="4098" name="Picture 2">
            <a:extLst>
              <a:ext uri="{FF2B5EF4-FFF2-40B4-BE49-F238E27FC236}">
                <a16:creationId xmlns:a16="http://schemas.microsoft.com/office/drawing/2014/main" xmlns="" id="{BCD4BA42-A22F-CD50-9FDA-FA802C113F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2685" y="825297"/>
            <a:ext cx="5431316" cy="292211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xmlns="" id="{2FE1FF29-C3A4-57C4-78FB-27DFCE4F1ACC}"/>
              </a:ext>
            </a:extLst>
          </p:cNvPr>
          <p:cNvGraphicFramePr>
            <a:graphicFrameLocks noGrp="1"/>
          </p:cNvGraphicFramePr>
          <p:nvPr>
            <p:extLst>
              <p:ext uri="{D42A27DB-BD31-4B8C-83A1-F6EECF244321}">
                <p14:modId xmlns:p14="http://schemas.microsoft.com/office/powerpoint/2010/main" val="3954383299"/>
              </p:ext>
            </p:extLst>
          </p:nvPr>
        </p:nvGraphicFramePr>
        <p:xfrm>
          <a:off x="3712683" y="3747408"/>
          <a:ext cx="5324415" cy="2939830"/>
        </p:xfrm>
        <a:graphic>
          <a:graphicData uri="http://schemas.openxmlformats.org/drawingml/2006/table">
            <a:tbl>
              <a:tblPr>
                <a:tableStyleId>{5C22544A-7EE6-4342-B048-85BDC9FD1C3A}</a:tableStyleId>
              </a:tblPr>
              <a:tblGrid>
                <a:gridCol w="1517101">
                  <a:extLst>
                    <a:ext uri="{9D8B030D-6E8A-4147-A177-3AD203B41FA5}">
                      <a16:colId xmlns:a16="http://schemas.microsoft.com/office/drawing/2014/main" xmlns="" val="2615868575"/>
                    </a:ext>
                  </a:extLst>
                </a:gridCol>
                <a:gridCol w="3807314">
                  <a:extLst>
                    <a:ext uri="{9D8B030D-6E8A-4147-A177-3AD203B41FA5}">
                      <a16:colId xmlns:a16="http://schemas.microsoft.com/office/drawing/2014/main" xmlns="" val="3541139723"/>
                    </a:ext>
                  </a:extLst>
                </a:gridCol>
              </a:tblGrid>
              <a:tr h="249293">
                <a:tc>
                  <a:txBody>
                    <a:bodyPr/>
                    <a:lstStyle/>
                    <a:p>
                      <a:pPr algn="l" fontAlgn="b"/>
                      <a:r>
                        <a:rPr lang="en-US" sz="1300" u="none" strike="noStrike" dirty="0" err="1">
                          <a:effectLst/>
                          <a:latin typeface="Arial" panose="020B0604020202020204" pitchFamily="34" charset="0"/>
                          <a:cs typeface="Arial" panose="020B0604020202020204" pitchFamily="34" charset="0"/>
                        </a:rPr>
                        <a:t>Dòng</a:t>
                      </a:r>
                      <a:r>
                        <a:rPr lang="en-US" sz="1300" u="none" strike="noStrike" dirty="0">
                          <a:effectLst/>
                          <a:latin typeface="Arial" panose="020B0604020202020204" pitchFamily="34" charset="0"/>
                          <a:cs typeface="Arial" panose="020B0604020202020204" pitchFamily="34" charset="0"/>
                        </a:rPr>
                        <a:t> code</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300" u="none" strike="noStrike">
                          <a:effectLst/>
                          <a:latin typeface="Arial" panose="020B0604020202020204" pitchFamily="34" charset="0"/>
                          <a:cs typeface="Arial" panose="020B0604020202020204" pitchFamily="34" charset="0"/>
                        </a:rPr>
                        <a:t>Ý nghĩa</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6388944"/>
                  </a:ext>
                </a:extLst>
              </a:tr>
              <a:tr h="491202">
                <a:tc>
                  <a:txBody>
                    <a:bodyPr/>
                    <a:lstStyle/>
                    <a:p>
                      <a:pPr algn="l" fontAlgn="b"/>
                      <a:r>
                        <a:rPr lang="en-US" sz="1300" u="none" strike="noStrike">
                          <a:effectLst/>
                          <a:latin typeface="Arial" panose="020B0604020202020204" pitchFamily="34" charset="0"/>
                          <a:cs typeface="Arial" panose="020B0604020202020204" pitchFamily="34" charset="0"/>
                        </a:rPr>
                        <a:t>top_row &lt;- plot_grid(...)</a:t>
                      </a:r>
                      <a:endParaRPr lang="en-US" sz="13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300" u="none" strike="noStrike" dirty="0" err="1">
                          <a:effectLst/>
                          <a:latin typeface="Arial" panose="020B0604020202020204" pitchFamily="34" charset="0"/>
                          <a:cs typeface="Arial" panose="020B0604020202020204" pitchFamily="34" charset="0"/>
                        </a:rPr>
                        <a:t>Ghép</a:t>
                      </a:r>
                      <a:r>
                        <a:rPr lang="en-US" sz="1300" u="none" strike="noStrike" dirty="0">
                          <a:effectLst/>
                          <a:latin typeface="Arial" panose="020B0604020202020204" pitchFamily="34" charset="0"/>
                          <a:cs typeface="Arial" panose="020B0604020202020204" pitchFamily="34" charset="0"/>
                        </a:rPr>
                        <a:t> 4 </a:t>
                      </a:r>
                      <a:r>
                        <a:rPr lang="en-US" sz="1300" u="none" strike="noStrike" dirty="0" err="1">
                          <a:effectLst/>
                          <a:latin typeface="Arial" panose="020B0604020202020204" pitchFamily="34" charset="0"/>
                          <a:cs typeface="Arial" panose="020B0604020202020204" pitchFamily="34" charset="0"/>
                        </a:rPr>
                        <a:t>biểu</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đồ</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đầu</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tiên</a:t>
                      </a:r>
                      <a:r>
                        <a:rPr lang="en-US" sz="1300" u="none" strike="noStrike" dirty="0">
                          <a:effectLst/>
                          <a:latin typeface="Arial" panose="020B0604020202020204" pitchFamily="34" charset="0"/>
                          <a:cs typeface="Arial" panose="020B0604020202020204" pitchFamily="34" charset="0"/>
                        </a:rPr>
                        <a:t> (dnmt1 → h3k4me2) </a:t>
                      </a:r>
                      <a:r>
                        <a:rPr lang="en-US" sz="1300" u="none" strike="noStrike" dirty="0" err="1">
                          <a:effectLst/>
                          <a:latin typeface="Arial" panose="020B0604020202020204" pitchFamily="34" charset="0"/>
                          <a:cs typeface="Arial" panose="020B0604020202020204" pitchFamily="34" charset="0"/>
                        </a:rPr>
                        <a:t>thành</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hàng</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trên</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0619699"/>
                  </a:ext>
                </a:extLst>
              </a:tr>
              <a:tr h="491202">
                <a:tc>
                  <a:txBody>
                    <a:bodyPr/>
                    <a:lstStyle/>
                    <a:p>
                      <a:pPr algn="l" fontAlgn="b"/>
                      <a:r>
                        <a:rPr lang="en-US" sz="1300" u="none" strike="noStrike" dirty="0" err="1">
                          <a:effectLst/>
                          <a:latin typeface="Arial" panose="020B0604020202020204" pitchFamily="34" charset="0"/>
                          <a:cs typeface="Arial" panose="020B0604020202020204" pitchFamily="34" charset="0"/>
                        </a:rPr>
                        <a:t>bottom_row</a:t>
                      </a:r>
                      <a:r>
                        <a:rPr lang="en-US" sz="1300" u="none" strike="noStrike" dirty="0">
                          <a:effectLst/>
                          <a:latin typeface="Arial" panose="020B0604020202020204" pitchFamily="34" charset="0"/>
                          <a:cs typeface="Arial" panose="020B0604020202020204" pitchFamily="34" charset="0"/>
                        </a:rPr>
                        <a:t> &lt;- </a:t>
                      </a:r>
                      <a:r>
                        <a:rPr lang="en-US" sz="1300" u="none" strike="noStrike" dirty="0" err="1">
                          <a:effectLst/>
                          <a:latin typeface="Arial" panose="020B0604020202020204" pitchFamily="34" charset="0"/>
                          <a:cs typeface="Arial" panose="020B0604020202020204" pitchFamily="34" charset="0"/>
                        </a:rPr>
                        <a:t>plot_grid</a:t>
                      </a:r>
                      <a:r>
                        <a:rPr lang="en-US" sz="1300" u="none" strike="noStrike" dirty="0">
                          <a:effectLst/>
                          <a:latin typeface="Arial" panose="020B0604020202020204" pitchFamily="34" charset="0"/>
                          <a:cs typeface="Arial" panose="020B0604020202020204" pitchFamily="34" charset="0"/>
                        </a:rPr>
                        <a:t>(...)</a:t>
                      </a:r>
                      <a:endParaRPr lang="en-US" sz="130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vi-VN" sz="1300" u="none" strike="noStrike">
                          <a:effectLst/>
                          <a:latin typeface="Arial" panose="020B0604020202020204" pitchFamily="34" charset="0"/>
                          <a:cs typeface="Arial" panose="020B0604020202020204" pitchFamily="34" charset="0"/>
                        </a:rPr>
                        <a:t>Ghép 4 biểu đồ tiếp theo (h3k79me → smyd2) thành hàng dưới</a:t>
                      </a:r>
                      <a:endParaRPr lang="vi-VN" sz="1300" b="0" i="0" u="none" strike="noStrike">
                        <a:solidFill>
                          <a:srgbClr val="000000"/>
                        </a:solidFill>
                        <a:effectLst/>
                        <a:latin typeface="Arial" panose="020B0604020202020204" pitchFamily="34" charset="0"/>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49623932"/>
                  </a:ext>
                </a:extLst>
              </a:tr>
              <a:tr h="975021">
                <a:tc>
                  <a:txBody>
                    <a:bodyPr/>
                    <a:lstStyle/>
                    <a:p>
                      <a:pPr algn="l" fontAlgn="b"/>
                      <a:r>
                        <a:rPr lang="en-US" sz="1300" u="none" strike="noStrike" dirty="0" err="1">
                          <a:effectLst/>
                          <a:latin typeface="Arial" panose="020B0604020202020204" pitchFamily="34" charset="0"/>
                          <a:cs typeface="Arial" panose="020B0604020202020204" pitchFamily="34" charset="0"/>
                        </a:rPr>
                        <a:t>combined_plot</a:t>
                      </a:r>
                      <a:r>
                        <a:rPr lang="en-US" sz="1300" u="none" strike="noStrike" dirty="0">
                          <a:effectLst/>
                          <a:latin typeface="Arial" panose="020B0604020202020204" pitchFamily="34" charset="0"/>
                          <a:cs typeface="Arial" panose="020B0604020202020204" pitchFamily="34" charset="0"/>
                        </a:rPr>
                        <a:t> &lt;- </a:t>
                      </a:r>
                      <a:r>
                        <a:rPr lang="en-US" sz="1300" u="none" strike="noStrike" dirty="0" err="1">
                          <a:effectLst/>
                          <a:latin typeface="Arial" panose="020B0604020202020204" pitchFamily="34" charset="0"/>
                          <a:cs typeface="Arial" panose="020B0604020202020204" pitchFamily="34" charset="0"/>
                        </a:rPr>
                        <a:t>plot_grid</a:t>
                      </a:r>
                      <a:r>
                        <a:rPr lang="en-US" sz="1300" u="none" strike="noStrike" dirty="0">
                          <a:effectLst/>
                          <a:latin typeface="Arial" panose="020B0604020202020204" pitchFamily="34" charset="0"/>
                          <a:cs typeface="Arial" panose="020B0604020202020204" pitchFamily="34" charset="0"/>
                        </a:rPr>
                        <a:t>(</a:t>
                      </a:r>
                      <a:r>
                        <a:rPr lang="en-US" sz="1300" u="none" strike="noStrike" dirty="0" err="1">
                          <a:effectLst/>
                          <a:latin typeface="Arial" panose="020B0604020202020204" pitchFamily="34" charset="0"/>
                          <a:cs typeface="Arial" panose="020B0604020202020204" pitchFamily="34" charset="0"/>
                        </a:rPr>
                        <a:t>top_row</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bottom_row</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ncol</a:t>
                      </a:r>
                      <a:r>
                        <a:rPr lang="en-US" sz="1300" u="none" strike="noStrike" dirty="0">
                          <a:effectLst/>
                          <a:latin typeface="Arial" panose="020B0604020202020204" pitchFamily="34" charset="0"/>
                          <a:cs typeface="Arial" panose="020B0604020202020204" pitchFamily="34" charset="0"/>
                        </a:rPr>
                        <a:t> = 1, </a:t>
                      </a:r>
                      <a:r>
                        <a:rPr lang="en-US" sz="1300" u="none" strike="noStrike" dirty="0" err="1">
                          <a:effectLst/>
                          <a:latin typeface="Arial" panose="020B0604020202020204" pitchFamily="34" charset="0"/>
                          <a:cs typeface="Arial" panose="020B0604020202020204" pitchFamily="34" charset="0"/>
                        </a:rPr>
                        <a:t>nrow</a:t>
                      </a:r>
                      <a:r>
                        <a:rPr lang="en-US" sz="1300" u="none" strike="noStrike" dirty="0">
                          <a:effectLst/>
                          <a:latin typeface="Arial" panose="020B0604020202020204" pitchFamily="34" charset="0"/>
                          <a:cs typeface="Arial" panose="020B0604020202020204" pitchFamily="34" charset="0"/>
                        </a:rPr>
                        <a:t> = 2)</a:t>
                      </a:r>
                      <a:endParaRPr lang="en-US" sz="130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300" u="none" strike="noStrike" dirty="0" err="1">
                          <a:effectLst/>
                          <a:latin typeface="Arial" panose="020B0604020202020204" pitchFamily="34" charset="0"/>
                          <a:cs typeface="Arial" panose="020B0604020202020204" pitchFamily="34" charset="0"/>
                        </a:rPr>
                        <a:t>Ghép</a:t>
                      </a:r>
                      <a:r>
                        <a:rPr lang="en-US" sz="1300" u="none" strike="noStrike" dirty="0">
                          <a:effectLst/>
                          <a:latin typeface="Arial" panose="020B0604020202020204" pitchFamily="34" charset="0"/>
                          <a:cs typeface="Arial" panose="020B0604020202020204" pitchFamily="34" charset="0"/>
                        </a:rPr>
                        <a:t> 2 </a:t>
                      </a:r>
                      <a:r>
                        <a:rPr lang="en-US" sz="1300" u="none" strike="noStrike" dirty="0" err="1">
                          <a:effectLst/>
                          <a:latin typeface="Arial" panose="020B0604020202020204" pitchFamily="34" charset="0"/>
                          <a:cs typeface="Arial" panose="020B0604020202020204" pitchFamily="34" charset="0"/>
                        </a:rPr>
                        <a:t>hàng</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lại</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thành</a:t>
                      </a:r>
                      <a:r>
                        <a:rPr lang="en-US" sz="1300" u="none" strike="noStrike" dirty="0">
                          <a:effectLst/>
                          <a:latin typeface="Arial" panose="020B0604020202020204" pitchFamily="34" charset="0"/>
                          <a:cs typeface="Arial" panose="020B0604020202020204" pitchFamily="34" charset="0"/>
                        </a:rPr>
                        <a:t> 1 </a:t>
                      </a:r>
                      <a:r>
                        <a:rPr lang="en-US" sz="1300" u="none" strike="noStrike" dirty="0" err="1">
                          <a:effectLst/>
                          <a:latin typeface="Arial" panose="020B0604020202020204" pitchFamily="34" charset="0"/>
                          <a:cs typeface="Arial" panose="020B0604020202020204" pitchFamily="34" charset="0"/>
                        </a:rPr>
                        <a:t>hình</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hoàn</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chỉnh</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có</a:t>
                      </a:r>
                      <a:r>
                        <a:rPr lang="en-US" sz="1300" u="none" strike="noStrike" dirty="0">
                          <a:effectLst/>
                          <a:latin typeface="Arial" panose="020B0604020202020204" pitchFamily="34" charset="0"/>
                          <a:cs typeface="Arial" panose="020B0604020202020204" pitchFamily="34" charset="0"/>
                        </a:rPr>
                        <a:t> 2 </a:t>
                      </a:r>
                      <a:r>
                        <a:rPr lang="en-US" sz="1300" u="none" strike="noStrike" dirty="0" err="1">
                          <a:effectLst/>
                          <a:latin typeface="Arial" panose="020B0604020202020204" pitchFamily="34" charset="0"/>
                          <a:cs typeface="Arial" panose="020B0604020202020204" pitchFamily="34" charset="0"/>
                        </a:rPr>
                        <a:t>hàng</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91048832"/>
                  </a:ext>
                </a:extLst>
              </a:tr>
              <a:tr h="733112">
                <a:tc>
                  <a:txBody>
                    <a:bodyPr/>
                    <a:lstStyle/>
                    <a:p>
                      <a:pPr algn="l" fontAlgn="b"/>
                      <a:r>
                        <a:rPr lang="en-US" sz="1300" u="none" strike="noStrike">
                          <a:effectLst/>
                          <a:latin typeface="Arial" panose="020B0604020202020204" pitchFamily="34" charset="0"/>
                          <a:cs typeface="Arial" panose="020B0604020202020204" pitchFamily="34" charset="0"/>
                        </a:rPr>
                        <a:t>ggsave(...)</a:t>
                      </a:r>
                      <a:endParaRPr lang="en-US" sz="13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vi-VN" sz="1300" u="none" strike="noStrike" dirty="0">
                          <a:effectLst/>
                          <a:latin typeface="Arial" panose="020B0604020202020204" pitchFamily="34" charset="0"/>
                          <a:cs typeface="Arial" panose="020B0604020202020204" pitchFamily="34" charset="0"/>
                        </a:rPr>
                        <a:t>Lưu hình ghép thành file PNG tên combined_figure_4B_8labels.png (kích thước 12 x 6 inch)</a:t>
                      </a:r>
                      <a:endParaRPr lang="vi-VN" sz="1300" b="0" i="0" u="none" strike="noStrike" dirty="0">
                        <a:solidFill>
                          <a:srgbClr val="000000"/>
                        </a:solidFill>
                        <a:effectLst/>
                        <a:latin typeface="Arial" panose="020B0604020202020204" pitchFamily="34" charset="0"/>
                        <a:cs typeface="Arial" panose="020B0604020202020204" pitchFamily="34" charset="0"/>
                      </a:endParaRPr>
                    </a:p>
                  </a:txBody>
                  <a:tcPr marL="6047" marR="6047" marT="604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564261"/>
                  </a:ext>
                </a:extLst>
              </a:tr>
            </a:tbl>
          </a:graphicData>
        </a:graphic>
      </p:graphicFrame>
    </p:spTree>
    <p:extLst>
      <p:ext uri="{BB962C8B-B14F-4D97-AF65-F5344CB8AC3E}">
        <p14:creationId xmlns:p14="http://schemas.microsoft.com/office/powerpoint/2010/main" val="2425915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120A0957-E282-C573-25B6-492DB5266BD9}"/>
              </a:ext>
            </a:extLst>
          </p:cNvPr>
          <p:cNvSpPr txBox="1"/>
          <p:nvPr/>
        </p:nvSpPr>
        <p:spPr>
          <a:xfrm>
            <a:off x="108455" y="1898429"/>
            <a:ext cx="9144000" cy="3293209"/>
          </a:xfrm>
          <a:prstGeom prst="rect">
            <a:avLst/>
          </a:prstGeom>
          <a:noFill/>
        </p:spPr>
        <p:txBody>
          <a:bodyPr wrap="square">
            <a:spAutoFit/>
          </a:bodyPr>
          <a:lstStyle/>
          <a:p>
            <a:pPr algn="l"/>
            <a:r>
              <a:rPr lang="vi-VN" sz="1600" b="1" dirty="0">
                <a:solidFill>
                  <a:srgbClr val="000000"/>
                </a:solidFill>
                <a:latin typeface="Arial" panose="020B0604020202020204" pitchFamily="34" charset="0"/>
                <a:cs typeface="Arial" panose="020B0604020202020204" pitchFamily="34" charset="0"/>
              </a:rPr>
              <a:t>UNC0642</a:t>
            </a:r>
            <a:r>
              <a:rPr lang="vi-VN" sz="1600" dirty="0">
                <a:solidFill>
                  <a:srgbClr val="000000"/>
                </a:solidFill>
                <a:latin typeface="Arial" panose="020B0604020202020204" pitchFamily="34" charset="0"/>
                <a:cs typeface="Arial" panose="020B0604020202020204" pitchFamily="34" charset="0"/>
              </a:rPr>
              <a:t> là một </a:t>
            </a:r>
            <a:r>
              <a:rPr lang="vi-VN" sz="1600" b="1" dirty="0">
                <a:solidFill>
                  <a:srgbClr val="000000"/>
                </a:solidFill>
                <a:latin typeface="Arial" panose="020B0604020202020204" pitchFamily="34" charset="0"/>
                <a:cs typeface="Arial" panose="020B0604020202020204" pitchFamily="34" charset="0"/>
              </a:rPr>
              <a:t>chất ức chế G9a</a:t>
            </a:r>
            <a:r>
              <a:rPr lang="vi-VN" sz="1600" dirty="0">
                <a:solidFill>
                  <a:srgbClr val="000000"/>
                </a:solidFill>
                <a:latin typeface="Arial" panose="020B0604020202020204" pitchFamily="34" charset="0"/>
                <a:cs typeface="Arial" panose="020B0604020202020204" pitchFamily="34" charset="0"/>
              </a:rPr>
              <a:t>, một loại enzyme </a:t>
            </a:r>
            <a:r>
              <a:rPr lang="vi-VN" sz="1600" b="1" dirty="0">
                <a:solidFill>
                  <a:srgbClr val="000000"/>
                </a:solidFill>
                <a:latin typeface="Arial" panose="020B0604020202020204" pitchFamily="34" charset="0"/>
                <a:cs typeface="Arial" panose="020B0604020202020204" pitchFamily="34" charset="0"/>
              </a:rPr>
              <a:t>histone methyltransferase</a:t>
            </a:r>
            <a:r>
              <a:rPr lang="vi-VN" sz="1600" dirty="0">
                <a:solidFill>
                  <a:srgbClr val="000000"/>
                </a:solidFill>
                <a:latin typeface="Arial" panose="020B0604020202020204" pitchFamily="34" charset="0"/>
                <a:cs typeface="Arial" panose="020B0604020202020204" pitchFamily="34" charset="0"/>
              </a:rPr>
              <a:t> (methyltransferase histone) có liên quan đến các thay đổi epigenetic trong tế bào. G9a thường tham gia vào việc thêm nhóm methyl vào histone H3 tại vị trí lysine 9 (H3K9me2), một quá trình quan trọng trong việc điều chỉnh biểu hiện gen.</a:t>
            </a:r>
          </a:p>
          <a:p>
            <a:pPr algn="l"/>
            <a:r>
              <a:rPr lang="vi-VN" sz="1600" b="1" dirty="0">
                <a:solidFill>
                  <a:srgbClr val="000000"/>
                </a:solidFill>
                <a:latin typeface="Arial" panose="020B0604020202020204" pitchFamily="34" charset="0"/>
                <a:cs typeface="Arial" panose="020B0604020202020204" pitchFamily="34" charset="0"/>
              </a:rPr>
              <a:t>Tác dụng của UNC0642:</a:t>
            </a:r>
          </a:p>
          <a:p>
            <a:pPr algn="l">
              <a:buFont typeface="Arial" panose="020B0604020202020204" pitchFamily="34" charset="0"/>
              <a:buChar char="•"/>
            </a:pPr>
            <a:r>
              <a:rPr lang="vi-VN" sz="1600" b="1" dirty="0">
                <a:solidFill>
                  <a:srgbClr val="000000"/>
                </a:solidFill>
                <a:latin typeface="Arial" panose="020B0604020202020204" pitchFamily="34" charset="0"/>
                <a:cs typeface="Arial" panose="020B0604020202020204" pitchFamily="34" charset="0"/>
              </a:rPr>
              <a:t>Ức chế G9a</a:t>
            </a:r>
            <a:r>
              <a:rPr lang="vi-VN" sz="1600" dirty="0">
                <a:solidFill>
                  <a:srgbClr val="000000"/>
                </a:solidFill>
                <a:latin typeface="Arial" panose="020B0604020202020204" pitchFamily="34" charset="0"/>
                <a:cs typeface="Arial" panose="020B0604020202020204" pitchFamily="34" charset="0"/>
              </a:rPr>
              <a:t>: Bằng cách ức chế G9a, UNC0642 làm giảm mức độ methyl hóa histone H3K9me2 và ảnh hưởng đến các quá trình epigenetic khác, có thể làm giảm sự sống và tăng sinh của tế bào ung thư.</a:t>
            </a:r>
          </a:p>
          <a:p>
            <a:pPr algn="l">
              <a:buFont typeface="Arial" panose="020B0604020202020204" pitchFamily="34" charset="0"/>
              <a:buChar char="•"/>
            </a:pPr>
            <a:r>
              <a:rPr lang="vi-VN" sz="1600" b="1" dirty="0">
                <a:solidFill>
                  <a:srgbClr val="000000"/>
                </a:solidFill>
                <a:latin typeface="Arial" panose="020B0604020202020204" pitchFamily="34" charset="0"/>
                <a:cs typeface="Arial" panose="020B0604020202020204" pitchFamily="34" charset="0"/>
              </a:rPr>
              <a:t>Ức chế sự phát triển ung thư</a:t>
            </a:r>
            <a:r>
              <a:rPr lang="vi-VN" sz="1600" dirty="0">
                <a:solidFill>
                  <a:srgbClr val="000000"/>
                </a:solidFill>
                <a:latin typeface="Arial" panose="020B0604020202020204" pitchFamily="34" charset="0"/>
                <a:cs typeface="Arial" panose="020B0604020202020204" pitchFamily="34" charset="0"/>
              </a:rPr>
              <a:t>: Các nghiên cứu cho thấy UNC0642 có thể làm giảm sự phát triển của một số loại ung thư, bao gồm ung thư vú, đặc biệt là các thể TNBC (Triple-negative breast cancer), thể ung thư vú khó điều trị.</a:t>
            </a:r>
          </a:p>
          <a:p>
            <a:pPr algn="l"/>
            <a:r>
              <a:rPr lang="vi-VN" sz="1600" dirty="0">
                <a:solidFill>
                  <a:srgbClr val="000000"/>
                </a:solidFill>
                <a:latin typeface="Arial" panose="020B0604020202020204" pitchFamily="34" charset="0"/>
                <a:cs typeface="Arial" panose="020B0604020202020204" pitchFamily="34" charset="0"/>
              </a:rPr>
              <a:t>Vì vậy, UNC0642 đang được nghiên cứu như một ứng viên điều trị tiềm năng cho các loại ung thư liên quan đến sự thay đổi epigenetic.</a:t>
            </a:r>
          </a:p>
        </p:txBody>
      </p:sp>
      <p:sp>
        <p:nvSpPr>
          <p:cNvPr id="7" name="TextBox 6">
            <a:extLst>
              <a:ext uri="{FF2B5EF4-FFF2-40B4-BE49-F238E27FC236}">
                <a16:creationId xmlns:a16="http://schemas.microsoft.com/office/drawing/2014/main" xmlns="" id="{8F166095-53FC-618D-2534-C2BBAB7662A3}"/>
              </a:ext>
            </a:extLst>
          </p:cNvPr>
          <p:cNvSpPr txBox="1"/>
          <p:nvPr/>
        </p:nvSpPr>
        <p:spPr>
          <a:xfrm>
            <a:off x="108455" y="535646"/>
            <a:ext cx="8927089" cy="646331"/>
          </a:xfrm>
          <a:prstGeom prst="rect">
            <a:avLst/>
          </a:prstGeom>
          <a:noFill/>
        </p:spPr>
        <p:txBody>
          <a:bodyPr wrap="square">
            <a:spAutoFit/>
          </a:bodyPr>
          <a:lstStyle/>
          <a:p>
            <a:pPr algn="ctr"/>
            <a:r>
              <a:rPr lang="vi-VN" b="1" dirty="0">
                <a:solidFill>
                  <a:srgbClr val="000000"/>
                </a:solidFill>
                <a:latin typeface="Arial" panose="020B0604020202020204" pitchFamily="34" charset="0"/>
                <a:cs typeface="Arial" panose="020B0604020202020204" pitchFamily="34" charset="0"/>
              </a:rPr>
              <a:t>Hiệu quả của UNC0642 trong việc ức chế tăng sinh và điều chỉnh dấu ấn epigenetic ở ung thư vú</a:t>
            </a:r>
            <a:endParaRPr lang="x-none"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79040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D481CC39-6948-30DC-8169-C6A2D79A7532}"/>
              </a:ext>
            </a:extLst>
          </p:cNvPr>
          <p:cNvPicPr>
            <a:picLocks noChangeAspect="1"/>
          </p:cNvPicPr>
          <p:nvPr/>
        </p:nvPicPr>
        <p:blipFill>
          <a:blip r:embed="rId3"/>
          <a:stretch>
            <a:fillRect/>
          </a:stretch>
        </p:blipFill>
        <p:spPr>
          <a:xfrm>
            <a:off x="0" y="1014413"/>
            <a:ext cx="4933950" cy="4829175"/>
          </a:xfrm>
          <a:prstGeom prst="rect">
            <a:avLst/>
          </a:prstGeom>
        </p:spPr>
      </p:pic>
      <p:sp>
        <p:nvSpPr>
          <p:cNvPr id="6" name="TextBox 5">
            <a:extLst>
              <a:ext uri="{FF2B5EF4-FFF2-40B4-BE49-F238E27FC236}">
                <a16:creationId xmlns:a16="http://schemas.microsoft.com/office/drawing/2014/main" xmlns="" id="{FC9A4625-12F8-816C-7E0C-2C66A8581CB6}"/>
              </a:ext>
            </a:extLst>
          </p:cNvPr>
          <p:cNvSpPr txBox="1"/>
          <p:nvPr/>
        </p:nvSpPr>
        <p:spPr>
          <a:xfrm>
            <a:off x="4933950" y="826830"/>
            <a:ext cx="4210050" cy="5016758"/>
          </a:xfrm>
          <a:prstGeom prst="rect">
            <a:avLst/>
          </a:prstGeom>
          <a:noFill/>
        </p:spPr>
        <p:txBody>
          <a:bodyPr wrap="square">
            <a:spAutoFit/>
          </a:bodyPr>
          <a:lstStyle/>
          <a:p>
            <a:r>
              <a:rPr lang="vi-VN" sz="1600" b="1" dirty="0">
                <a:solidFill>
                  <a:srgbClr val="000000"/>
                </a:solidFill>
                <a:latin typeface="Arial" panose="020B0604020202020204" pitchFamily="34" charset="0"/>
                <a:cs typeface="Arial" panose="020B0604020202020204" pitchFamily="34" charset="0"/>
              </a:rPr>
              <a:t>A.</a:t>
            </a:r>
            <a:r>
              <a:rPr lang="vi-VN" sz="1600" dirty="0">
                <a:solidFill>
                  <a:srgbClr val="000000"/>
                </a:solidFill>
                <a:latin typeface="Arial" panose="020B0604020202020204" pitchFamily="34" charset="0"/>
                <a:cs typeface="Arial" panose="020B0604020202020204" pitchFamily="34" charset="0"/>
              </a:rPr>
              <a:t> UNC0642 làm giảm đáng kể khả năng sống của tế bào ở cả ba nhóm Luminal A, Claudin-low TNBC và Basal-like TNBC với hiệu quả mạnh hơn khi xử lý 48 giờ so với 24 giờ và giảm nhất ở nồng độ cao (8–16 µM).</a:t>
            </a:r>
            <a:r>
              <a:rPr lang="vi-VN" sz="1600" dirty="0">
                <a:latin typeface="Arial" panose="020B0604020202020204" pitchFamily="34" charset="0"/>
                <a:cs typeface="Arial" panose="020B0604020202020204" pitchFamily="34" charset="0"/>
              </a:rPr>
              <a:t/>
            </a:r>
            <a:br>
              <a:rPr lang="vi-VN" sz="1600" dirty="0">
                <a:latin typeface="Arial" panose="020B0604020202020204" pitchFamily="34" charset="0"/>
                <a:cs typeface="Arial" panose="020B0604020202020204" pitchFamily="34" charset="0"/>
              </a:rPr>
            </a:br>
            <a:r>
              <a:rPr lang="vi-VN" sz="1600" b="1" dirty="0">
                <a:solidFill>
                  <a:srgbClr val="000000"/>
                </a:solidFill>
                <a:latin typeface="Arial" panose="020B0604020202020204" pitchFamily="34" charset="0"/>
                <a:cs typeface="Arial" panose="020B0604020202020204" pitchFamily="34" charset="0"/>
              </a:rPr>
              <a:t>B.</a:t>
            </a:r>
            <a:r>
              <a:rPr lang="vi-VN" sz="1600" dirty="0">
                <a:solidFill>
                  <a:srgbClr val="000000"/>
                </a:solidFill>
                <a:latin typeface="Arial" panose="020B0604020202020204" pitchFamily="34" charset="0"/>
                <a:cs typeface="Arial" panose="020B0604020202020204" pitchFamily="34" charset="0"/>
              </a:rPr>
              <a:t> Điều trị UNC0642 làm giảm mạnh các dấu ấn epigenetic H3K9me2, H3K27me3, H3K36me2 và giảm rõ mức G9a – enzyme methyltransferase tạo H3K9me2, chứng tỏ thuốc ức chế G9a hiệu quả.</a:t>
            </a:r>
            <a:r>
              <a:rPr lang="vi-VN" sz="1600" dirty="0">
                <a:latin typeface="Arial" panose="020B0604020202020204" pitchFamily="34" charset="0"/>
                <a:cs typeface="Arial" panose="020B0604020202020204" pitchFamily="34" charset="0"/>
              </a:rPr>
              <a:t/>
            </a:r>
            <a:br>
              <a:rPr lang="vi-VN" sz="1600" dirty="0">
                <a:latin typeface="Arial" panose="020B0604020202020204" pitchFamily="34" charset="0"/>
                <a:cs typeface="Arial" panose="020B0604020202020204" pitchFamily="34" charset="0"/>
              </a:rPr>
            </a:br>
            <a:r>
              <a:rPr lang="vi-VN" sz="1600" b="1" dirty="0">
                <a:solidFill>
                  <a:srgbClr val="000000"/>
                </a:solidFill>
                <a:latin typeface="Arial" panose="020B0604020202020204" pitchFamily="34" charset="0"/>
                <a:cs typeface="Arial" panose="020B0604020202020204" pitchFamily="34" charset="0"/>
              </a:rPr>
              <a:t>C.</a:t>
            </a:r>
            <a:r>
              <a:rPr lang="vi-VN" sz="1600" dirty="0">
                <a:solidFill>
                  <a:srgbClr val="000000"/>
                </a:solidFill>
                <a:latin typeface="Arial" panose="020B0604020202020204" pitchFamily="34" charset="0"/>
                <a:cs typeface="Arial" panose="020B0604020202020204" pitchFamily="34" charset="0"/>
              </a:rPr>
              <a:t> Western blot xác nhận UNC0642 làm giảm các protein epigenetic (H3K9me2, H3K27me3…) ở cả hai dòng Claudin-low và Basal-like TNBC, gợi ý đây là mục tiêu điều trị tiềm năng.</a:t>
            </a:r>
            <a:r>
              <a:rPr lang="vi-VN" sz="1600" dirty="0">
                <a:latin typeface="Arial" panose="020B0604020202020204" pitchFamily="34" charset="0"/>
                <a:cs typeface="Arial" panose="020B0604020202020204" pitchFamily="34" charset="0"/>
              </a:rPr>
              <a:t/>
            </a:r>
            <a:br>
              <a:rPr lang="vi-VN" sz="1600" dirty="0">
                <a:latin typeface="Arial" panose="020B0604020202020204" pitchFamily="34" charset="0"/>
                <a:cs typeface="Arial" panose="020B0604020202020204" pitchFamily="34" charset="0"/>
              </a:rPr>
            </a:br>
            <a:r>
              <a:rPr lang="vi-VN" sz="1600" b="1" dirty="0">
                <a:solidFill>
                  <a:srgbClr val="000000"/>
                </a:solidFill>
                <a:latin typeface="Arial" panose="020B0604020202020204" pitchFamily="34" charset="0"/>
                <a:cs typeface="Arial" panose="020B0604020202020204" pitchFamily="34" charset="0"/>
              </a:rPr>
              <a:t>D.</a:t>
            </a:r>
            <a:r>
              <a:rPr lang="vi-VN" sz="1600" dirty="0">
                <a:solidFill>
                  <a:srgbClr val="000000"/>
                </a:solidFill>
                <a:latin typeface="Arial" panose="020B0604020202020204" pitchFamily="34" charset="0"/>
                <a:cs typeface="Arial" panose="020B0604020202020204" pitchFamily="34" charset="0"/>
              </a:rPr>
              <a:t> UNC0642 ức chế rõ rệt sự tăng sinh theo thời gian ở cả ba dòng tế bào, đặc biệt hiệu quả trên Basal-like TNBC – thể ung thư vú khó điều trị.</a:t>
            </a:r>
            <a:endParaRPr lang="x-none"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00107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1FE59763-6975-D128-0CAE-06722F5F8730}"/>
              </a:ext>
            </a:extLst>
          </p:cNvPr>
          <p:cNvGraphicFramePr>
            <a:graphicFrameLocks noGrp="1"/>
          </p:cNvGraphicFramePr>
          <p:nvPr>
            <p:extLst>
              <p:ext uri="{D42A27DB-BD31-4B8C-83A1-F6EECF244321}">
                <p14:modId xmlns:p14="http://schemas.microsoft.com/office/powerpoint/2010/main" val="3195429773"/>
              </p:ext>
            </p:extLst>
          </p:nvPr>
        </p:nvGraphicFramePr>
        <p:xfrm>
          <a:off x="0" y="125446"/>
          <a:ext cx="2401384" cy="6189957"/>
        </p:xfrm>
        <a:graphic>
          <a:graphicData uri="http://schemas.openxmlformats.org/drawingml/2006/table">
            <a:tbl>
              <a:tblPr>
                <a:tableStyleId>{5C22544A-7EE6-4342-B048-85BDC9FD1C3A}</a:tableStyleId>
              </a:tblPr>
              <a:tblGrid>
                <a:gridCol w="498221">
                  <a:extLst>
                    <a:ext uri="{9D8B030D-6E8A-4147-A177-3AD203B41FA5}">
                      <a16:colId xmlns:a16="http://schemas.microsoft.com/office/drawing/2014/main" xmlns="" val="1794832748"/>
                    </a:ext>
                  </a:extLst>
                </a:gridCol>
                <a:gridCol w="404684">
                  <a:extLst>
                    <a:ext uri="{9D8B030D-6E8A-4147-A177-3AD203B41FA5}">
                      <a16:colId xmlns:a16="http://schemas.microsoft.com/office/drawing/2014/main" xmlns="" val="3572972204"/>
                    </a:ext>
                  </a:extLst>
                </a:gridCol>
                <a:gridCol w="748285">
                  <a:extLst>
                    <a:ext uri="{9D8B030D-6E8A-4147-A177-3AD203B41FA5}">
                      <a16:colId xmlns:a16="http://schemas.microsoft.com/office/drawing/2014/main" xmlns="" val="3653045073"/>
                    </a:ext>
                  </a:extLst>
                </a:gridCol>
                <a:gridCol w="750194">
                  <a:extLst>
                    <a:ext uri="{9D8B030D-6E8A-4147-A177-3AD203B41FA5}">
                      <a16:colId xmlns:a16="http://schemas.microsoft.com/office/drawing/2014/main" xmlns="" val="3613212715"/>
                    </a:ext>
                  </a:extLst>
                </a:gridCol>
              </a:tblGrid>
              <a:tr h="212596">
                <a:tc>
                  <a:txBody>
                    <a:bodyPr/>
                    <a:lstStyle/>
                    <a:p>
                      <a:pPr algn="ctr" fontAlgn="ctr"/>
                      <a:r>
                        <a:rPr lang="en-US" sz="1000" u="none" strike="noStrike" dirty="0">
                          <a:effectLst/>
                          <a:latin typeface="Arial" panose="020B0604020202020204" pitchFamily="34" charset="0"/>
                          <a:cs typeface="Arial" panose="020B0604020202020204" pitchFamily="34" charset="0"/>
                        </a:rPr>
                        <a:t>Cell line</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Time</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UNC0642 (µM)</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Cell viability (% of control)</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45908654"/>
                  </a:ext>
                </a:extLst>
              </a:tr>
              <a:tr h="106298">
                <a:tc rowSpan="12">
                  <a:txBody>
                    <a:bodyPr/>
                    <a:lstStyle/>
                    <a:p>
                      <a:pPr algn="ctr" fontAlgn="ctr"/>
                      <a:r>
                        <a:rPr lang="en-US" sz="1000" u="none" strike="noStrike" dirty="0">
                          <a:effectLst/>
                          <a:latin typeface="Arial" panose="020B0604020202020204" pitchFamily="34" charset="0"/>
                          <a:cs typeface="Arial" panose="020B0604020202020204" pitchFamily="34" charset="0"/>
                        </a:rPr>
                        <a:t>Luminal A</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pPr algn="ctr" fontAlgn="ctr"/>
                      <a:r>
                        <a:rPr lang="en-US" sz="1000" u="none" strike="noStrike">
                          <a:effectLst/>
                          <a:latin typeface="Arial" panose="020B0604020202020204" pitchFamily="34" charset="0"/>
                          <a:cs typeface="Arial" panose="020B0604020202020204" pitchFamily="34" charset="0"/>
                        </a:rPr>
                        <a:t>24h</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75789909"/>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1</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47715081"/>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01721031"/>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~70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2991801"/>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~55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61187203"/>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16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18756359"/>
                  </a:ext>
                </a:extLst>
              </a:tr>
              <a:tr h="106298">
                <a:tc vMerge="1">
                  <a:txBody>
                    <a:bodyPr/>
                    <a:lstStyle/>
                    <a:p>
                      <a:endParaRPr lang="x-none"/>
                    </a:p>
                  </a:txBody>
                  <a:tcPr/>
                </a:tc>
                <a:tc rowSpan="6">
                  <a:txBody>
                    <a:bodyPr/>
                    <a:lstStyle/>
                    <a:p>
                      <a:pPr algn="ctr" fontAlgn="ctr"/>
                      <a:r>
                        <a:rPr lang="en-US" sz="1000" u="none" strike="noStrike">
                          <a:effectLst/>
                          <a:latin typeface="Arial" panose="020B0604020202020204" pitchFamily="34" charset="0"/>
                          <a:cs typeface="Arial" panose="020B0604020202020204" pitchFamily="34" charset="0"/>
                        </a:rPr>
                        <a:t>48h</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44673830"/>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1</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72266980"/>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60073977"/>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62668236"/>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59118732"/>
                  </a:ext>
                </a:extLst>
              </a:tr>
              <a:tr h="106298">
                <a:tc vMerge="1">
                  <a:txBody>
                    <a:bodyPr/>
                    <a:lstStyle/>
                    <a:p>
                      <a:endParaRPr lang="x-none"/>
                    </a:p>
                  </a:txBody>
                  <a:tcPr/>
                </a:tc>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16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~30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1216341"/>
                  </a:ext>
                </a:extLst>
              </a:tr>
              <a:tr h="212596">
                <a:tc rowSpan="12">
                  <a:txBody>
                    <a:bodyPr/>
                    <a:lstStyle/>
                    <a:p>
                      <a:pPr algn="ctr" fontAlgn="ctr"/>
                      <a:r>
                        <a:rPr lang="en-US" sz="1000" u="none" strike="noStrike" dirty="0" err="1">
                          <a:effectLst/>
                          <a:latin typeface="Arial" panose="020B0604020202020204" pitchFamily="34" charset="0"/>
                          <a:cs typeface="Arial" panose="020B0604020202020204" pitchFamily="34" charset="0"/>
                        </a:rPr>
                        <a:t>Claudin</a:t>
                      </a:r>
                      <a:r>
                        <a:rPr lang="en-US" sz="1000" u="none" strike="noStrike" dirty="0">
                          <a:effectLst/>
                          <a:latin typeface="Arial" panose="020B0604020202020204" pitchFamily="34" charset="0"/>
                          <a:cs typeface="Arial" panose="020B0604020202020204" pitchFamily="34" charset="0"/>
                        </a:rPr>
                        <a:t>-low TNBC</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24h</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47623419"/>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96500475"/>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20009002"/>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2416754"/>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84273960"/>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~75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7225094"/>
                  </a:ext>
                </a:extLst>
              </a:tr>
              <a:tr h="106298">
                <a:tc vMerge="1">
                  <a:txBody>
                    <a:bodyPr/>
                    <a:lstStyle/>
                    <a:p>
                      <a:endParaRPr lang="x-none"/>
                    </a:p>
                  </a:txBody>
                  <a:tcPr/>
                </a:tc>
                <a:tc>
                  <a:txBody>
                    <a:bodyPr/>
                    <a:lstStyle/>
                    <a:p>
                      <a:pPr algn="ctr" fontAlgn="ctr"/>
                      <a:r>
                        <a:rPr lang="en-US" sz="1000" u="none" strike="noStrike">
                          <a:effectLst/>
                          <a:latin typeface="Arial" panose="020B0604020202020204" pitchFamily="34" charset="0"/>
                          <a:cs typeface="Arial" panose="020B0604020202020204" pitchFamily="34" charset="0"/>
                        </a:rPr>
                        <a:t>48h</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04843426"/>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33448386"/>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91930029"/>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92374421"/>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~75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40034910"/>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78871278"/>
                  </a:ext>
                </a:extLst>
              </a:tr>
              <a:tr h="212596">
                <a:tc rowSpan="12">
                  <a:txBody>
                    <a:bodyPr/>
                    <a:lstStyle/>
                    <a:p>
                      <a:pPr algn="ctr" fontAlgn="ctr"/>
                      <a:r>
                        <a:rPr lang="en-US" sz="1000" u="none" strike="noStrike">
                          <a:effectLst/>
                          <a:latin typeface="Arial" panose="020B0604020202020204" pitchFamily="34" charset="0"/>
                          <a:cs typeface="Arial" panose="020B0604020202020204" pitchFamily="34" charset="0"/>
                        </a:rPr>
                        <a:t>Basal-like TNBC</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24h</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56932773"/>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~90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34684750"/>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30024420"/>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~70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11269726"/>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667128"/>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96475291"/>
                  </a:ext>
                </a:extLst>
              </a:tr>
              <a:tr h="106298">
                <a:tc vMerge="1">
                  <a:txBody>
                    <a:bodyPr/>
                    <a:lstStyle/>
                    <a:p>
                      <a:endParaRPr lang="x-none"/>
                    </a:p>
                  </a:txBody>
                  <a:tcPr/>
                </a:tc>
                <a:tc>
                  <a:txBody>
                    <a:bodyPr/>
                    <a:lstStyle/>
                    <a:p>
                      <a:pPr algn="ctr" fontAlgn="ctr"/>
                      <a:r>
                        <a:rPr lang="en-US" sz="1000" u="none" strike="noStrike">
                          <a:effectLst/>
                          <a:latin typeface="Arial" panose="020B0604020202020204" pitchFamily="34" charset="0"/>
                          <a:cs typeface="Arial" panose="020B0604020202020204" pitchFamily="34" charset="0"/>
                        </a:rPr>
                        <a:t>48h</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17207646"/>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64932629"/>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~70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1364097"/>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98878257"/>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63132537"/>
                  </a:ext>
                </a:extLst>
              </a:tr>
              <a:tr h="106298">
                <a:tc vMerge="1">
                  <a:txBody>
                    <a:bodyPr/>
                    <a:lstStyle/>
                    <a:p>
                      <a:endParaRPr lang="x-none"/>
                    </a:p>
                  </a:txBody>
                  <a:tcPr/>
                </a:tc>
                <a:tc>
                  <a:txBody>
                    <a:bodyPr/>
                    <a:lstStyle/>
                    <a:p>
                      <a:pPr algn="ctr" fontAlgn="ctr"/>
                      <a:r>
                        <a:rPr lang="x-none" sz="1000" u="none" strike="noStrike">
                          <a:effectLst/>
                          <a:latin typeface="Arial" panose="020B0604020202020204" pitchFamily="34" charset="0"/>
                          <a:cs typeface="Arial" panose="020B0604020202020204" pitchFamily="34" charset="0"/>
                        </a:rPr>
                        <a:t> </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dirty="0">
                          <a:effectLst/>
                          <a:latin typeface="Arial" panose="020B0604020202020204" pitchFamily="34" charset="0"/>
                          <a:cs typeface="Arial" panose="020B0604020202020204" pitchFamily="34" charset="0"/>
                        </a:rPr>
                        <a:t>~30</a:t>
                      </a:r>
                      <a:endParaRPr lang="x-none" sz="1000" b="0" i="0" u="none" strike="noStrike" dirty="0">
                        <a:solidFill>
                          <a:srgbClr val="000000"/>
                        </a:solidFill>
                        <a:effectLst/>
                        <a:latin typeface="Arial" panose="020B0604020202020204" pitchFamily="34" charset="0"/>
                        <a:cs typeface="Arial" panose="020B0604020202020204" pitchFamily="34" charset="0"/>
                      </a:endParaRPr>
                    </a:p>
                  </a:txBody>
                  <a:tcPr marL="3599" marR="3599" marT="35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71090010"/>
                  </a:ext>
                </a:extLst>
              </a:tr>
            </a:tbl>
          </a:graphicData>
        </a:graphic>
      </p:graphicFrame>
      <p:sp>
        <p:nvSpPr>
          <p:cNvPr id="7" name="TextBox 6">
            <a:extLst>
              <a:ext uri="{FF2B5EF4-FFF2-40B4-BE49-F238E27FC236}">
                <a16:creationId xmlns:a16="http://schemas.microsoft.com/office/drawing/2014/main" xmlns="" id="{F490D2F8-B17B-C663-984D-7F00B25EAF62}"/>
              </a:ext>
            </a:extLst>
          </p:cNvPr>
          <p:cNvSpPr txBox="1"/>
          <p:nvPr/>
        </p:nvSpPr>
        <p:spPr>
          <a:xfrm>
            <a:off x="2401380" y="240305"/>
            <a:ext cx="7062107" cy="4870564"/>
          </a:xfrm>
          <a:prstGeom prst="rect">
            <a:avLst/>
          </a:prstGeom>
          <a:noFill/>
        </p:spPr>
        <p:txBody>
          <a:bodyPr wrap="square">
            <a:spAutoFit/>
          </a:bodyPr>
          <a:lstStyle/>
          <a:p>
            <a:r>
              <a:rPr lang="x-none" sz="1350" dirty="0">
                <a:latin typeface="Arial" panose="020B0604020202020204" pitchFamily="34" charset="0"/>
                <a:cs typeface="Arial" panose="020B0604020202020204" pitchFamily="34" charset="0"/>
              </a:rPr>
              <a:t># File: figure_6A.R</a:t>
            </a:r>
          </a:p>
          <a:p>
            <a:r>
              <a:rPr lang="x-none" sz="1350" dirty="0">
                <a:latin typeface="Arial" panose="020B0604020202020204" pitchFamily="34" charset="0"/>
                <a:cs typeface="Arial" panose="020B0604020202020204" pitchFamily="34" charset="0"/>
              </a:rPr>
              <a:t># Mục đích: Tạo biểu đồ cột cho khả năng sống tế bào (CCK-8 assay)</a:t>
            </a:r>
          </a:p>
          <a:p>
            <a:r>
              <a:rPr lang="x-none" sz="1350" dirty="0">
                <a:latin typeface="Arial" panose="020B0604020202020204" pitchFamily="34" charset="0"/>
                <a:cs typeface="Arial" panose="020B0604020202020204" pitchFamily="34" charset="0"/>
              </a:rPr>
              <a:t># 1. Cài đặt và tải gói</a:t>
            </a:r>
          </a:p>
          <a:p>
            <a:r>
              <a:rPr lang="x-none" sz="1350" dirty="0">
                <a:latin typeface="Arial" panose="020B0604020202020204" pitchFamily="34" charset="0"/>
                <a:cs typeface="Arial" panose="020B0604020202020204" pitchFamily="34" charset="0"/>
              </a:rPr>
              <a:t>if (!require("ggplot2")) install.packages("ggplot2")</a:t>
            </a:r>
          </a:p>
          <a:p>
            <a:r>
              <a:rPr lang="x-none" sz="1350" dirty="0">
                <a:latin typeface="Arial" panose="020B0604020202020204" pitchFamily="34" charset="0"/>
                <a:cs typeface="Arial" panose="020B0604020202020204" pitchFamily="34" charset="0"/>
              </a:rPr>
              <a:t>library(ggplot2)</a:t>
            </a:r>
          </a:p>
          <a:p>
            <a:r>
              <a:rPr lang="x-none" sz="1350" dirty="0">
                <a:latin typeface="Arial" panose="020B0604020202020204" pitchFamily="34" charset="0"/>
                <a:cs typeface="Arial" panose="020B0604020202020204" pitchFamily="34" charset="0"/>
              </a:rPr>
              <a:t># 2. Kiểm tra thư mục làm việc</a:t>
            </a:r>
          </a:p>
          <a:p>
            <a:r>
              <a:rPr lang="x-none" sz="1350" dirty="0">
                <a:latin typeface="Arial" panose="020B0604020202020204" pitchFamily="34" charset="0"/>
                <a:cs typeface="Arial" panose="020B0604020202020204" pitchFamily="34" charset="0"/>
              </a:rPr>
              <a:t>cat("Thư mục làm việc hiện tại:", getwd(), "\n")</a:t>
            </a:r>
            <a:endParaRPr lang="en-US" sz="1350" dirty="0">
              <a:latin typeface="Arial" panose="020B0604020202020204" pitchFamily="34" charset="0"/>
              <a:cs typeface="Arial" panose="020B0604020202020204" pitchFamily="34" charset="0"/>
            </a:endParaRPr>
          </a:p>
          <a:p>
            <a:r>
              <a:rPr lang="en-US" sz="1350" dirty="0">
                <a:latin typeface="Arial" panose="020B0604020202020204" pitchFamily="34" charset="0"/>
                <a:cs typeface="Arial" panose="020B0604020202020204" pitchFamily="34" charset="0"/>
              </a:rPr>
              <a:t># 3. </a:t>
            </a:r>
            <a:r>
              <a:rPr lang="en-US" sz="1350" dirty="0" err="1">
                <a:latin typeface="Arial" panose="020B0604020202020204" pitchFamily="34" charset="0"/>
                <a:cs typeface="Arial" panose="020B0604020202020204" pitchFamily="34" charset="0"/>
              </a:rPr>
              <a:t>Tạo</a:t>
            </a:r>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dữ</a:t>
            </a:r>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liệu</a:t>
            </a:r>
            <a:endParaRPr lang="en-US" sz="1350" dirty="0">
              <a:latin typeface="Arial" panose="020B0604020202020204" pitchFamily="34" charset="0"/>
              <a:cs typeface="Arial" panose="020B0604020202020204" pitchFamily="34" charset="0"/>
            </a:endParaRPr>
          </a:p>
          <a:p>
            <a:r>
              <a:rPr lang="en-US" sz="1350" dirty="0">
                <a:latin typeface="Arial" panose="020B0604020202020204" pitchFamily="34" charset="0"/>
                <a:cs typeface="Arial" panose="020B0604020202020204" pitchFamily="34" charset="0"/>
              </a:rPr>
              <a:t>data &lt;- </a:t>
            </a:r>
            <a:r>
              <a:rPr lang="en-US" sz="1350" dirty="0" err="1">
                <a:latin typeface="Arial" panose="020B0604020202020204" pitchFamily="34" charset="0"/>
                <a:cs typeface="Arial" panose="020B0604020202020204" pitchFamily="34" charset="0"/>
              </a:rPr>
              <a:t>data.frame</a:t>
            </a:r>
            <a:r>
              <a:rPr lang="en-US" sz="1350" dirty="0">
                <a:latin typeface="Arial" panose="020B0604020202020204" pitchFamily="34" charset="0"/>
                <a:cs typeface="Arial" panose="020B0604020202020204" pitchFamily="34" charset="0"/>
              </a:rPr>
              <a:t>(</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Cell_line</a:t>
            </a:r>
            <a:r>
              <a:rPr lang="en-US" sz="1350" dirty="0">
                <a:latin typeface="Arial" panose="020B0604020202020204" pitchFamily="34" charset="0"/>
                <a:cs typeface="Arial" panose="020B0604020202020204" pitchFamily="34" charset="0"/>
              </a:rPr>
              <a:t> = rep(c("Luminal A", "Luminal A", "Claudin-low TNBC", "Claudin-low TNBC", "Basal-like TNBC", "Basal-like TNBC"), each = 6),</a:t>
            </a:r>
          </a:p>
          <a:p>
            <a:r>
              <a:rPr lang="en-US" sz="1350" dirty="0">
                <a:latin typeface="Arial" panose="020B0604020202020204" pitchFamily="34" charset="0"/>
                <a:cs typeface="Arial" panose="020B0604020202020204" pitchFamily="34" charset="0"/>
              </a:rPr>
              <a:t>  Time = rep(c("24h", "48h", "24h", "48h", "24h", "48h"), each = 6),</a:t>
            </a:r>
          </a:p>
          <a:p>
            <a:r>
              <a:rPr lang="en-US" sz="1350" dirty="0">
                <a:latin typeface="Arial" panose="020B0604020202020204" pitchFamily="34" charset="0"/>
                <a:cs typeface="Arial" panose="020B0604020202020204" pitchFamily="34" charset="0"/>
              </a:rPr>
              <a:t>  UNC0642_uM = rep(c(0, 1, 2, 4, 8, 16), 6),</a:t>
            </a:r>
          </a:p>
          <a:p>
            <a:r>
              <a:rPr lang="en-US" sz="1350" dirty="0">
                <a:latin typeface="Arial" panose="020B0604020202020204" pitchFamily="34" charset="0"/>
                <a:cs typeface="Arial" panose="020B0604020202020204" pitchFamily="34" charset="0"/>
              </a:rPr>
              <a:t>  </a:t>
            </a:r>
            <a:r>
              <a:rPr lang="en-US" sz="1350" dirty="0" err="1">
                <a:latin typeface="Arial" panose="020B0604020202020204" pitchFamily="34" charset="0"/>
                <a:cs typeface="Arial" panose="020B0604020202020204" pitchFamily="34" charset="0"/>
              </a:rPr>
              <a:t>Cell_viability</a:t>
            </a:r>
            <a:r>
              <a:rPr lang="en-US" sz="1350" dirty="0">
                <a:latin typeface="Arial" panose="020B0604020202020204" pitchFamily="34" charset="0"/>
                <a:cs typeface="Arial" panose="020B0604020202020204" pitchFamily="34" charset="0"/>
              </a:rPr>
              <a:t> = c(</a:t>
            </a:r>
          </a:p>
          <a:p>
            <a:r>
              <a:rPr lang="en-US" sz="1350" dirty="0">
                <a:latin typeface="Arial" panose="020B0604020202020204" pitchFamily="34" charset="0"/>
                <a:cs typeface="Arial" panose="020B0604020202020204" pitchFamily="34" charset="0"/>
              </a:rPr>
              <a:t>    100, 95, 85, 70, 55, 45,  # Luminal A 24h</a:t>
            </a:r>
          </a:p>
          <a:p>
            <a:r>
              <a:rPr lang="en-US" sz="1350" dirty="0">
                <a:latin typeface="Arial" panose="020B0604020202020204" pitchFamily="34" charset="0"/>
                <a:cs typeface="Arial" panose="020B0604020202020204" pitchFamily="34" charset="0"/>
              </a:rPr>
              <a:t>    100, 90, 80, 65, 40, 30,  # Luminal A 48h</a:t>
            </a:r>
          </a:p>
          <a:p>
            <a:r>
              <a:rPr lang="en-US" sz="1350" dirty="0">
                <a:latin typeface="Arial" panose="020B0604020202020204" pitchFamily="34" charset="0"/>
                <a:cs typeface="Arial" panose="020B0604020202020204" pitchFamily="34" charset="0"/>
              </a:rPr>
              <a:t>    100, 98, 95, 90, 80, 75,  # Claudin-low TNBC 24h</a:t>
            </a:r>
          </a:p>
          <a:p>
            <a:r>
              <a:rPr lang="en-US" sz="1350" dirty="0">
                <a:latin typeface="Arial" panose="020B0604020202020204" pitchFamily="34" charset="0"/>
                <a:cs typeface="Arial" panose="020B0604020202020204" pitchFamily="34" charset="0"/>
              </a:rPr>
              <a:t>    100, 96, 90, 85, 75, 60,  # Claudin-low TNBC 48h</a:t>
            </a:r>
          </a:p>
          <a:p>
            <a:r>
              <a:rPr lang="en-US" sz="1350" dirty="0">
                <a:latin typeface="Arial" panose="020B0604020202020204" pitchFamily="34" charset="0"/>
                <a:cs typeface="Arial" panose="020B0604020202020204" pitchFamily="34" charset="0"/>
              </a:rPr>
              <a:t>    100, 90, 80, 70, 60, 45,  # Basal-like TNBC 24h</a:t>
            </a:r>
          </a:p>
          <a:p>
            <a:r>
              <a:rPr lang="en-US" sz="1350" dirty="0">
                <a:latin typeface="Arial" panose="020B0604020202020204" pitchFamily="34" charset="0"/>
                <a:cs typeface="Arial" panose="020B0604020202020204" pitchFamily="34" charset="0"/>
              </a:rPr>
              <a:t>    100, 85, 70, 60, 45, 30   # Basal-like TNBC 48h</a:t>
            </a:r>
          </a:p>
          <a:p>
            <a:r>
              <a:rPr lang="en-US" sz="1350" dirty="0">
                <a:latin typeface="Arial" panose="020B0604020202020204" pitchFamily="34" charset="0"/>
                <a:cs typeface="Arial" panose="020B0604020202020204" pitchFamily="34" charset="0"/>
              </a:rPr>
              <a:t>  )</a:t>
            </a:r>
          </a:p>
          <a:p>
            <a:r>
              <a:rPr lang="en-US" sz="1350" dirty="0">
                <a:latin typeface="Arial" panose="020B0604020202020204" pitchFamily="34" charset="0"/>
                <a:cs typeface="Arial" panose="020B0604020202020204" pitchFamily="34" charset="0"/>
              </a:rPr>
              <a:t>)</a:t>
            </a:r>
          </a:p>
          <a:p>
            <a:endParaRPr lang="x-none" sz="1350" dirty="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xmlns="" id="{B0591D1F-477E-95B6-0EC6-B334E436798F}"/>
              </a:ext>
            </a:extLst>
          </p:cNvPr>
          <p:cNvGraphicFramePr>
            <a:graphicFrameLocks noGrp="1"/>
          </p:cNvGraphicFramePr>
          <p:nvPr>
            <p:extLst>
              <p:ext uri="{D42A27DB-BD31-4B8C-83A1-F6EECF244321}">
                <p14:modId xmlns:p14="http://schemas.microsoft.com/office/powerpoint/2010/main" val="3411973472"/>
              </p:ext>
            </p:extLst>
          </p:nvPr>
        </p:nvGraphicFramePr>
        <p:xfrm>
          <a:off x="5428217" y="4574856"/>
          <a:ext cx="3286125" cy="2283144"/>
        </p:xfrm>
        <a:graphic>
          <a:graphicData uri="http://schemas.openxmlformats.org/drawingml/2006/table">
            <a:tbl>
              <a:tblPr>
                <a:tableStyleId>{5C22544A-7EE6-4342-B048-85BDC9FD1C3A}</a:tableStyleId>
              </a:tblPr>
              <a:tblGrid>
                <a:gridCol w="1028700">
                  <a:extLst>
                    <a:ext uri="{9D8B030D-6E8A-4147-A177-3AD203B41FA5}">
                      <a16:colId xmlns:a16="http://schemas.microsoft.com/office/drawing/2014/main" xmlns="" val="965309415"/>
                    </a:ext>
                  </a:extLst>
                </a:gridCol>
                <a:gridCol w="2257425">
                  <a:extLst>
                    <a:ext uri="{9D8B030D-6E8A-4147-A177-3AD203B41FA5}">
                      <a16:colId xmlns:a16="http://schemas.microsoft.com/office/drawing/2014/main" xmlns="" val="733959482"/>
                    </a:ext>
                  </a:extLst>
                </a:gridCol>
              </a:tblGrid>
              <a:tr h="161925">
                <a:tc>
                  <a:txBody>
                    <a:bodyPr/>
                    <a:lstStyle/>
                    <a:p>
                      <a:pPr algn="ctr" fontAlgn="ctr"/>
                      <a:r>
                        <a:rPr lang="en-US" sz="1050" u="none" strike="noStrike" dirty="0" err="1">
                          <a:effectLst/>
                          <a:latin typeface="Arial" panose="020B0604020202020204" pitchFamily="34" charset="0"/>
                          <a:cs typeface="Arial" panose="020B0604020202020204" pitchFamily="34" charset="0"/>
                        </a:rPr>
                        <a:t>Dòng</a:t>
                      </a:r>
                      <a:r>
                        <a:rPr lang="en-US" sz="1050" u="none" strike="noStrike" dirty="0">
                          <a:effectLst/>
                          <a:latin typeface="Arial" panose="020B0604020202020204" pitchFamily="34" charset="0"/>
                          <a:cs typeface="Arial" panose="020B0604020202020204" pitchFamily="34" charset="0"/>
                        </a:rPr>
                        <a:t> code</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Arial" panose="020B0604020202020204" pitchFamily="34" charset="0"/>
                          <a:cs typeface="Arial" panose="020B0604020202020204" pitchFamily="34" charset="0"/>
                        </a:rPr>
                        <a:t>Ý nghĩa</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05642288"/>
                  </a:ext>
                </a:extLst>
              </a:tr>
              <a:tr h="342900">
                <a:tc>
                  <a:txBody>
                    <a:bodyPr/>
                    <a:lstStyle/>
                    <a:p>
                      <a:pPr algn="ctr" fontAlgn="ctr"/>
                      <a:r>
                        <a:rPr lang="en-US" sz="1050" u="none" strike="noStrike">
                          <a:effectLst/>
                          <a:latin typeface="Arial" panose="020B0604020202020204" pitchFamily="34" charset="0"/>
                          <a:cs typeface="Arial" panose="020B0604020202020204" pitchFamily="34" charset="0"/>
                        </a:rPr>
                        <a:t>data &lt;- data.frame(...)</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err="1">
                          <a:effectLst/>
                          <a:latin typeface="Arial" panose="020B0604020202020204" pitchFamily="34" charset="0"/>
                          <a:cs typeface="Arial" panose="020B0604020202020204" pitchFamily="34" charset="0"/>
                        </a:rPr>
                        <a:t>Tạo</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một</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bảng</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dữ</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liệu</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tên</a:t>
                      </a:r>
                      <a:r>
                        <a:rPr lang="en-US" sz="1050" u="none" strike="noStrike" dirty="0">
                          <a:effectLst/>
                          <a:latin typeface="Arial" panose="020B0604020202020204" pitchFamily="34" charset="0"/>
                          <a:cs typeface="Arial" panose="020B0604020202020204" pitchFamily="34" charset="0"/>
                        </a:rPr>
                        <a:t> data </a:t>
                      </a:r>
                      <a:r>
                        <a:rPr lang="en-US" sz="1050" u="none" strike="noStrike" dirty="0" err="1">
                          <a:effectLst/>
                          <a:latin typeface="Arial" panose="020B0604020202020204" pitchFamily="34" charset="0"/>
                          <a:cs typeface="Arial" panose="020B0604020202020204" pitchFamily="34" charset="0"/>
                        </a:rPr>
                        <a:t>gồm</a:t>
                      </a:r>
                      <a:r>
                        <a:rPr lang="en-US" sz="1050" u="none" strike="noStrike" dirty="0">
                          <a:effectLst/>
                          <a:latin typeface="Arial" panose="020B0604020202020204" pitchFamily="34" charset="0"/>
                          <a:cs typeface="Arial" panose="020B0604020202020204" pitchFamily="34" charset="0"/>
                        </a:rPr>
                        <a:t> 4 </a:t>
                      </a:r>
                      <a:r>
                        <a:rPr lang="en-US" sz="1050" u="none" strike="noStrike" dirty="0" err="1">
                          <a:effectLst/>
                          <a:latin typeface="Arial" panose="020B0604020202020204" pitchFamily="34" charset="0"/>
                          <a:cs typeface="Arial" panose="020B0604020202020204" pitchFamily="34" charset="0"/>
                        </a:rPr>
                        <a:t>cột</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Cell_line</a:t>
                      </a:r>
                      <a:r>
                        <a:rPr lang="en-US" sz="1050" u="none" strike="noStrike" dirty="0">
                          <a:effectLst/>
                          <a:latin typeface="Arial" panose="020B0604020202020204" pitchFamily="34" charset="0"/>
                          <a:cs typeface="Arial" panose="020B0604020202020204" pitchFamily="34" charset="0"/>
                        </a:rPr>
                        <a:t>, Time, UNC0642_uM, </a:t>
                      </a:r>
                      <a:r>
                        <a:rPr lang="en-US" sz="1050" u="none" strike="noStrike" dirty="0" err="1">
                          <a:effectLst/>
                          <a:latin typeface="Arial" panose="020B0604020202020204" pitchFamily="34" charset="0"/>
                          <a:cs typeface="Arial" panose="020B0604020202020204" pitchFamily="34" charset="0"/>
                        </a:rPr>
                        <a:t>Cell_viability</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70144628"/>
                  </a:ext>
                </a:extLst>
              </a:tr>
              <a:tr h="323850">
                <a:tc>
                  <a:txBody>
                    <a:bodyPr/>
                    <a:lstStyle/>
                    <a:p>
                      <a:pPr algn="ctr" fontAlgn="ctr"/>
                      <a:r>
                        <a:rPr lang="en-US" sz="1050" u="none" strike="noStrike" dirty="0" err="1">
                          <a:effectLst/>
                          <a:latin typeface="Arial" panose="020B0604020202020204" pitchFamily="34" charset="0"/>
                          <a:cs typeface="Arial" panose="020B0604020202020204" pitchFamily="34" charset="0"/>
                        </a:rPr>
                        <a:t>Cell_line</a:t>
                      </a:r>
                      <a:r>
                        <a:rPr lang="en-US" sz="1050" u="none" strike="noStrike" dirty="0">
                          <a:effectLst/>
                          <a:latin typeface="Arial" panose="020B0604020202020204" pitchFamily="34" charset="0"/>
                          <a:cs typeface="Arial" panose="020B0604020202020204" pitchFamily="34" charset="0"/>
                        </a:rPr>
                        <a:t> = rep(...)</a:t>
                      </a:r>
                      <a:endParaRPr lang="en-US" sz="105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err="1">
                          <a:effectLst/>
                          <a:latin typeface="Arial" panose="020B0604020202020204" pitchFamily="34" charset="0"/>
                          <a:cs typeface="Arial" panose="020B0604020202020204" pitchFamily="34" charset="0"/>
                        </a:rPr>
                        <a:t>Lặp</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lại</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mỗi</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loại</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dòng</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tế</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bào</a:t>
                      </a:r>
                      <a:r>
                        <a:rPr lang="en-US" sz="1050" u="none" strike="noStrike" dirty="0">
                          <a:effectLst/>
                          <a:latin typeface="Arial" panose="020B0604020202020204" pitchFamily="34" charset="0"/>
                          <a:cs typeface="Arial" panose="020B0604020202020204" pitchFamily="34" charset="0"/>
                        </a:rPr>
                        <a:t> 6 </a:t>
                      </a:r>
                      <a:r>
                        <a:rPr lang="en-US" sz="1050" u="none" strike="noStrike" dirty="0" err="1">
                          <a:effectLst/>
                          <a:latin typeface="Arial" panose="020B0604020202020204" pitchFamily="34" charset="0"/>
                          <a:cs typeface="Arial" panose="020B0604020202020204" pitchFamily="34" charset="0"/>
                        </a:rPr>
                        <a:t>lần</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vì</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mỗi</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dòng</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có</a:t>
                      </a:r>
                      <a:r>
                        <a:rPr lang="en-US" sz="1050" u="none" strike="noStrike" dirty="0">
                          <a:effectLst/>
                          <a:latin typeface="Arial" panose="020B0604020202020204" pitchFamily="34" charset="0"/>
                          <a:cs typeface="Arial" panose="020B0604020202020204" pitchFamily="34" charset="0"/>
                        </a:rPr>
                        <a:t> 6 </a:t>
                      </a:r>
                      <a:r>
                        <a:rPr lang="en-US" sz="1050" u="none" strike="noStrike" dirty="0" err="1">
                          <a:effectLst/>
                          <a:latin typeface="Arial" panose="020B0604020202020204" pitchFamily="34" charset="0"/>
                          <a:cs typeface="Arial" panose="020B0604020202020204" pitchFamily="34" charset="0"/>
                        </a:rPr>
                        <a:t>nồng</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độ</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thuốc</a:t>
                      </a:r>
                      <a:r>
                        <a:rPr lang="en-US" sz="1050" u="none" strike="noStrike" dirty="0">
                          <a:effectLst/>
                          <a:latin typeface="Arial" panose="020B0604020202020204" pitchFamily="34" charset="0"/>
                          <a:cs typeface="Arial" panose="020B0604020202020204" pitchFamily="34" charset="0"/>
                        </a:rPr>
                        <a:t>)</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66168784"/>
                  </a:ext>
                </a:extLst>
              </a:tr>
              <a:tr h="323850">
                <a:tc>
                  <a:txBody>
                    <a:bodyPr/>
                    <a:lstStyle/>
                    <a:p>
                      <a:pPr algn="ctr" fontAlgn="ctr"/>
                      <a:r>
                        <a:rPr lang="en-US" sz="1050" u="none" strike="noStrike">
                          <a:effectLst/>
                          <a:latin typeface="Arial" panose="020B0604020202020204" pitchFamily="34" charset="0"/>
                          <a:cs typeface="Arial" panose="020B0604020202020204" pitchFamily="34" charset="0"/>
                        </a:rPr>
                        <a:t>Time = rep(...)</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50" u="none" strike="noStrike">
                          <a:effectLst/>
                          <a:latin typeface="Arial" panose="020B0604020202020204" pitchFamily="34" charset="0"/>
                          <a:cs typeface="Arial" panose="020B0604020202020204" pitchFamily="34" charset="0"/>
                        </a:rPr>
                        <a:t>Gán thời gian xử lý thuốc tương ứng với mỗi dòng tế bào, cũng lặp 6 lần</a:t>
                      </a:r>
                      <a:endParaRPr lang="vi-VN" sz="105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52694747"/>
                  </a:ext>
                </a:extLst>
              </a:tr>
              <a:tr h="485775">
                <a:tc>
                  <a:txBody>
                    <a:bodyPr/>
                    <a:lstStyle/>
                    <a:p>
                      <a:pPr algn="ctr" fontAlgn="ctr"/>
                      <a:r>
                        <a:rPr lang="en-US" sz="1050" u="none" strike="noStrike" dirty="0">
                          <a:effectLst/>
                          <a:latin typeface="Arial" panose="020B0604020202020204" pitchFamily="34" charset="0"/>
                          <a:cs typeface="Arial" panose="020B0604020202020204" pitchFamily="34" charset="0"/>
                        </a:rPr>
                        <a:t>UNC0642_uM = rep(...)</a:t>
                      </a:r>
                      <a:endParaRPr lang="en-US" sz="105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Arial" panose="020B0604020202020204" pitchFamily="34" charset="0"/>
                          <a:cs typeface="Arial" panose="020B0604020202020204" pitchFamily="34" charset="0"/>
                        </a:rPr>
                        <a:t>Gán nồng độ thuốc: 0, 1, 2, 4, 8, 16 </a:t>
                      </a:r>
                      <a:r>
                        <a:rPr lang="el-GR" sz="1050" u="none" strike="noStrike">
                          <a:effectLst/>
                          <a:latin typeface="Arial" panose="020B0604020202020204" pitchFamily="34" charset="0"/>
                          <a:cs typeface="Arial" panose="020B0604020202020204" pitchFamily="34" charset="0"/>
                        </a:rPr>
                        <a:t>μ</a:t>
                      </a:r>
                      <a:r>
                        <a:rPr lang="en-US" sz="1050" u="none" strike="noStrike">
                          <a:effectLst/>
                          <a:latin typeface="Arial" panose="020B0604020202020204" pitchFamily="34" charset="0"/>
                          <a:cs typeface="Arial" panose="020B0604020202020204" pitchFamily="34" charset="0"/>
                        </a:rPr>
                        <a:t>M – lặp lại 6 lần (mỗi lần cho một nhóm dòng tế bào/thời gian)</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81648959"/>
                  </a:ext>
                </a:extLst>
              </a:tr>
              <a:tr h="485775">
                <a:tc>
                  <a:txBody>
                    <a:bodyPr/>
                    <a:lstStyle/>
                    <a:p>
                      <a:pPr algn="ctr" fontAlgn="ctr"/>
                      <a:r>
                        <a:rPr lang="en-US" sz="1050" u="none" strike="noStrike">
                          <a:effectLst/>
                          <a:latin typeface="Arial" panose="020B0604020202020204" pitchFamily="34" charset="0"/>
                          <a:cs typeface="Arial" panose="020B0604020202020204" pitchFamily="34" charset="0"/>
                        </a:rPr>
                        <a:t>Cell_viability = c(...)</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err="1">
                          <a:effectLst/>
                          <a:latin typeface="Arial" panose="020B0604020202020204" pitchFamily="34" charset="0"/>
                          <a:cs typeface="Arial" panose="020B0604020202020204" pitchFamily="34" charset="0"/>
                        </a:rPr>
                        <a:t>Nhập</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giá</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trị</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tỷ</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lệ</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sống</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tế</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bào</a:t>
                      </a:r>
                      <a:r>
                        <a:rPr lang="en-US" sz="1050" u="none" strike="noStrike" dirty="0">
                          <a:effectLst/>
                          <a:latin typeface="Arial" panose="020B0604020202020204" pitchFamily="34" charset="0"/>
                          <a:cs typeface="Arial" panose="020B0604020202020204" pitchFamily="34" charset="0"/>
                        </a:rPr>
                        <a:t> (%) </a:t>
                      </a:r>
                      <a:r>
                        <a:rPr lang="en-US" sz="1050" u="none" strike="noStrike" dirty="0" err="1">
                          <a:effectLst/>
                          <a:latin typeface="Arial" panose="020B0604020202020204" pitchFamily="34" charset="0"/>
                          <a:cs typeface="Arial" panose="020B0604020202020204" pitchFamily="34" charset="0"/>
                        </a:rPr>
                        <a:t>theo</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đúng</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thứ</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tự</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nhóm</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từ</a:t>
                      </a:r>
                      <a:r>
                        <a:rPr lang="en-US" sz="1050" u="none" strike="noStrike" dirty="0">
                          <a:effectLst/>
                          <a:latin typeface="Arial" panose="020B0604020202020204" pitchFamily="34" charset="0"/>
                          <a:cs typeface="Arial" panose="020B0604020202020204" pitchFamily="34" charset="0"/>
                        </a:rPr>
                        <a:t> Luminal A </a:t>
                      </a:r>
                      <a:r>
                        <a:rPr lang="en-US" sz="1050" u="none" strike="noStrike" dirty="0" err="1">
                          <a:effectLst/>
                          <a:latin typeface="Arial" panose="020B0604020202020204" pitchFamily="34" charset="0"/>
                          <a:cs typeface="Arial" panose="020B0604020202020204" pitchFamily="34" charset="0"/>
                        </a:rPr>
                        <a:t>đến</a:t>
                      </a:r>
                      <a:r>
                        <a:rPr lang="en-US" sz="1050" u="none" strike="noStrike" dirty="0">
                          <a:effectLst/>
                          <a:latin typeface="Arial" panose="020B0604020202020204" pitchFamily="34" charset="0"/>
                          <a:cs typeface="Arial" panose="020B0604020202020204" pitchFamily="34" charset="0"/>
                        </a:rPr>
                        <a:t> Basal-like TNBC, 24h </a:t>
                      </a:r>
                      <a:r>
                        <a:rPr lang="en-US" sz="1050" u="none" strike="noStrike" dirty="0" err="1">
                          <a:effectLst/>
                          <a:latin typeface="Arial" panose="020B0604020202020204" pitchFamily="34" charset="0"/>
                          <a:cs typeface="Arial" panose="020B0604020202020204" pitchFamily="34" charset="0"/>
                        </a:rPr>
                        <a:t>rồi</a:t>
                      </a:r>
                      <a:r>
                        <a:rPr lang="en-US" sz="1050" u="none" strike="noStrike" dirty="0">
                          <a:effectLst/>
                          <a:latin typeface="Arial" panose="020B0604020202020204" pitchFamily="34" charset="0"/>
                          <a:cs typeface="Arial" panose="020B0604020202020204" pitchFamily="34" charset="0"/>
                        </a:rPr>
                        <a:t> 48h</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55723200"/>
                  </a:ext>
                </a:extLst>
              </a:tr>
            </a:tbl>
          </a:graphicData>
        </a:graphic>
      </p:graphicFrame>
    </p:spTree>
    <p:extLst>
      <p:ext uri="{BB962C8B-B14F-4D97-AF65-F5344CB8AC3E}">
        <p14:creationId xmlns:p14="http://schemas.microsoft.com/office/powerpoint/2010/main" val="38717899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FD29440-8E6E-823F-6F3F-FD14DFF500A1}"/>
              </a:ext>
            </a:extLst>
          </p:cNvPr>
          <p:cNvSpPr txBox="1"/>
          <p:nvPr/>
        </p:nvSpPr>
        <p:spPr>
          <a:xfrm>
            <a:off x="-91724" y="1005260"/>
            <a:ext cx="4580163" cy="5078313"/>
          </a:xfrm>
          <a:prstGeom prst="rect">
            <a:avLst/>
          </a:prstGeom>
          <a:noFill/>
        </p:spPr>
        <p:txBody>
          <a:bodyPr wrap="square">
            <a:spAutoFit/>
          </a:bodyPr>
          <a:lstStyle/>
          <a:p>
            <a:r>
              <a:rPr lang="x-none" sz="1350" dirty="0">
                <a:latin typeface="Arial" panose="020B0604020202020204" pitchFamily="34" charset="0"/>
                <a:cs typeface="Arial" panose="020B0604020202020204" pitchFamily="34" charset="0"/>
              </a:rPr>
              <a:t># 4. Tạo biểu đồ cột</a:t>
            </a:r>
          </a:p>
          <a:p>
            <a:r>
              <a:rPr lang="x-none" sz="1350" dirty="0">
                <a:latin typeface="Arial" panose="020B0604020202020204" pitchFamily="34" charset="0"/>
                <a:cs typeface="Arial" panose="020B0604020202020204" pitchFamily="34" charset="0"/>
              </a:rPr>
              <a:t>png("figure_6A.png", width = 1400, height = 600, res = 100)</a:t>
            </a:r>
          </a:p>
          <a:p>
            <a:r>
              <a:rPr lang="x-none" sz="1350" dirty="0">
                <a:latin typeface="Arial" panose="020B0604020202020204" pitchFamily="34" charset="0"/>
                <a:cs typeface="Arial" panose="020B0604020202020204" pitchFamily="34" charset="0"/>
              </a:rPr>
              <a:t>ggplot(data, aes(x = factor(UNC0642_uM), y = Cell_viability, fill = Time)) +</a:t>
            </a:r>
          </a:p>
          <a:p>
            <a:r>
              <a:rPr lang="x-none" sz="1350" dirty="0">
                <a:latin typeface="Arial" panose="020B0604020202020204" pitchFamily="34" charset="0"/>
                <a:cs typeface="Arial" panose="020B0604020202020204" pitchFamily="34" charset="0"/>
              </a:rPr>
              <a:t>  geom_col(position = "dodge") +</a:t>
            </a:r>
          </a:p>
          <a:p>
            <a:r>
              <a:rPr lang="x-none" sz="1350" dirty="0">
                <a:latin typeface="Arial" panose="020B0604020202020204" pitchFamily="34" charset="0"/>
                <a:cs typeface="Arial" panose="020B0604020202020204" pitchFamily="34" charset="0"/>
              </a:rPr>
              <a:t>  facet_wrap(~ Cell_line, ncol = 3) +</a:t>
            </a:r>
          </a:p>
          <a:p>
            <a:r>
              <a:rPr lang="x-none" sz="1350" dirty="0">
                <a:latin typeface="Arial" panose="020B0604020202020204" pitchFamily="34" charset="0"/>
                <a:cs typeface="Arial" panose="020B0604020202020204" pitchFamily="34" charset="0"/>
              </a:rPr>
              <a:t>  theme_minimal() +</a:t>
            </a:r>
          </a:p>
          <a:p>
            <a:r>
              <a:rPr lang="x-none" sz="1350" dirty="0">
                <a:latin typeface="Arial" panose="020B0604020202020204" pitchFamily="34" charset="0"/>
                <a:cs typeface="Arial" panose="020B0604020202020204" pitchFamily="34" charset="0"/>
              </a:rPr>
              <a:t>  labs(</a:t>
            </a:r>
          </a:p>
          <a:p>
            <a:r>
              <a:rPr lang="x-none" sz="1350" dirty="0">
                <a:latin typeface="Arial" panose="020B0604020202020204" pitchFamily="34" charset="0"/>
                <a:cs typeface="Arial" panose="020B0604020202020204" pitchFamily="34" charset="0"/>
              </a:rPr>
              <a:t>    title = "Hình 6A: Khả năng sống tế bào theo nồng độ UNC0642",</a:t>
            </a:r>
          </a:p>
          <a:p>
            <a:r>
              <a:rPr lang="x-none" sz="1350" dirty="0">
                <a:latin typeface="Arial" panose="020B0604020202020204" pitchFamily="34" charset="0"/>
                <a:cs typeface="Arial" panose="020B0604020202020204" pitchFamily="34" charset="0"/>
              </a:rPr>
              <a:t>    x = "Nồng độ UNC0642 (µM)",</a:t>
            </a:r>
          </a:p>
          <a:p>
            <a:r>
              <a:rPr lang="x-none" sz="1350" dirty="0">
                <a:latin typeface="Arial" panose="020B0604020202020204" pitchFamily="34" charset="0"/>
                <a:cs typeface="Arial" panose="020B0604020202020204" pitchFamily="34" charset="0"/>
              </a:rPr>
              <a:t>    y = "Độ khả dụng tế bào (% so với đối chứng)"</a:t>
            </a:r>
          </a:p>
          <a:p>
            <a:r>
              <a:rPr lang="x-none" sz="1350" dirty="0">
                <a:latin typeface="Arial" panose="020B0604020202020204" pitchFamily="34" charset="0"/>
                <a:cs typeface="Arial" panose="020B0604020202020204" pitchFamily="34" charset="0"/>
              </a:rPr>
              <a:t>  ) +</a:t>
            </a:r>
          </a:p>
          <a:p>
            <a:r>
              <a:rPr lang="x-none" sz="1350" dirty="0">
                <a:latin typeface="Arial" panose="020B0604020202020204" pitchFamily="34" charset="0"/>
                <a:cs typeface="Arial" panose="020B0604020202020204" pitchFamily="34" charset="0"/>
              </a:rPr>
              <a:t>  theme(</a:t>
            </a:r>
          </a:p>
          <a:p>
            <a:r>
              <a:rPr lang="x-none" sz="1350" dirty="0">
                <a:latin typeface="Arial" panose="020B0604020202020204" pitchFamily="34" charset="0"/>
                <a:cs typeface="Arial" panose="020B0604020202020204" pitchFamily="34" charset="0"/>
              </a:rPr>
              <a:t>    axis.text.x = element_text(angle = 45, hjust = 1),</a:t>
            </a:r>
          </a:p>
          <a:p>
            <a:r>
              <a:rPr lang="x-none" sz="1350" dirty="0">
                <a:latin typeface="Arial" panose="020B0604020202020204" pitchFamily="34" charset="0"/>
                <a:cs typeface="Arial" panose="020B0604020202020204" pitchFamily="34" charset="0"/>
              </a:rPr>
              <a:t>    legend.position = "top",</a:t>
            </a:r>
          </a:p>
          <a:p>
            <a:r>
              <a:rPr lang="x-none" sz="1350" dirty="0">
                <a:latin typeface="Arial" panose="020B0604020202020204" pitchFamily="34" charset="0"/>
                <a:cs typeface="Arial" panose="020B0604020202020204" pitchFamily="34" charset="0"/>
              </a:rPr>
              <a:t>    plot.title = element_text(hjust = 0.5)</a:t>
            </a:r>
          </a:p>
          <a:p>
            <a:r>
              <a:rPr lang="x-none" sz="1350" dirty="0">
                <a:latin typeface="Arial" panose="020B0604020202020204" pitchFamily="34" charset="0"/>
                <a:cs typeface="Arial" panose="020B0604020202020204" pitchFamily="34" charset="0"/>
              </a:rPr>
              <a:t>  )</a:t>
            </a:r>
          </a:p>
          <a:p>
            <a:r>
              <a:rPr lang="x-none" sz="1350" dirty="0">
                <a:latin typeface="Arial" panose="020B0604020202020204" pitchFamily="34" charset="0"/>
                <a:cs typeface="Arial" panose="020B0604020202020204" pitchFamily="34" charset="0"/>
              </a:rPr>
              <a:t>dev.off()</a:t>
            </a:r>
          </a:p>
          <a:p>
            <a:endParaRPr lang="x-none" sz="1350" dirty="0">
              <a:latin typeface="Arial" panose="020B0604020202020204" pitchFamily="34" charset="0"/>
              <a:cs typeface="Arial" panose="020B0604020202020204" pitchFamily="34" charset="0"/>
            </a:endParaRPr>
          </a:p>
          <a:p>
            <a:r>
              <a:rPr lang="x-none" sz="1350" dirty="0">
                <a:latin typeface="Arial" panose="020B0604020202020204" pitchFamily="34" charset="0"/>
                <a:cs typeface="Arial" panose="020B0604020202020204" pitchFamily="34" charset="0"/>
              </a:rPr>
              <a:t># 5. Thông báo hoàn thành</a:t>
            </a:r>
          </a:p>
          <a:p>
            <a:r>
              <a:rPr lang="x-none" sz="1350" dirty="0">
                <a:latin typeface="Arial" panose="020B0604020202020204" pitchFamily="34" charset="0"/>
                <a:cs typeface="Arial" panose="020B0604020202020204" pitchFamily="34" charset="0"/>
              </a:rPr>
              <a:t>cat("Biểu đồ đã được lưu tại:", file.path(getwd(), "figure_6A.png"), "\n")</a:t>
            </a:r>
          </a:p>
        </p:txBody>
      </p:sp>
      <p:graphicFrame>
        <p:nvGraphicFramePr>
          <p:cNvPr id="8" name="Table 7">
            <a:extLst>
              <a:ext uri="{FF2B5EF4-FFF2-40B4-BE49-F238E27FC236}">
                <a16:creationId xmlns:a16="http://schemas.microsoft.com/office/drawing/2014/main" xmlns="" id="{D8E8D461-BBD6-EC6F-BB94-8ACE60D7B8FA}"/>
              </a:ext>
            </a:extLst>
          </p:cNvPr>
          <p:cNvGraphicFramePr>
            <a:graphicFrameLocks noGrp="1"/>
          </p:cNvGraphicFramePr>
          <p:nvPr>
            <p:extLst>
              <p:ext uri="{D42A27DB-BD31-4B8C-83A1-F6EECF244321}">
                <p14:modId xmlns:p14="http://schemas.microsoft.com/office/powerpoint/2010/main" val="2899487284"/>
              </p:ext>
            </p:extLst>
          </p:nvPr>
        </p:nvGraphicFramePr>
        <p:xfrm>
          <a:off x="4266104" y="1222871"/>
          <a:ext cx="4877896" cy="5199963"/>
        </p:xfrm>
        <a:graphic>
          <a:graphicData uri="http://schemas.openxmlformats.org/drawingml/2006/table">
            <a:tbl>
              <a:tblPr>
                <a:tableStyleId>{5C22544A-7EE6-4342-B048-85BDC9FD1C3A}</a:tableStyleId>
              </a:tblPr>
              <a:tblGrid>
                <a:gridCol w="1675149">
                  <a:extLst>
                    <a:ext uri="{9D8B030D-6E8A-4147-A177-3AD203B41FA5}">
                      <a16:colId xmlns:a16="http://schemas.microsoft.com/office/drawing/2014/main" xmlns="" val="2951863471"/>
                    </a:ext>
                  </a:extLst>
                </a:gridCol>
                <a:gridCol w="3202747">
                  <a:extLst>
                    <a:ext uri="{9D8B030D-6E8A-4147-A177-3AD203B41FA5}">
                      <a16:colId xmlns:a16="http://schemas.microsoft.com/office/drawing/2014/main" xmlns="" val="2989636152"/>
                    </a:ext>
                  </a:extLst>
                </a:gridCol>
              </a:tblGrid>
              <a:tr h="194538">
                <a:tc>
                  <a:txBody>
                    <a:bodyPr/>
                    <a:lstStyle/>
                    <a:p>
                      <a:pPr algn="ctr" fontAlgn="ctr"/>
                      <a:r>
                        <a:rPr lang="en-US" sz="1050" u="none" strike="noStrike" dirty="0" err="1">
                          <a:effectLst/>
                          <a:latin typeface="Arial" panose="020B0604020202020204" pitchFamily="34" charset="0"/>
                          <a:cs typeface="Arial" panose="020B0604020202020204" pitchFamily="34" charset="0"/>
                        </a:rPr>
                        <a:t>Dòng</a:t>
                      </a:r>
                      <a:r>
                        <a:rPr lang="en-US" sz="1050" u="none" strike="noStrike" dirty="0">
                          <a:effectLst/>
                          <a:latin typeface="Arial" panose="020B0604020202020204" pitchFamily="34" charset="0"/>
                          <a:cs typeface="Arial" panose="020B0604020202020204" pitchFamily="34" charset="0"/>
                        </a:rPr>
                        <a:t> code</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Arial" panose="020B0604020202020204" pitchFamily="34" charset="0"/>
                          <a:cs typeface="Arial" panose="020B0604020202020204" pitchFamily="34" charset="0"/>
                        </a:rPr>
                        <a:t>Ý nghĩa</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81969987"/>
                  </a:ext>
                </a:extLst>
              </a:tr>
              <a:tr h="568403">
                <a:tc>
                  <a:txBody>
                    <a:bodyPr/>
                    <a:lstStyle/>
                    <a:p>
                      <a:pPr algn="ctr" fontAlgn="ctr"/>
                      <a:r>
                        <a:rPr lang="en-US" sz="1050" u="none" strike="noStrike">
                          <a:effectLst/>
                          <a:latin typeface="Arial" panose="020B0604020202020204" pitchFamily="34" charset="0"/>
                          <a:cs typeface="Arial" panose="020B0604020202020204" pitchFamily="34" charset="0"/>
                        </a:rPr>
                        <a:t>png("figure_6A.png", width=1400, height=600, res=100)</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50" u="none" strike="noStrike">
                          <a:effectLst/>
                          <a:latin typeface="Arial" panose="020B0604020202020204" pitchFamily="34" charset="0"/>
                          <a:cs typeface="Arial" panose="020B0604020202020204" pitchFamily="34" charset="0"/>
                        </a:rPr>
                        <a:t>Khởi tạo thiết bị đồ họa PNG, đặt tên file, kích thước và độ phân giải</a:t>
                      </a:r>
                      <a:endParaRPr lang="vi-VN" sz="1050" b="0" i="0" u="none" strike="noStrike">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64438877"/>
                  </a:ext>
                </a:extLst>
              </a:tr>
              <a:tr h="755336">
                <a:tc>
                  <a:txBody>
                    <a:bodyPr/>
                    <a:lstStyle/>
                    <a:p>
                      <a:pPr algn="ctr" fontAlgn="ctr"/>
                      <a:r>
                        <a:rPr lang="en-US" sz="1050" u="none" strike="noStrike" dirty="0" err="1">
                          <a:effectLst/>
                          <a:latin typeface="Arial" panose="020B0604020202020204" pitchFamily="34" charset="0"/>
                          <a:cs typeface="Arial" panose="020B0604020202020204" pitchFamily="34" charset="0"/>
                        </a:rPr>
                        <a:t>ggplot</a:t>
                      </a:r>
                      <a:r>
                        <a:rPr lang="en-US" sz="1050" u="none" strike="noStrike" dirty="0">
                          <a:effectLst/>
                          <a:latin typeface="Arial" panose="020B0604020202020204" pitchFamily="34" charset="0"/>
                          <a:cs typeface="Arial" panose="020B0604020202020204" pitchFamily="34" charset="0"/>
                        </a:rPr>
                        <a:t>(data, </a:t>
                      </a:r>
                      <a:r>
                        <a:rPr lang="en-US" sz="1050" u="none" strike="noStrike" dirty="0" err="1">
                          <a:effectLst/>
                          <a:latin typeface="Arial" panose="020B0604020202020204" pitchFamily="34" charset="0"/>
                          <a:cs typeface="Arial" panose="020B0604020202020204" pitchFamily="34" charset="0"/>
                        </a:rPr>
                        <a:t>aes</a:t>
                      </a:r>
                      <a:r>
                        <a:rPr lang="en-US" sz="1050" u="none" strike="noStrike" dirty="0">
                          <a:effectLst/>
                          <a:latin typeface="Arial" panose="020B0604020202020204" pitchFamily="34" charset="0"/>
                          <a:cs typeface="Arial" panose="020B0604020202020204" pitchFamily="34" charset="0"/>
                        </a:rPr>
                        <a:t>(x=factor(UNC0642_uM), y=</a:t>
                      </a:r>
                      <a:r>
                        <a:rPr lang="en-US" sz="1050" u="none" strike="noStrike" dirty="0" err="1">
                          <a:effectLst/>
                          <a:latin typeface="Arial" panose="020B0604020202020204" pitchFamily="34" charset="0"/>
                          <a:cs typeface="Arial" panose="020B0604020202020204" pitchFamily="34" charset="0"/>
                        </a:rPr>
                        <a:t>Cell_viability</a:t>
                      </a:r>
                      <a:r>
                        <a:rPr lang="en-US" sz="1050" u="none" strike="noStrike" dirty="0">
                          <a:effectLst/>
                          <a:latin typeface="Arial" panose="020B0604020202020204" pitchFamily="34" charset="0"/>
                          <a:cs typeface="Arial" panose="020B0604020202020204" pitchFamily="34" charset="0"/>
                        </a:rPr>
                        <a:t>, fill=Time))</a:t>
                      </a:r>
                      <a:endParaRPr lang="en-US" sz="105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Arial" panose="020B0604020202020204" pitchFamily="34" charset="0"/>
                          <a:cs typeface="Arial" panose="020B0604020202020204" pitchFamily="34" charset="0"/>
                        </a:rPr>
                        <a:t>Khởi tạo ggplot với trục X là nồng độ thuốc (factor), Y là độ sống, tô màu theo thời gian</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55538180"/>
                  </a:ext>
                </a:extLst>
              </a:tr>
              <a:tr h="381470">
                <a:tc>
                  <a:txBody>
                    <a:bodyPr/>
                    <a:lstStyle/>
                    <a:p>
                      <a:pPr algn="ctr" fontAlgn="ctr"/>
                      <a:r>
                        <a:rPr lang="en-US" sz="1050" u="none" strike="noStrike">
                          <a:effectLst/>
                          <a:latin typeface="Arial" panose="020B0604020202020204" pitchFamily="34" charset="0"/>
                          <a:cs typeface="Arial" panose="020B0604020202020204" pitchFamily="34" charset="0"/>
                        </a:rPr>
                        <a:t>geom_col(position="dodge")</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err="1">
                          <a:effectLst/>
                          <a:latin typeface="Arial" panose="020B0604020202020204" pitchFamily="34" charset="0"/>
                          <a:cs typeface="Arial" panose="020B0604020202020204" pitchFamily="34" charset="0"/>
                        </a:rPr>
                        <a:t>Vẽ</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cột</a:t>
                      </a:r>
                      <a:r>
                        <a:rPr lang="en-US" sz="1050" u="none" strike="noStrike" dirty="0">
                          <a:effectLst/>
                          <a:latin typeface="Arial" panose="020B0604020202020204" pitchFamily="34" charset="0"/>
                          <a:cs typeface="Arial" panose="020B0604020202020204" pitchFamily="34" charset="0"/>
                        </a:rPr>
                        <a:t> (bar) </a:t>
                      </a:r>
                      <a:r>
                        <a:rPr lang="en-US" sz="1050" u="none" strike="noStrike" dirty="0" err="1">
                          <a:effectLst/>
                          <a:latin typeface="Arial" panose="020B0604020202020204" pitchFamily="34" charset="0"/>
                          <a:cs typeface="Arial" panose="020B0604020202020204" pitchFamily="34" charset="0"/>
                        </a:rPr>
                        <a:t>cạnh</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nhau</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cho</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hai</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nhóm</a:t>
                      </a:r>
                      <a:r>
                        <a:rPr lang="en-US" sz="1050" u="none" strike="noStrike" dirty="0">
                          <a:effectLst/>
                          <a:latin typeface="Arial" panose="020B0604020202020204" pitchFamily="34" charset="0"/>
                          <a:cs typeface="Arial" panose="020B0604020202020204" pitchFamily="34" charset="0"/>
                        </a:rPr>
                        <a:t> 24h </a:t>
                      </a:r>
                      <a:r>
                        <a:rPr lang="en-US" sz="1050" u="none" strike="noStrike" dirty="0" err="1">
                          <a:effectLst/>
                          <a:latin typeface="Arial" panose="020B0604020202020204" pitchFamily="34" charset="0"/>
                          <a:cs typeface="Arial" panose="020B0604020202020204" pitchFamily="34" charset="0"/>
                        </a:rPr>
                        <a:t>và</a:t>
                      </a:r>
                      <a:r>
                        <a:rPr lang="en-US" sz="1050" u="none" strike="noStrike" dirty="0">
                          <a:effectLst/>
                          <a:latin typeface="Arial" panose="020B0604020202020204" pitchFamily="34" charset="0"/>
                          <a:cs typeface="Arial" panose="020B0604020202020204" pitchFamily="34" charset="0"/>
                        </a:rPr>
                        <a:t> 48h</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25592174"/>
                  </a:ext>
                </a:extLst>
              </a:tr>
              <a:tr h="517104">
                <a:tc>
                  <a:txBody>
                    <a:bodyPr/>
                    <a:lstStyle/>
                    <a:p>
                      <a:pPr algn="ctr" fontAlgn="ctr"/>
                      <a:r>
                        <a:rPr lang="en-US" sz="1050" u="none" strike="noStrike">
                          <a:effectLst/>
                          <a:latin typeface="Arial" panose="020B0604020202020204" pitchFamily="34" charset="0"/>
                          <a:cs typeface="Arial" panose="020B0604020202020204" pitchFamily="34" charset="0"/>
                        </a:rPr>
                        <a:t>facet_wrap(~ Cell_line, ncol=3)</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a:effectLst/>
                          <a:latin typeface="Arial" panose="020B0604020202020204" pitchFamily="34" charset="0"/>
                          <a:cs typeface="Arial" panose="020B0604020202020204" pitchFamily="34" charset="0"/>
                        </a:rPr>
                        <a:t>Tách thành 3 biểu đồ con theo dòng tế bào, xếp thành 3 cột</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50066771"/>
                  </a:ext>
                </a:extLst>
              </a:tr>
              <a:tr h="517104">
                <a:tc>
                  <a:txBody>
                    <a:bodyPr/>
                    <a:lstStyle/>
                    <a:p>
                      <a:pPr algn="ctr" fontAlgn="ctr"/>
                      <a:r>
                        <a:rPr lang="en-US" sz="1050" u="none" strike="noStrike">
                          <a:effectLst/>
                          <a:latin typeface="Arial" panose="020B0604020202020204" pitchFamily="34" charset="0"/>
                          <a:cs typeface="Arial" panose="020B0604020202020204" pitchFamily="34" charset="0"/>
                        </a:rPr>
                        <a:t>theme_minimal()</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err="1">
                          <a:effectLst/>
                          <a:latin typeface="Arial" panose="020B0604020202020204" pitchFamily="34" charset="0"/>
                          <a:cs typeface="Arial" panose="020B0604020202020204" pitchFamily="34" charset="0"/>
                        </a:rPr>
                        <a:t>Áp</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dụng</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giao</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diện</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tối</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giản</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hiện</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đại</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12029602"/>
                  </a:ext>
                </a:extLst>
              </a:tr>
              <a:tr h="1129201">
                <a:tc>
                  <a:txBody>
                    <a:bodyPr/>
                    <a:lstStyle/>
                    <a:p>
                      <a:pPr algn="ctr" fontAlgn="ctr"/>
                      <a:r>
                        <a:rPr lang="en-US" sz="1050" u="none" strike="noStrike">
                          <a:effectLst/>
                          <a:latin typeface="Arial" panose="020B0604020202020204" pitchFamily="34" charset="0"/>
                          <a:cs typeface="Arial" panose="020B0604020202020204" pitchFamily="34" charset="0"/>
                        </a:rPr>
                        <a:t>labs(title="Hình 6A: Khả năng sống tế bào theo nồng độ UNC0642", x="Nồng độ UNC0642 (µM)", y="Độ khả dụng tế bào (% so với đối chứng)")</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u="none" strike="noStrike" dirty="0" err="1">
                          <a:effectLst/>
                          <a:latin typeface="Arial" panose="020B0604020202020204" pitchFamily="34" charset="0"/>
                          <a:cs typeface="Arial" panose="020B0604020202020204" pitchFamily="34" charset="0"/>
                        </a:rPr>
                        <a:t>Đặt</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tiêu</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đề</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chính</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và</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nhãn</a:t>
                      </a:r>
                      <a:r>
                        <a:rPr lang="en-US" sz="1050" u="none" strike="noStrike" dirty="0">
                          <a:effectLst/>
                          <a:latin typeface="Arial" panose="020B0604020202020204" pitchFamily="34" charset="0"/>
                          <a:cs typeface="Arial" panose="020B0604020202020204" pitchFamily="34" charset="0"/>
                        </a:rPr>
                        <a:t> </a:t>
                      </a:r>
                      <a:r>
                        <a:rPr lang="en-US" sz="1050" u="none" strike="noStrike" dirty="0" err="1">
                          <a:effectLst/>
                          <a:latin typeface="Arial" panose="020B0604020202020204" pitchFamily="34" charset="0"/>
                          <a:cs typeface="Arial" panose="020B0604020202020204" pitchFamily="34" charset="0"/>
                        </a:rPr>
                        <a:t>trục</a:t>
                      </a:r>
                      <a:r>
                        <a:rPr lang="en-US" sz="1050" u="none" strike="noStrike" dirty="0">
                          <a:effectLst/>
                          <a:latin typeface="Arial" panose="020B0604020202020204" pitchFamily="34" charset="0"/>
                          <a:cs typeface="Arial" panose="020B0604020202020204" pitchFamily="34" charset="0"/>
                        </a:rPr>
                        <a:t> X, Y</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04014884"/>
                  </a:ext>
                </a:extLst>
              </a:tr>
              <a:tr h="942269">
                <a:tc>
                  <a:txBody>
                    <a:bodyPr/>
                    <a:lstStyle/>
                    <a:p>
                      <a:pPr algn="ctr" fontAlgn="ctr"/>
                      <a:r>
                        <a:rPr lang="en-US" sz="1050" u="none" strike="noStrike">
                          <a:effectLst/>
                          <a:latin typeface="Arial" panose="020B0604020202020204" pitchFamily="34" charset="0"/>
                          <a:cs typeface="Arial" panose="020B0604020202020204" pitchFamily="34" charset="0"/>
                        </a:rPr>
                        <a:t>theme(axis.text.x=element_text(angle=45, hjust=1), legend.position="top", plot.title=element_text(hjust=0.5))</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50" u="none" strike="noStrike">
                          <a:effectLst/>
                          <a:latin typeface="Arial" panose="020B0604020202020204" pitchFamily="34" charset="0"/>
                          <a:cs typeface="Arial" panose="020B0604020202020204" pitchFamily="34" charset="0"/>
                        </a:rPr>
                        <a:t>Xoay nhãn trục X 45°, đưa legend lên trên, căn giữa tiêu đề</a:t>
                      </a:r>
                      <a:endParaRPr lang="vi-VN" sz="1050" b="0" i="0" u="none" strike="noStrike">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79185621"/>
                  </a:ext>
                </a:extLst>
              </a:tr>
              <a:tr h="194538">
                <a:tc>
                  <a:txBody>
                    <a:bodyPr/>
                    <a:lstStyle/>
                    <a:p>
                      <a:pPr algn="ctr" fontAlgn="ctr"/>
                      <a:r>
                        <a:rPr lang="en-US" sz="1050" u="none" strike="noStrike">
                          <a:effectLst/>
                          <a:latin typeface="Arial" panose="020B0604020202020204" pitchFamily="34" charset="0"/>
                          <a:cs typeface="Arial" panose="020B0604020202020204" pitchFamily="34" charset="0"/>
                        </a:rPr>
                        <a:t>dev.off()</a:t>
                      </a:r>
                      <a:endParaRPr lang="en-US" sz="105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50" u="none" strike="noStrike" dirty="0">
                          <a:effectLst/>
                          <a:latin typeface="Arial" panose="020B0604020202020204" pitchFamily="34" charset="0"/>
                          <a:cs typeface="Arial" panose="020B0604020202020204" pitchFamily="34" charset="0"/>
                        </a:rPr>
                        <a:t>Đóng thiết bị đồ họa, hoàn tất và lưu file PNG</a:t>
                      </a:r>
                      <a:endParaRPr lang="vi-VN" sz="1050" b="0" i="0" u="none" strike="noStrike" dirty="0">
                        <a:solidFill>
                          <a:srgbClr val="000000"/>
                        </a:solidFill>
                        <a:effectLst/>
                        <a:latin typeface="Arial" panose="020B0604020202020204" pitchFamily="34" charset="0"/>
                        <a:cs typeface="Arial" panose="020B0604020202020204" pitchFamily="34" charset="0"/>
                      </a:endParaRPr>
                    </a:p>
                  </a:txBody>
                  <a:tcPr marL="6510" marR="6510" marT="65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0668288"/>
                  </a:ext>
                </a:extLst>
              </a:tr>
            </a:tbl>
          </a:graphicData>
        </a:graphic>
      </p:graphicFrame>
    </p:spTree>
    <p:extLst>
      <p:ext uri="{BB962C8B-B14F-4D97-AF65-F5344CB8AC3E}">
        <p14:creationId xmlns:p14="http://schemas.microsoft.com/office/powerpoint/2010/main" val="14098868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F3F0DCD5-98ED-D469-EBA1-73665FF5A018}"/>
              </a:ext>
            </a:extLst>
          </p:cNvPr>
          <p:cNvPicPr>
            <a:picLocks noChangeAspect="1"/>
          </p:cNvPicPr>
          <p:nvPr/>
        </p:nvPicPr>
        <p:blipFill>
          <a:blip r:embed="rId2"/>
          <a:stretch>
            <a:fillRect/>
          </a:stretch>
        </p:blipFill>
        <p:spPr>
          <a:xfrm>
            <a:off x="28575" y="1200839"/>
            <a:ext cx="9020175" cy="4428435"/>
          </a:xfrm>
          <a:prstGeom prst="rect">
            <a:avLst/>
          </a:prstGeom>
        </p:spPr>
      </p:pic>
    </p:spTree>
    <p:extLst>
      <p:ext uri="{BB962C8B-B14F-4D97-AF65-F5344CB8AC3E}">
        <p14:creationId xmlns:p14="http://schemas.microsoft.com/office/powerpoint/2010/main" val="3630904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6CB6659C-44D8-D985-7170-B44D2BDE1446}"/>
              </a:ext>
            </a:extLst>
          </p:cNvPr>
          <p:cNvGraphicFramePr>
            <a:graphicFrameLocks noGrp="1"/>
          </p:cNvGraphicFramePr>
          <p:nvPr>
            <p:extLst>
              <p:ext uri="{D42A27DB-BD31-4B8C-83A1-F6EECF244321}">
                <p14:modId xmlns:p14="http://schemas.microsoft.com/office/powerpoint/2010/main" val="272069007"/>
              </p:ext>
            </p:extLst>
          </p:nvPr>
        </p:nvGraphicFramePr>
        <p:xfrm>
          <a:off x="0" y="857263"/>
          <a:ext cx="3912053" cy="4827440"/>
        </p:xfrm>
        <a:graphic>
          <a:graphicData uri="http://schemas.openxmlformats.org/drawingml/2006/table">
            <a:tbl>
              <a:tblPr>
                <a:tableStyleId>{5C22544A-7EE6-4342-B048-85BDC9FD1C3A}</a:tableStyleId>
              </a:tblPr>
              <a:tblGrid>
                <a:gridCol w="1280492">
                  <a:extLst>
                    <a:ext uri="{9D8B030D-6E8A-4147-A177-3AD203B41FA5}">
                      <a16:colId xmlns:a16="http://schemas.microsoft.com/office/drawing/2014/main" xmlns="" val="3441725267"/>
                    </a:ext>
                  </a:extLst>
                </a:gridCol>
                <a:gridCol w="877187">
                  <a:extLst>
                    <a:ext uri="{9D8B030D-6E8A-4147-A177-3AD203B41FA5}">
                      <a16:colId xmlns:a16="http://schemas.microsoft.com/office/drawing/2014/main" xmlns="" val="4256750420"/>
                    </a:ext>
                  </a:extLst>
                </a:gridCol>
                <a:gridCol w="877187">
                  <a:extLst>
                    <a:ext uri="{9D8B030D-6E8A-4147-A177-3AD203B41FA5}">
                      <a16:colId xmlns:a16="http://schemas.microsoft.com/office/drawing/2014/main" xmlns="" val="3301179700"/>
                    </a:ext>
                  </a:extLst>
                </a:gridCol>
                <a:gridCol w="877187">
                  <a:extLst>
                    <a:ext uri="{9D8B030D-6E8A-4147-A177-3AD203B41FA5}">
                      <a16:colId xmlns:a16="http://schemas.microsoft.com/office/drawing/2014/main" xmlns="" val="4125616820"/>
                    </a:ext>
                  </a:extLst>
                </a:gridCol>
              </a:tblGrid>
              <a:tr h="301715">
                <a:tc>
                  <a:txBody>
                    <a:bodyPr/>
                    <a:lstStyle/>
                    <a:p>
                      <a:pPr algn="ctr" fontAlgn="ctr"/>
                      <a:r>
                        <a:rPr lang="en-US" sz="1000" u="none" strike="noStrike" dirty="0">
                          <a:effectLst/>
                          <a:latin typeface="Arial" panose="020B0604020202020204" pitchFamily="34" charset="0"/>
                          <a:cs typeface="Arial" panose="020B0604020202020204" pitchFamily="34" charset="0"/>
                        </a:rPr>
                        <a:t>Type</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Day</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Control</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UNC0642</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85143329"/>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Luminal A</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29032478"/>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Luminal A</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dirty="0">
                          <a:effectLst/>
                          <a:latin typeface="Arial" panose="020B0604020202020204" pitchFamily="34" charset="0"/>
                          <a:cs typeface="Arial" panose="020B0604020202020204" pitchFamily="34" charset="0"/>
                        </a:rPr>
                        <a:t>3</a:t>
                      </a:r>
                      <a:endParaRPr lang="x-none"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3.2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1365293"/>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Luminal A</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68496641"/>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Luminal A</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5.0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3.0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39166"/>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Luminal A</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9195681"/>
                  </a:ext>
                </a:extLst>
              </a:tr>
              <a:tr h="301715">
                <a:tc>
                  <a:txBody>
                    <a:bodyPr/>
                    <a:lstStyle/>
                    <a:p>
                      <a:pPr algn="ctr" fontAlgn="ctr"/>
                      <a:r>
                        <a:rPr lang="en-US" sz="1000" u="none" strike="noStrike" dirty="0" err="1">
                          <a:effectLst/>
                          <a:latin typeface="Arial" panose="020B0604020202020204" pitchFamily="34" charset="0"/>
                          <a:cs typeface="Arial" panose="020B0604020202020204" pitchFamily="34" charset="0"/>
                        </a:rPr>
                        <a:t>Claudin</a:t>
                      </a:r>
                      <a:r>
                        <a:rPr lang="en-US" sz="1000" u="none" strike="noStrike" dirty="0">
                          <a:effectLst/>
                          <a:latin typeface="Arial" panose="020B0604020202020204" pitchFamily="34" charset="0"/>
                          <a:cs typeface="Arial" panose="020B0604020202020204" pitchFamily="34" charset="0"/>
                        </a:rPr>
                        <a:t>-low TNBC</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9373401"/>
                  </a:ext>
                </a:extLst>
              </a:tr>
              <a:tr h="301715">
                <a:tc>
                  <a:txBody>
                    <a:bodyPr/>
                    <a:lstStyle/>
                    <a:p>
                      <a:pPr algn="ctr" fontAlgn="ctr"/>
                      <a:r>
                        <a:rPr lang="en-US" sz="1000" u="none" strike="noStrike" dirty="0" err="1">
                          <a:effectLst/>
                          <a:latin typeface="Arial" panose="020B0604020202020204" pitchFamily="34" charset="0"/>
                          <a:cs typeface="Arial" panose="020B0604020202020204" pitchFamily="34" charset="0"/>
                        </a:rPr>
                        <a:t>Claudin</a:t>
                      </a:r>
                      <a:r>
                        <a:rPr lang="en-US" sz="1000" u="none" strike="noStrike" dirty="0">
                          <a:effectLst/>
                          <a:latin typeface="Arial" panose="020B0604020202020204" pitchFamily="34" charset="0"/>
                          <a:cs typeface="Arial" panose="020B0604020202020204" pitchFamily="34" charset="0"/>
                        </a:rPr>
                        <a:t>-low TNBC</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3</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1.3</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41543399"/>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Claudin-low TNBC</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83000750"/>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Claudin-low TNBC</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10754706"/>
                  </a:ext>
                </a:extLst>
              </a:tr>
              <a:tr h="301715">
                <a:tc>
                  <a:txBody>
                    <a:bodyPr/>
                    <a:lstStyle/>
                    <a:p>
                      <a:pPr algn="ctr" fontAlgn="ctr"/>
                      <a:r>
                        <a:rPr lang="en-US" sz="1000" u="none" strike="noStrike" dirty="0" err="1">
                          <a:effectLst/>
                          <a:latin typeface="Arial" panose="020B0604020202020204" pitchFamily="34" charset="0"/>
                          <a:cs typeface="Arial" panose="020B0604020202020204" pitchFamily="34" charset="0"/>
                        </a:rPr>
                        <a:t>Claudin</a:t>
                      </a:r>
                      <a:r>
                        <a:rPr lang="en-US" sz="1000" u="none" strike="noStrike" dirty="0">
                          <a:effectLst/>
                          <a:latin typeface="Arial" panose="020B0604020202020204" pitchFamily="34" charset="0"/>
                          <a:cs typeface="Arial" panose="020B0604020202020204" pitchFamily="34" charset="0"/>
                        </a:rPr>
                        <a:t>-low TNBC</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3.3</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1.7</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34196904"/>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Basal-like TNBC</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1.0</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07598684"/>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Basal-like TNBC</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3</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1.8</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339100"/>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Basal-like TNBC</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4</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2.2</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1.3</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46521512"/>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Basal-like TNBC</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2.7</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1.5</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01620910"/>
                  </a:ext>
                </a:extLst>
              </a:tr>
              <a:tr h="301715">
                <a:tc>
                  <a:txBody>
                    <a:bodyPr/>
                    <a:lstStyle/>
                    <a:p>
                      <a:pPr algn="ctr" fontAlgn="ctr"/>
                      <a:r>
                        <a:rPr lang="en-US" sz="1000" u="none" strike="noStrike">
                          <a:effectLst/>
                          <a:latin typeface="Arial" panose="020B0604020202020204" pitchFamily="34" charset="0"/>
                          <a:cs typeface="Arial" panose="020B0604020202020204" pitchFamily="34" charset="0"/>
                        </a:rPr>
                        <a:t>Basal-like TNBC</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6</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a:effectLst/>
                          <a:latin typeface="Arial" panose="020B0604020202020204" pitchFamily="34" charset="0"/>
                          <a:cs typeface="Arial" panose="020B0604020202020204" pitchFamily="34" charset="0"/>
                        </a:rPr>
                        <a:t>2.3</a:t>
                      </a:r>
                      <a:endParaRPr lang="x-none"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x-none" sz="1000" u="none" strike="noStrike" dirty="0">
                          <a:effectLst/>
                          <a:latin typeface="Arial" panose="020B0604020202020204" pitchFamily="34" charset="0"/>
                          <a:cs typeface="Arial" panose="020B0604020202020204" pitchFamily="34" charset="0"/>
                        </a:rPr>
                        <a:t>1.2</a:t>
                      </a:r>
                      <a:endParaRPr lang="x-none"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5212198"/>
                  </a:ext>
                </a:extLst>
              </a:tr>
            </a:tbl>
          </a:graphicData>
        </a:graphic>
      </p:graphicFrame>
      <p:sp>
        <p:nvSpPr>
          <p:cNvPr id="6" name="TextBox 5">
            <a:extLst>
              <a:ext uri="{FF2B5EF4-FFF2-40B4-BE49-F238E27FC236}">
                <a16:creationId xmlns:a16="http://schemas.microsoft.com/office/drawing/2014/main" xmlns="" id="{D65EF4F2-B67C-8F94-82B4-0580BAF8245F}"/>
              </a:ext>
            </a:extLst>
          </p:cNvPr>
          <p:cNvSpPr txBox="1"/>
          <p:nvPr/>
        </p:nvSpPr>
        <p:spPr>
          <a:xfrm>
            <a:off x="3912054" y="857250"/>
            <a:ext cx="5231946" cy="5193729"/>
          </a:xfrm>
          <a:prstGeom prst="rect">
            <a:avLst/>
          </a:prstGeom>
          <a:noFill/>
        </p:spPr>
        <p:txBody>
          <a:bodyPr wrap="square">
            <a:spAutoFit/>
          </a:bodyPr>
          <a:lstStyle/>
          <a:p>
            <a:r>
              <a:rPr lang="x-none" sz="1275" dirty="0">
                <a:latin typeface="Arial" panose="020B0604020202020204" pitchFamily="34" charset="0"/>
                <a:cs typeface="Arial" panose="020B0604020202020204" pitchFamily="34" charset="0"/>
              </a:rPr>
              <a:t># File: figure_6B.R</a:t>
            </a:r>
          </a:p>
          <a:p>
            <a:r>
              <a:rPr lang="x-none" sz="1275" dirty="0">
                <a:latin typeface="Arial" panose="020B0604020202020204" pitchFamily="34" charset="0"/>
                <a:cs typeface="Arial" panose="020B0604020202020204" pitchFamily="34" charset="0"/>
              </a:rPr>
              <a:t># Mục đích: Tạo biểu đồ đường cho tăng sinh tế bào (Control vs. UNC0642)</a:t>
            </a:r>
          </a:p>
          <a:p>
            <a:r>
              <a:rPr lang="x-none" sz="1275" dirty="0">
                <a:latin typeface="Arial" panose="020B0604020202020204" pitchFamily="34" charset="0"/>
                <a:cs typeface="Arial" panose="020B0604020202020204" pitchFamily="34" charset="0"/>
              </a:rPr>
              <a:t># 1. Cài đặt và tải gói</a:t>
            </a:r>
          </a:p>
          <a:p>
            <a:r>
              <a:rPr lang="x-none" sz="1275" dirty="0">
                <a:latin typeface="Arial" panose="020B0604020202020204" pitchFamily="34" charset="0"/>
                <a:cs typeface="Arial" panose="020B0604020202020204" pitchFamily="34" charset="0"/>
              </a:rPr>
              <a:t>if (!require("ggplot2")) install.packages("ggplot2")</a:t>
            </a:r>
          </a:p>
          <a:p>
            <a:r>
              <a:rPr lang="x-none" sz="1275" dirty="0">
                <a:latin typeface="Arial" panose="020B0604020202020204" pitchFamily="34" charset="0"/>
                <a:cs typeface="Arial" panose="020B0604020202020204" pitchFamily="34" charset="0"/>
              </a:rPr>
              <a:t>if (!require("tidyr")) install.packages("tidyr")</a:t>
            </a:r>
          </a:p>
          <a:p>
            <a:r>
              <a:rPr lang="x-none" sz="1275" dirty="0">
                <a:latin typeface="Arial" panose="020B0604020202020204" pitchFamily="34" charset="0"/>
                <a:cs typeface="Arial" panose="020B0604020202020204" pitchFamily="34" charset="0"/>
              </a:rPr>
              <a:t>library(ggplot2)</a:t>
            </a:r>
          </a:p>
          <a:p>
            <a:r>
              <a:rPr lang="x-none" sz="1275" dirty="0">
                <a:latin typeface="Arial" panose="020B0604020202020204" pitchFamily="34" charset="0"/>
                <a:cs typeface="Arial" panose="020B0604020202020204" pitchFamily="34" charset="0"/>
              </a:rPr>
              <a:t>library(tidyr)</a:t>
            </a:r>
          </a:p>
          <a:p>
            <a:r>
              <a:rPr lang="x-none" sz="1275" dirty="0">
                <a:latin typeface="Arial" panose="020B0604020202020204" pitchFamily="34" charset="0"/>
                <a:cs typeface="Arial" panose="020B0604020202020204" pitchFamily="34" charset="0"/>
              </a:rPr>
              <a:t># 2. Kiểm tra thư mục làm việc</a:t>
            </a:r>
          </a:p>
          <a:p>
            <a:r>
              <a:rPr lang="x-none" sz="1275" dirty="0">
                <a:latin typeface="Arial" panose="020B0604020202020204" pitchFamily="34" charset="0"/>
                <a:cs typeface="Arial" panose="020B0604020202020204" pitchFamily="34" charset="0"/>
              </a:rPr>
              <a:t>cat("Thư mục làm việc hiện tại:", getwd(), "\n")</a:t>
            </a:r>
          </a:p>
          <a:p>
            <a:r>
              <a:rPr lang="x-none" sz="1275" dirty="0">
                <a:latin typeface="Arial" panose="020B0604020202020204" pitchFamily="34" charset="0"/>
                <a:cs typeface="Arial" panose="020B0604020202020204" pitchFamily="34" charset="0"/>
              </a:rPr>
              <a:t># 3. Tạo dữ liệu (sửa số lượng phần tử để khớp)</a:t>
            </a:r>
          </a:p>
          <a:p>
            <a:r>
              <a:rPr lang="x-none" sz="1275" dirty="0">
                <a:latin typeface="Arial" panose="020B0604020202020204" pitchFamily="34" charset="0"/>
                <a:cs typeface="Arial" panose="020B0604020202020204" pitchFamily="34" charset="0"/>
              </a:rPr>
              <a:t>data &lt;- data.frame(</a:t>
            </a:r>
          </a:p>
          <a:p>
            <a:r>
              <a:rPr lang="x-none" sz="1275" dirty="0">
                <a:latin typeface="Arial" panose="020B0604020202020204" pitchFamily="34" charset="0"/>
                <a:cs typeface="Arial" panose="020B0604020202020204" pitchFamily="34" charset="0"/>
              </a:rPr>
              <a:t>  Type = rep(c("Luminal A", "Claudin-low TNBC", "Basal-like TNBC"), each = 5),  # Mỗi loại có 5 ngày</a:t>
            </a:r>
          </a:p>
          <a:p>
            <a:r>
              <a:rPr lang="x-none" sz="1275" dirty="0">
                <a:latin typeface="Arial" panose="020B0604020202020204" pitchFamily="34" charset="0"/>
                <a:cs typeface="Arial" panose="020B0604020202020204" pitchFamily="34" charset="0"/>
              </a:rPr>
              <a:t>  Day = rep(c(0, 3, 4, 5, 6), 3),  # 5 ngày cho mỗi loại, lặp lại 3 lần</a:t>
            </a:r>
          </a:p>
          <a:p>
            <a:r>
              <a:rPr lang="x-none" sz="1275" dirty="0">
                <a:latin typeface="Arial" panose="020B0604020202020204" pitchFamily="34" charset="0"/>
                <a:cs typeface="Arial" panose="020B0604020202020204" pitchFamily="34" charset="0"/>
              </a:rPr>
              <a:t>  Control = c(</a:t>
            </a:r>
          </a:p>
          <a:p>
            <a:r>
              <a:rPr lang="x-none" sz="1275" dirty="0">
                <a:latin typeface="Arial" panose="020B0604020202020204" pitchFamily="34" charset="0"/>
                <a:cs typeface="Arial" panose="020B0604020202020204" pitchFamily="34" charset="0"/>
              </a:rPr>
              <a:t>    1.0, 3.2, 4.0, 5.0, 6.8,  # Luminal A</a:t>
            </a:r>
          </a:p>
          <a:p>
            <a:r>
              <a:rPr lang="x-none" sz="1275" dirty="0">
                <a:latin typeface="Arial" panose="020B0604020202020204" pitchFamily="34" charset="0"/>
                <a:cs typeface="Arial" panose="020B0604020202020204" pitchFamily="34" charset="0"/>
              </a:rPr>
              <a:t>    1.0, 1.6, 2.0, 2.4, 3.3,  # Claudin-low TNBC</a:t>
            </a:r>
          </a:p>
          <a:p>
            <a:r>
              <a:rPr lang="x-none" sz="1275" dirty="0">
                <a:latin typeface="Arial" panose="020B0604020202020204" pitchFamily="34" charset="0"/>
                <a:cs typeface="Arial" panose="020B0604020202020204" pitchFamily="34" charset="0"/>
              </a:rPr>
              <a:t>    1.0, 1.8, 2.2, 2.7, 2.3   # Basal-like TNBC</a:t>
            </a:r>
          </a:p>
          <a:p>
            <a:r>
              <a:rPr lang="x-none" sz="1275" dirty="0">
                <a:latin typeface="Arial" panose="020B0604020202020204" pitchFamily="34" charset="0"/>
                <a:cs typeface="Arial" panose="020B0604020202020204" pitchFamily="34" charset="0"/>
              </a:rPr>
              <a:t>  ),</a:t>
            </a:r>
          </a:p>
          <a:p>
            <a:r>
              <a:rPr lang="x-none" sz="1275" dirty="0">
                <a:latin typeface="Arial" panose="020B0604020202020204" pitchFamily="34" charset="0"/>
                <a:cs typeface="Arial" panose="020B0604020202020204" pitchFamily="34" charset="0"/>
              </a:rPr>
              <a:t>  UNC0642 = c(</a:t>
            </a:r>
          </a:p>
          <a:p>
            <a:r>
              <a:rPr lang="x-none" sz="1275" dirty="0">
                <a:latin typeface="Arial" panose="020B0604020202020204" pitchFamily="34" charset="0"/>
                <a:cs typeface="Arial" panose="020B0604020202020204" pitchFamily="34" charset="0"/>
              </a:rPr>
              <a:t>    1.0, 2.2, 2.5, 3.0, 4.5,  # Luminal A</a:t>
            </a:r>
          </a:p>
          <a:p>
            <a:r>
              <a:rPr lang="x-none" sz="1275" dirty="0">
                <a:latin typeface="Arial" panose="020B0604020202020204" pitchFamily="34" charset="0"/>
                <a:cs typeface="Arial" panose="020B0604020202020204" pitchFamily="34" charset="0"/>
              </a:rPr>
              <a:t>    1.0, 1.3, 1.2, 1.5, 1.7,  # Claudin-low TNBC</a:t>
            </a:r>
          </a:p>
          <a:p>
            <a:r>
              <a:rPr lang="x-none" sz="1275" dirty="0">
                <a:latin typeface="Arial" panose="020B0604020202020204" pitchFamily="34" charset="0"/>
                <a:cs typeface="Arial" panose="020B0604020202020204" pitchFamily="34" charset="0"/>
              </a:rPr>
              <a:t>    1.0, 1.2, 1.3, 1.5, 1.2   # Basal-like TNBC</a:t>
            </a:r>
          </a:p>
          <a:p>
            <a:r>
              <a:rPr lang="x-none" sz="1275" dirty="0">
                <a:latin typeface="Arial" panose="020B0604020202020204" pitchFamily="34" charset="0"/>
                <a:cs typeface="Arial" panose="020B0604020202020204" pitchFamily="34" charset="0"/>
              </a:rPr>
              <a:t>  )</a:t>
            </a:r>
          </a:p>
          <a:p>
            <a:r>
              <a:rPr lang="x-none" sz="1275"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096185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7BB89F3-FD16-6706-1808-CAFD8A5323F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xmlns="" id="{95E47997-E852-FC47-0751-F1AF7F6FB666}"/>
              </a:ext>
            </a:extLst>
          </p:cNvPr>
          <p:cNvSpPr txBox="1"/>
          <p:nvPr/>
        </p:nvSpPr>
        <p:spPr>
          <a:xfrm>
            <a:off x="126020" y="1126446"/>
            <a:ext cx="2971800" cy="4605107"/>
          </a:xfrm>
          <a:prstGeom prst="rect">
            <a:avLst/>
          </a:prstGeom>
          <a:noFill/>
        </p:spPr>
        <p:txBody>
          <a:bodyPr wrap="square">
            <a:spAutoFit/>
          </a:bodyPr>
          <a:lstStyle/>
          <a:p>
            <a:r>
              <a:rPr lang="x-none" sz="1275" dirty="0">
                <a:latin typeface="Arial" panose="020B0604020202020204" pitchFamily="34" charset="0"/>
                <a:cs typeface="Arial" panose="020B0604020202020204" pitchFamily="34" charset="0"/>
              </a:rPr>
              <a:t># 3. Tạo dữ liệu (sửa số lượng phần tử để khớp)</a:t>
            </a:r>
          </a:p>
          <a:p>
            <a:r>
              <a:rPr lang="x-none" sz="1275" dirty="0">
                <a:latin typeface="Arial" panose="020B0604020202020204" pitchFamily="34" charset="0"/>
                <a:cs typeface="Arial" panose="020B0604020202020204" pitchFamily="34" charset="0"/>
              </a:rPr>
              <a:t>data &lt;- data.frame(</a:t>
            </a:r>
          </a:p>
          <a:p>
            <a:r>
              <a:rPr lang="x-none" sz="1275" dirty="0">
                <a:latin typeface="Arial" panose="020B0604020202020204" pitchFamily="34" charset="0"/>
                <a:cs typeface="Arial" panose="020B0604020202020204" pitchFamily="34" charset="0"/>
              </a:rPr>
              <a:t>  Type = rep(c("Luminal A", "Claudin-low TNBC", "Basal-like TNBC"), each = 5),  # Mỗi loại có 5 ngày</a:t>
            </a:r>
          </a:p>
          <a:p>
            <a:r>
              <a:rPr lang="x-none" sz="1275" dirty="0">
                <a:latin typeface="Arial" panose="020B0604020202020204" pitchFamily="34" charset="0"/>
                <a:cs typeface="Arial" panose="020B0604020202020204" pitchFamily="34" charset="0"/>
              </a:rPr>
              <a:t>  Day = rep(c(0, 3, 4, 5, 6), 3),  # 5 ngày cho mỗi loại, lặp lại 3 lần</a:t>
            </a:r>
          </a:p>
          <a:p>
            <a:r>
              <a:rPr lang="x-none" sz="1275" dirty="0">
                <a:latin typeface="Arial" panose="020B0604020202020204" pitchFamily="34" charset="0"/>
                <a:cs typeface="Arial" panose="020B0604020202020204" pitchFamily="34" charset="0"/>
              </a:rPr>
              <a:t>  Control = c(</a:t>
            </a:r>
          </a:p>
          <a:p>
            <a:r>
              <a:rPr lang="x-none" sz="1275" dirty="0">
                <a:latin typeface="Arial" panose="020B0604020202020204" pitchFamily="34" charset="0"/>
                <a:cs typeface="Arial" panose="020B0604020202020204" pitchFamily="34" charset="0"/>
              </a:rPr>
              <a:t>    1.0, 3.2, 4.0, 5.0, 6.8,  # Luminal A</a:t>
            </a:r>
          </a:p>
          <a:p>
            <a:r>
              <a:rPr lang="x-none" sz="1275" dirty="0">
                <a:latin typeface="Arial" panose="020B0604020202020204" pitchFamily="34" charset="0"/>
                <a:cs typeface="Arial" panose="020B0604020202020204" pitchFamily="34" charset="0"/>
              </a:rPr>
              <a:t>    1.0, 1.6, 2.0, 2.4, 3.3,  # Claudin-low TNBC</a:t>
            </a:r>
          </a:p>
          <a:p>
            <a:r>
              <a:rPr lang="x-none" sz="1275" dirty="0">
                <a:latin typeface="Arial" panose="020B0604020202020204" pitchFamily="34" charset="0"/>
                <a:cs typeface="Arial" panose="020B0604020202020204" pitchFamily="34" charset="0"/>
              </a:rPr>
              <a:t>    1.0, 1.8, 2.2, 2.7, 2.3   # Basal-like TNBC</a:t>
            </a:r>
          </a:p>
          <a:p>
            <a:r>
              <a:rPr lang="x-none" sz="1275" dirty="0">
                <a:latin typeface="Arial" panose="020B0604020202020204" pitchFamily="34" charset="0"/>
                <a:cs typeface="Arial" panose="020B0604020202020204" pitchFamily="34" charset="0"/>
              </a:rPr>
              <a:t>  ),</a:t>
            </a:r>
          </a:p>
          <a:p>
            <a:r>
              <a:rPr lang="x-none" sz="1275" dirty="0">
                <a:latin typeface="Arial" panose="020B0604020202020204" pitchFamily="34" charset="0"/>
                <a:cs typeface="Arial" panose="020B0604020202020204" pitchFamily="34" charset="0"/>
              </a:rPr>
              <a:t>  UNC0642 = c(</a:t>
            </a:r>
          </a:p>
          <a:p>
            <a:r>
              <a:rPr lang="x-none" sz="1275" dirty="0">
                <a:latin typeface="Arial" panose="020B0604020202020204" pitchFamily="34" charset="0"/>
                <a:cs typeface="Arial" panose="020B0604020202020204" pitchFamily="34" charset="0"/>
              </a:rPr>
              <a:t>    1.0, 2.2, 2.5, 3.0, 4.5,  # Luminal A</a:t>
            </a:r>
          </a:p>
          <a:p>
            <a:r>
              <a:rPr lang="x-none" sz="1275" dirty="0">
                <a:latin typeface="Arial" panose="020B0604020202020204" pitchFamily="34" charset="0"/>
                <a:cs typeface="Arial" panose="020B0604020202020204" pitchFamily="34" charset="0"/>
              </a:rPr>
              <a:t>    1.0, 1.3, 1.2, 1.5, 1.7,  # Claudin-low TNBC</a:t>
            </a:r>
          </a:p>
          <a:p>
            <a:r>
              <a:rPr lang="x-none" sz="1275" dirty="0">
                <a:latin typeface="Arial" panose="020B0604020202020204" pitchFamily="34" charset="0"/>
                <a:cs typeface="Arial" panose="020B0604020202020204" pitchFamily="34" charset="0"/>
              </a:rPr>
              <a:t>    1.0, 1.2, 1.3, 1.5, 1.2   # Basal-like TNBC</a:t>
            </a:r>
          </a:p>
          <a:p>
            <a:r>
              <a:rPr lang="x-none" sz="1275" dirty="0">
                <a:latin typeface="Arial" panose="020B0604020202020204" pitchFamily="34" charset="0"/>
                <a:cs typeface="Arial" panose="020B0604020202020204" pitchFamily="34" charset="0"/>
              </a:rPr>
              <a:t>  )</a:t>
            </a:r>
          </a:p>
          <a:p>
            <a:r>
              <a:rPr lang="x-none" sz="1275" dirty="0">
                <a:latin typeface="Arial" panose="020B0604020202020204" pitchFamily="34" charset="0"/>
                <a:cs typeface="Arial" panose="020B0604020202020204" pitchFamily="34" charset="0"/>
              </a:rPr>
              <a:t>)</a:t>
            </a:r>
          </a:p>
        </p:txBody>
      </p:sp>
      <p:graphicFrame>
        <p:nvGraphicFramePr>
          <p:cNvPr id="2" name="Table 1">
            <a:extLst>
              <a:ext uri="{FF2B5EF4-FFF2-40B4-BE49-F238E27FC236}">
                <a16:creationId xmlns:a16="http://schemas.microsoft.com/office/drawing/2014/main" xmlns="" id="{4EFC8295-ACAC-761C-8E74-2DF40AC931FE}"/>
              </a:ext>
            </a:extLst>
          </p:cNvPr>
          <p:cNvGraphicFramePr>
            <a:graphicFrameLocks noGrp="1"/>
          </p:cNvGraphicFramePr>
          <p:nvPr>
            <p:extLst>
              <p:ext uri="{D42A27DB-BD31-4B8C-83A1-F6EECF244321}">
                <p14:modId xmlns:p14="http://schemas.microsoft.com/office/powerpoint/2010/main" val="620890639"/>
              </p:ext>
            </p:extLst>
          </p:nvPr>
        </p:nvGraphicFramePr>
        <p:xfrm>
          <a:off x="3455008" y="682162"/>
          <a:ext cx="5688992" cy="5835270"/>
        </p:xfrm>
        <a:graphic>
          <a:graphicData uri="http://schemas.openxmlformats.org/drawingml/2006/table">
            <a:tbl>
              <a:tblPr>
                <a:tableStyleId>{5C22544A-7EE6-4342-B048-85BDC9FD1C3A}</a:tableStyleId>
              </a:tblPr>
              <a:tblGrid>
                <a:gridCol w="2844496">
                  <a:extLst>
                    <a:ext uri="{9D8B030D-6E8A-4147-A177-3AD203B41FA5}">
                      <a16:colId xmlns:a16="http://schemas.microsoft.com/office/drawing/2014/main" xmlns="" val="782597524"/>
                    </a:ext>
                  </a:extLst>
                </a:gridCol>
                <a:gridCol w="2844496">
                  <a:extLst>
                    <a:ext uri="{9D8B030D-6E8A-4147-A177-3AD203B41FA5}">
                      <a16:colId xmlns:a16="http://schemas.microsoft.com/office/drawing/2014/main" xmlns="" val="3095368918"/>
                    </a:ext>
                  </a:extLst>
                </a:gridCol>
              </a:tblGrid>
              <a:tr h="120989">
                <a:tc>
                  <a:txBody>
                    <a:bodyPr/>
                    <a:lstStyle/>
                    <a:p>
                      <a:pPr algn="ctr" fontAlgn="ctr"/>
                      <a:r>
                        <a:rPr lang="en-US" sz="1500" u="none" strike="noStrike" dirty="0" err="1">
                          <a:effectLst/>
                          <a:latin typeface="Arial" panose="020B0604020202020204" pitchFamily="34" charset="0"/>
                          <a:cs typeface="Arial" panose="020B0604020202020204" pitchFamily="34" charset="0"/>
                        </a:rPr>
                        <a:t>Dòng</a:t>
                      </a:r>
                      <a:r>
                        <a:rPr lang="en-US" sz="1500" u="none" strike="noStrike" dirty="0">
                          <a:effectLst/>
                          <a:latin typeface="Arial" panose="020B0604020202020204" pitchFamily="34" charset="0"/>
                          <a:cs typeface="Arial" panose="020B0604020202020204" pitchFamily="34" charset="0"/>
                        </a:rPr>
                        <a:t> code</a:t>
                      </a:r>
                      <a:endParaRPr lang="en-US" sz="1500" b="1" i="0" u="none" strike="noStrike" dirty="0">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a:effectLst/>
                          <a:latin typeface="Arial" panose="020B0604020202020204" pitchFamily="34" charset="0"/>
                          <a:cs typeface="Arial" panose="020B0604020202020204" pitchFamily="34" charset="0"/>
                        </a:rPr>
                        <a:t>Ý nghĩa</a:t>
                      </a:r>
                      <a:endParaRPr lang="en-US" sz="1500" b="1"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71391118"/>
                  </a:ext>
                </a:extLst>
              </a:tr>
              <a:tr h="256212">
                <a:tc>
                  <a:txBody>
                    <a:bodyPr/>
                    <a:lstStyle/>
                    <a:p>
                      <a:pPr algn="ctr" fontAlgn="ctr"/>
                      <a:r>
                        <a:rPr lang="en-US" sz="1500" u="none" strike="noStrike">
                          <a:effectLst/>
                          <a:latin typeface="Arial" panose="020B0604020202020204" pitchFamily="34" charset="0"/>
                          <a:cs typeface="Arial" panose="020B0604020202020204" pitchFamily="34" charset="0"/>
                        </a:rPr>
                        <a:t>data &lt;- data.frame(</a:t>
                      </a:r>
                      <a:endParaRPr lang="en-US" sz="15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a:effectLst/>
                          <a:latin typeface="Arial" panose="020B0604020202020204" pitchFamily="34" charset="0"/>
                          <a:cs typeface="Arial" panose="020B0604020202020204" pitchFamily="34" charset="0"/>
                        </a:rPr>
                        <a:t>Khởi tạo một data frame mới và gán vào biến data.</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54389786"/>
                  </a:ext>
                </a:extLst>
              </a:tr>
              <a:tr h="362967">
                <a:tc>
                  <a:txBody>
                    <a:bodyPr/>
                    <a:lstStyle/>
                    <a:p>
                      <a:pPr algn="ctr" fontAlgn="ctr"/>
                      <a:r>
                        <a:rPr lang="en-US" sz="1500" u="none" strike="noStrike" dirty="0">
                          <a:effectLst/>
                          <a:latin typeface="Arial" panose="020B0604020202020204" pitchFamily="34" charset="0"/>
                          <a:cs typeface="Arial" panose="020B0604020202020204" pitchFamily="34" charset="0"/>
                        </a:rPr>
                        <a:t>  Type = rep(c("Luminal A", "Claudin-low TNBC", "Basal-like TNBC"), each = 5),</a:t>
                      </a:r>
                      <a:endParaRPr lang="en-US" sz="1500" b="0" i="0" u="none" strike="noStrike" dirty="0">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dirty="0" err="1">
                          <a:effectLst/>
                          <a:latin typeface="Arial" panose="020B0604020202020204" pitchFamily="34" charset="0"/>
                          <a:cs typeface="Arial" panose="020B0604020202020204" pitchFamily="34" charset="0"/>
                        </a:rPr>
                        <a:t>Tạo</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cột</a:t>
                      </a:r>
                      <a:r>
                        <a:rPr lang="en-US" sz="1500" u="none" strike="noStrike" dirty="0">
                          <a:effectLst/>
                          <a:latin typeface="Arial" panose="020B0604020202020204" pitchFamily="34" charset="0"/>
                          <a:cs typeface="Arial" panose="020B0604020202020204" pitchFamily="34" charset="0"/>
                        </a:rPr>
                        <a:t> Type </a:t>
                      </a:r>
                      <a:r>
                        <a:rPr lang="en-US" sz="1500" u="none" strike="noStrike" dirty="0" err="1">
                          <a:effectLst/>
                          <a:latin typeface="Arial" panose="020B0604020202020204" pitchFamily="34" charset="0"/>
                          <a:cs typeface="Arial" panose="020B0604020202020204" pitchFamily="34" charset="0"/>
                        </a:rPr>
                        <a:t>với</a:t>
                      </a:r>
                      <a:r>
                        <a:rPr lang="en-US" sz="1500" u="none" strike="noStrike" dirty="0">
                          <a:effectLst/>
                          <a:latin typeface="Arial" panose="020B0604020202020204" pitchFamily="34" charset="0"/>
                          <a:cs typeface="Arial" panose="020B0604020202020204" pitchFamily="34" charset="0"/>
                        </a:rPr>
                        <a:t> 3 </a:t>
                      </a:r>
                      <a:r>
                        <a:rPr lang="en-US" sz="1500" u="none" strike="noStrike" dirty="0" err="1">
                          <a:effectLst/>
                          <a:latin typeface="Arial" panose="020B0604020202020204" pitchFamily="34" charset="0"/>
                          <a:cs typeface="Arial" panose="020B0604020202020204" pitchFamily="34" charset="0"/>
                        </a:rPr>
                        <a:t>giá</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trị</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lặp</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lại</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mỗi</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loại</a:t>
                      </a:r>
                      <a:r>
                        <a:rPr lang="en-US" sz="1500" u="none" strike="noStrike" dirty="0">
                          <a:effectLst/>
                          <a:latin typeface="Arial" panose="020B0604020202020204" pitchFamily="34" charset="0"/>
                          <a:cs typeface="Arial" panose="020B0604020202020204" pitchFamily="34" charset="0"/>
                        </a:rPr>
                        <a:t> (Luminal A, </a:t>
                      </a:r>
                      <a:r>
                        <a:rPr lang="en-US" sz="1500" u="none" strike="noStrike" dirty="0" err="1">
                          <a:effectLst/>
                          <a:latin typeface="Arial" panose="020B0604020202020204" pitchFamily="34" charset="0"/>
                          <a:cs typeface="Arial" panose="020B0604020202020204" pitchFamily="34" charset="0"/>
                        </a:rPr>
                        <a:t>Claudin</a:t>
                      </a:r>
                      <a:r>
                        <a:rPr lang="en-US" sz="1500" u="none" strike="noStrike" dirty="0">
                          <a:effectLst/>
                          <a:latin typeface="Arial" panose="020B0604020202020204" pitchFamily="34" charset="0"/>
                          <a:cs typeface="Arial" panose="020B0604020202020204" pitchFamily="34" charset="0"/>
                        </a:rPr>
                        <a:t>-low TNBC, Basal-like TNBC) 5 </a:t>
                      </a:r>
                      <a:r>
                        <a:rPr lang="en-US" sz="1500" u="none" strike="noStrike" dirty="0" err="1">
                          <a:effectLst/>
                          <a:latin typeface="Arial" panose="020B0604020202020204" pitchFamily="34" charset="0"/>
                          <a:cs typeface="Arial" panose="020B0604020202020204" pitchFamily="34" charset="0"/>
                        </a:rPr>
                        <a:t>lần</a:t>
                      </a:r>
                      <a:r>
                        <a:rPr lang="en-US" sz="1500" u="none" strike="noStrike" dirty="0">
                          <a:effectLst/>
                          <a:latin typeface="Arial" panose="020B0604020202020204" pitchFamily="34" charset="0"/>
                          <a:cs typeface="Arial" panose="020B0604020202020204" pitchFamily="34" charset="0"/>
                        </a:rPr>
                        <a:t>.</a:t>
                      </a:r>
                      <a:endParaRPr lang="en-US" sz="1500" b="0" i="0" u="none" strike="noStrike" dirty="0">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88197629"/>
                  </a:ext>
                </a:extLst>
              </a:tr>
              <a:tr h="313948">
                <a:tc>
                  <a:txBody>
                    <a:bodyPr/>
                    <a:lstStyle/>
                    <a:p>
                      <a:pPr algn="ctr" fontAlgn="ctr"/>
                      <a:r>
                        <a:rPr lang="en-US" sz="1500" u="none" strike="noStrike" dirty="0">
                          <a:effectLst/>
                          <a:latin typeface="Arial" panose="020B0604020202020204" pitchFamily="34" charset="0"/>
                          <a:cs typeface="Arial" panose="020B0604020202020204" pitchFamily="34" charset="0"/>
                        </a:rPr>
                        <a:t>  Day = rep(c(0, 3, 4, 5, 6), 3),</a:t>
                      </a:r>
                      <a:endParaRPr lang="en-US" sz="1500" b="0" i="0" u="none" strike="noStrike" dirty="0">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500" u="none" strike="noStrike">
                          <a:effectLst/>
                          <a:latin typeface="Arial" panose="020B0604020202020204" pitchFamily="34" charset="0"/>
                          <a:cs typeface="Arial" panose="020B0604020202020204" pitchFamily="34" charset="0"/>
                        </a:rPr>
                        <a:t>Tạo cột Day chứa 5 mốc thời gian (0, 3, 4, 5, 6) và lặp lại 3 lần (tương ứng 3 dòng tế bào) → tổng 15 giá trị.</a:t>
                      </a:r>
                      <a:endParaRPr lang="vi-VN"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99945503"/>
                  </a:ext>
                </a:extLst>
              </a:tr>
              <a:tr h="362967">
                <a:tc rowSpan="4">
                  <a:txBody>
                    <a:bodyPr/>
                    <a:lstStyle/>
                    <a:p>
                      <a:pPr algn="ctr" fontAlgn="ctr"/>
                      <a:r>
                        <a:rPr lang="en-US" sz="1500" u="none" strike="noStrike">
                          <a:effectLst/>
                          <a:latin typeface="Arial" panose="020B0604020202020204" pitchFamily="34" charset="0"/>
                          <a:cs typeface="Arial" panose="020B0604020202020204" pitchFamily="34" charset="0"/>
                        </a:rPr>
                        <a:t>  Control = c( … ),</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a:effectLst/>
                          <a:latin typeface="Arial" panose="020B0604020202020204" pitchFamily="34" charset="0"/>
                          <a:cs typeface="Arial" panose="020B0604020202020204" pitchFamily="34" charset="0"/>
                        </a:rPr>
                        <a:t>Tạo cột Control với 15 giá trị nhập tay, chia theo nhóm:</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7820034"/>
                  </a:ext>
                </a:extLst>
              </a:tr>
              <a:tr h="362967">
                <a:tc vMerge="1">
                  <a:txBody>
                    <a:bodyPr/>
                    <a:lstStyle/>
                    <a:p>
                      <a:endParaRPr lang="x-none"/>
                    </a:p>
                  </a:txBody>
                  <a:tcPr/>
                </a:tc>
                <a:tc>
                  <a:txBody>
                    <a:bodyPr/>
                    <a:lstStyle/>
                    <a:p>
                      <a:pPr algn="ctr" fontAlgn="ctr"/>
                      <a:r>
                        <a:rPr lang="en-US" sz="1500" u="none" strike="noStrike" dirty="0">
                          <a:effectLst/>
                          <a:latin typeface="Arial" panose="020B0604020202020204" pitchFamily="34" charset="0"/>
                          <a:cs typeface="Arial" panose="020B0604020202020204" pitchFamily="34" charset="0"/>
                        </a:rPr>
                        <a:t>• Luminal A: 1.0, 3.2, 4.0, 5.0, 6.8</a:t>
                      </a:r>
                      <a:endParaRPr lang="en-US" sz="1500" b="0" i="0" u="none" strike="noStrike" dirty="0">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74745628"/>
                  </a:ext>
                </a:extLst>
              </a:tr>
              <a:tr h="483956">
                <a:tc vMerge="1">
                  <a:txBody>
                    <a:bodyPr/>
                    <a:lstStyle/>
                    <a:p>
                      <a:endParaRPr lang="x-none"/>
                    </a:p>
                  </a:txBody>
                  <a:tcPr/>
                </a:tc>
                <a:tc>
                  <a:txBody>
                    <a:bodyPr/>
                    <a:lstStyle/>
                    <a:p>
                      <a:pPr algn="ctr" fontAlgn="ctr"/>
                      <a:r>
                        <a:rPr lang="en-US" sz="1500" u="none" strike="noStrike">
                          <a:effectLst/>
                          <a:latin typeface="Arial" panose="020B0604020202020204" pitchFamily="34" charset="0"/>
                          <a:cs typeface="Arial" panose="020B0604020202020204" pitchFamily="34" charset="0"/>
                        </a:rPr>
                        <a:t>• Claudin-low: 1.0, 1.6, 2.0, 2.4, 3.3</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71488015"/>
                  </a:ext>
                </a:extLst>
              </a:tr>
              <a:tr h="362967">
                <a:tc vMerge="1">
                  <a:txBody>
                    <a:bodyPr/>
                    <a:lstStyle/>
                    <a:p>
                      <a:endParaRPr lang="x-none"/>
                    </a:p>
                  </a:txBody>
                  <a:tcPr/>
                </a:tc>
                <a:tc>
                  <a:txBody>
                    <a:bodyPr/>
                    <a:lstStyle/>
                    <a:p>
                      <a:pPr algn="ctr" fontAlgn="ctr"/>
                      <a:r>
                        <a:rPr lang="en-US" sz="1500" u="none" strike="noStrike">
                          <a:effectLst/>
                          <a:latin typeface="Arial" panose="020B0604020202020204" pitchFamily="34" charset="0"/>
                          <a:cs typeface="Arial" panose="020B0604020202020204" pitchFamily="34" charset="0"/>
                        </a:rPr>
                        <a:t>• Basal-like: 1.0, 1.8, 2.2, 2.7, 2.3</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42478047"/>
                  </a:ext>
                </a:extLst>
              </a:tr>
              <a:tr h="211078">
                <a:tc rowSpan="4">
                  <a:txBody>
                    <a:bodyPr/>
                    <a:lstStyle/>
                    <a:p>
                      <a:pPr algn="ctr" fontAlgn="ctr"/>
                      <a:r>
                        <a:rPr lang="en-US" sz="1500" u="none" strike="noStrike">
                          <a:effectLst/>
                          <a:latin typeface="Arial" panose="020B0604020202020204" pitchFamily="34" charset="0"/>
                          <a:cs typeface="Arial" panose="020B0604020202020204" pitchFamily="34" charset="0"/>
                        </a:rPr>
                        <a:t>  UNC0642 = c( … )</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a:effectLst/>
                          <a:latin typeface="Arial" panose="020B0604020202020204" pitchFamily="34" charset="0"/>
                          <a:cs typeface="Arial" panose="020B0604020202020204" pitchFamily="34" charset="0"/>
                        </a:rPr>
                        <a:t>Tạo cột UNC0642 với 15 giá trị thử nghiệm nồng độ thuốc:</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47509108"/>
                  </a:ext>
                </a:extLst>
              </a:tr>
              <a:tr h="120989">
                <a:tc vMerge="1">
                  <a:txBody>
                    <a:bodyPr/>
                    <a:lstStyle/>
                    <a:p>
                      <a:endParaRPr lang="x-none"/>
                    </a:p>
                  </a:txBody>
                  <a:tcPr/>
                </a:tc>
                <a:tc>
                  <a:txBody>
                    <a:bodyPr/>
                    <a:lstStyle/>
                    <a:p>
                      <a:pPr algn="ctr" fontAlgn="ctr"/>
                      <a:r>
                        <a:rPr lang="en-US" sz="1500" u="none" strike="noStrike">
                          <a:effectLst/>
                          <a:latin typeface="Arial" panose="020B0604020202020204" pitchFamily="34" charset="0"/>
                          <a:cs typeface="Arial" panose="020B0604020202020204" pitchFamily="34" charset="0"/>
                        </a:rPr>
                        <a:t>• Luminal A: 1.0, 2.2, 2.5, 3.0, 4.5</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38586084"/>
                  </a:ext>
                </a:extLst>
              </a:tr>
              <a:tr h="120989">
                <a:tc vMerge="1">
                  <a:txBody>
                    <a:bodyPr/>
                    <a:lstStyle/>
                    <a:p>
                      <a:endParaRPr lang="x-none"/>
                    </a:p>
                  </a:txBody>
                  <a:tcPr/>
                </a:tc>
                <a:tc>
                  <a:txBody>
                    <a:bodyPr/>
                    <a:lstStyle/>
                    <a:p>
                      <a:pPr algn="ctr" fontAlgn="ctr"/>
                      <a:r>
                        <a:rPr lang="en-US" sz="1500" u="none" strike="noStrike">
                          <a:effectLst/>
                          <a:latin typeface="Arial" panose="020B0604020202020204" pitchFamily="34" charset="0"/>
                          <a:cs typeface="Arial" panose="020B0604020202020204" pitchFamily="34" charset="0"/>
                        </a:rPr>
                        <a:t>• Claudin-low: 1.0, 1.3, 1.2, 1.5, 1.7</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06299247"/>
                  </a:ext>
                </a:extLst>
              </a:tr>
              <a:tr h="120989">
                <a:tc vMerge="1">
                  <a:txBody>
                    <a:bodyPr/>
                    <a:lstStyle/>
                    <a:p>
                      <a:endParaRPr lang="x-none"/>
                    </a:p>
                  </a:txBody>
                  <a:tcPr/>
                </a:tc>
                <a:tc>
                  <a:txBody>
                    <a:bodyPr/>
                    <a:lstStyle/>
                    <a:p>
                      <a:pPr algn="ctr" fontAlgn="ctr"/>
                      <a:r>
                        <a:rPr lang="en-US" sz="1500" u="none" strike="noStrike">
                          <a:effectLst/>
                          <a:latin typeface="Arial" panose="020B0604020202020204" pitchFamily="34" charset="0"/>
                          <a:cs typeface="Arial" panose="020B0604020202020204" pitchFamily="34" charset="0"/>
                        </a:rPr>
                        <a:t>• Basal-like: 1.0, 1.2, 1.3, 1.5, 1.2</a:t>
                      </a:r>
                      <a:endParaRPr lang="en-US" sz="1500" b="0" i="0" u="none" strike="noStrike">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3190437"/>
                  </a:ext>
                </a:extLst>
              </a:tr>
              <a:tr h="128106">
                <a:tc>
                  <a:txBody>
                    <a:bodyPr/>
                    <a:lstStyle/>
                    <a:p>
                      <a:pPr algn="ctr" fontAlgn="ctr"/>
                      <a:r>
                        <a:rPr lang="x-none" sz="1500" u="none" strike="noStrike">
                          <a:effectLst/>
                          <a:latin typeface="Arial" panose="020B0604020202020204" pitchFamily="34" charset="0"/>
                          <a:cs typeface="Arial" panose="020B0604020202020204" pitchFamily="34" charset="0"/>
                        </a:rPr>
                        <a:t>)</a:t>
                      </a:r>
                      <a:endParaRPr lang="x-none" sz="15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500" u="none" strike="noStrike" dirty="0" err="1">
                          <a:effectLst/>
                          <a:latin typeface="Arial" panose="020B0604020202020204" pitchFamily="34" charset="0"/>
                          <a:cs typeface="Arial" panose="020B0604020202020204" pitchFamily="34" charset="0"/>
                        </a:rPr>
                        <a:t>Đóng</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ngoặc</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của</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hàm</a:t>
                      </a:r>
                      <a:r>
                        <a:rPr lang="en-US" sz="1500" u="none" strike="noStrike" dirty="0">
                          <a:effectLst/>
                          <a:latin typeface="Arial" panose="020B0604020202020204" pitchFamily="34" charset="0"/>
                          <a:cs typeface="Arial" panose="020B0604020202020204" pitchFamily="34" charset="0"/>
                        </a:rPr>
                        <a:t> </a:t>
                      </a:r>
                      <a:r>
                        <a:rPr lang="en-US" sz="1500" u="none" strike="noStrike" dirty="0" err="1">
                          <a:effectLst/>
                          <a:latin typeface="Arial" panose="020B0604020202020204" pitchFamily="34" charset="0"/>
                          <a:cs typeface="Arial" panose="020B0604020202020204" pitchFamily="34" charset="0"/>
                        </a:rPr>
                        <a:t>data.frame</a:t>
                      </a:r>
                      <a:r>
                        <a:rPr lang="en-US" sz="1500" u="none" strike="noStrike" dirty="0">
                          <a:effectLst/>
                          <a:latin typeface="Arial" panose="020B0604020202020204" pitchFamily="34" charset="0"/>
                          <a:cs typeface="Arial" panose="020B0604020202020204" pitchFamily="34" charset="0"/>
                        </a:rPr>
                        <a:t>().</a:t>
                      </a:r>
                      <a:endParaRPr lang="en-US" sz="1500" b="0" i="0" u="none" strike="noStrike" dirty="0">
                        <a:solidFill>
                          <a:srgbClr val="000000"/>
                        </a:solidFill>
                        <a:effectLst/>
                        <a:latin typeface="Arial" panose="020B0604020202020204" pitchFamily="34" charset="0"/>
                        <a:cs typeface="Arial" panose="020B0604020202020204" pitchFamily="34" charset="0"/>
                      </a:endParaRPr>
                    </a:p>
                  </a:txBody>
                  <a:tcPr marL="5338" marR="5338" marT="5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70545592"/>
                  </a:ext>
                </a:extLst>
              </a:tr>
            </a:tbl>
          </a:graphicData>
        </a:graphic>
      </p:graphicFrame>
    </p:spTree>
    <p:extLst>
      <p:ext uri="{BB962C8B-B14F-4D97-AF65-F5344CB8AC3E}">
        <p14:creationId xmlns:p14="http://schemas.microsoft.com/office/powerpoint/2010/main" val="7709259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473FD14-DEAF-8F25-6DF4-0843F48CC140}"/>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FD6CA317-D5D0-590C-38AB-76B01E76F710}"/>
              </a:ext>
            </a:extLst>
          </p:cNvPr>
          <p:cNvGraphicFramePr>
            <a:graphicFrameLocks noGrp="1"/>
          </p:cNvGraphicFramePr>
          <p:nvPr>
            <p:extLst>
              <p:ext uri="{D42A27DB-BD31-4B8C-83A1-F6EECF244321}">
                <p14:modId xmlns:p14="http://schemas.microsoft.com/office/powerpoint/2010/main" val="2372582611"/>
              </p:ext>
            </p:extLst>
          </p:nvPr>
        </p:nvGraphicFramePr>
        <p:xfrm>
          <a:off x="4748271" y="442913"/>
          <a:ext cx="4395730" cy="4327190"/>
        </p:xfrm>
        <a:graphic>
          <a:graphicData uri="http://schemas.openxmlformats.org/drawingml/2006/table">
            <a:tbl>
              <a:tblPr>
                <a:tableStyleId>{5C22544A-7EE6-4342-B048-85BDC9FD1C3A}</a:tableStyleId>
              </a:tblPr>
              <a:tblGrid>
                <a:gridCol w="1849013">
                  <a:extLst>
                    <a:ext uri="{9D8B030D-6E8A-4147-A177-3AD203B41FA5}">
                      <a16:colId xmlns:a16="http://schemas.microsoft.com/office/drawing/2014/main" xmlns="" val="3405307718"/>
                    </a:ext>
                  </a:extLst>
                </a:gridCol>
                <a:gridCol w="2546717">
                  <a:extLst>
                    <a:ext uri="{9D8B030D-6E8A-4147-A177-3AD203B41FA5}">
                      <a16:colId xmlns:a16="http://schemas.microsoft.com/office/drawing/2014/main" xmlns="" val="1466995883"/>
                    </a:ext>
                  </a:extLst>
                </a:gridCol>
              </a:tblGrid>
              <a:tr h="209102">
                <a:tc>
                  <a:txBody>
                    <a:bodyPr/>
                    <a:lstStyle/>
                    <a:p>
                      <a:pPr algn="ctr" fontAlgn="ctr"/>
                      <a:r>
                        <a:rPr lang="en-US" sz="1000" u="none" strike="noStrike" dirty="0" err="1">
                          <a:effectLst/>
                          <a:latin typeface="Arial" panose="020B0604020202020204" pitchFamily="34" charset="0"/>
                          <a:cs typeface="Arial" panose="020B0604020202020204" pitchFamily="34" charset="0"/>
                        </a:rPr>
                        <a:t>Dòng</a:t>
                      </a:r>
                      <a:r>
                        <a:rPr lang="en-US" sz="1000" u="none" strike="noStrike" dirty="0">
                          <a:effectLst/>
                          <a:latin typeface="Arial" panose="020B0604020202020204" pitchFamily="34" charset="0"/>
                          <a:cs typeface="Arial" panose="020B0604020202020204" pitchFamily="34" charset="0"/>
                        </a:rPr>
                        <a:t> code</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Ý nghĩa</a:t>
                      </a:r>
                      <a:endParaRPr lang="en-US" sz="1000" b="1"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79611616"/>
                  </a:ext>
                </a:extLst>
              </a:tr>
              <a:tr h="627305">
                <a:tc>
                  <a:txBody>
                    <a:bodyPr/>
                    <a:lstStyle/>
                    <a:p>
                      <a:pPr algn="ctr" fontAlgn="ctr"/>
                      <a:r>
                        <a:rPr lang="en-US" sz="1000" u="none" strike="noStrike">
                          <a:effectLst/>
                          <a:latin typeface="Arial" panose="020B0604020202020204" pitchFamily="34" charset="0"/>
                          <a:cs typeface="Arial" panose="020B0604020202020204" pitchFamily="34" charset="0"/>
                        </a:rPr>
                        <a:t>data_long &lt;- pivot_longer(data, cols = c(Control, UNC0642), names_to = "Condition", values_to = "Value")</a:t>
                      </a:r>
                      <a:endParaRPr lang="en-US" sz="10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dirty="0" err="1">
                          <a:effectLst/>
                          <a:latin typeface="Arial" panose="020B0604020202020204" pitchFamily="34" charset="0"/>
                          <a:cs typeface="Arial" panose="020B0604020202020204" pitchFamily="34" charset="0"/>
                        </a:rPr>
                        <a:t>Chuyển</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từ</a:t>
                      </a:r>
                      <a:r>
                        <a:rPr lang="en-US" sz="1000" u="none" strike="noStrike" dirty="0">
                          <a:effectLst/>
                          <a:latin typeface="Arial" panose="020B0604020202020204" pitchFamily="34" charset="0"/>
                          <a:cs typeface="Arial" panose="020B0604020202020204" pitchFamily="34" charset="0"/>
                        </a:rPr>
                        <a:t> wide sang long format, </a:t>
                      </a:r>
                      <a:r>
                        <a:rPr lang="en-US" sz="1000" u="none" strike="noStrike" dirty="0" err="1">
                          <a:effectLst/>
                          <a:latin typeface="Arial" panose="020B0604020202020204" pitchFamily="34" charset="0"/>
                          <a:cs typeface="Arial" panose="020B0604020202020204" pitchFamily="34" charset="0"/>
                        </a:rPr>
                        <a:t>gom</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hai</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cột</a:t>
                      </a:r>
                      <a:r>
                        <a:rPr lang="en-US" sz="1000" u="none" strike="noStrike" dirty="0">
                          <a:effectLst/>
                          <a:latin typeface="Arial" panose="020B0604020202020204" pitchFamily="34" charset="0"/>
                          <a:cs typeface="Arial" panose="020B0604020202020204" pitchFamily="34" charset="0"/>
                        </a:rPr>
                        <a:t> Control </a:t>
                      </a:r>
                      <a:r>
                        <a:rPr lang="en-US" sz="1000" u="none" strike="noStrike" dirty="0" err="1">
                          <a:effectLst/>
                          <a:latin typeface="Arial" panose="020B0604020202020204" pitchFamily="34" charset="0"/>
                          <a:cs typeface="Arial" panose="020B0604020202020204" pitchFamily="34" charset="0"/>
                        </a:rPr>
                        <a:t>và</a:t>
                      </a:r>
                      <a:r>
                        <a:rPr lang="en-US" sz="1000" u="none" strike="noStrike" dirty="0">
                          <a:effectLst/>
                          <a:latin typeface="Arial" panose="020B0604020202020204" pitchFamily="34" charset="0"/>
                          <a:cs typeface="Arial" panose="020B0604020202020204" pitchFamily="34" charset="0"/>
                        </a:rPr>
                        <a:t> UNC0642 </a:t>
                      </a:r>
                      <a:r>
                        <a:rPr lang="en-US" sz="1000" u="none" strike="noStrike" dirty="0" err="1">
                          <a:effectLst/>
                          <a:latin typeface="Arial" panose="020B0604020202020204" pitchFamily="34" charset="0"/>
                          <a:cs typeface="Arial" panose="020B0604020202020204" pitchFamily="34" charset="0"/>
                        </a:rPr>
                        <a:t>vào</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cột</a:t>
                      </a:r>
                      <a:r>
                        <a:rPr lang="en-US" sz="1000" u="none" strike="noStrike" dirty="0">
                          <a:effectLst/>
                          <a:latin typeface="Arial" panose="020B0604020202020204" pitchFamily="34" charset="0"/>
                          <a:cs typeface="Arial" panose="020B0604020202020204" pitchFamily="34" charset="0"/>
                        </a:rPr>
                        <a:t> Condition, </a:t>
                      </a:r>
                      <a:r>
                        <a:rPr lang="en-US" sz="1000" u="none" strike="noStrike" dirty="0" err="1">
                          <a:effectLst/>
                          <a:latin typeface="Arial" panose="020B0604020202020204" pitchFamily="34" charset="0"/>
                          <a:cs typeface="Arial" panose="020B0604020202020204" pitchFamily="34" charset="0"/>
                        </a:rPr>
                        <a:t>giá</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trị</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vào</a:t>
                      </a:r>
                      <a:r>
                        <a:rPr lang="en-US" sz="1000" u="none" strike="noStrike" dirty="0">
                          <a:effectLst/>
                          <a:latin typeface="Arial" panose="020B0604020202020204" pitchFamily="34" charset="0"/>
                          <a:cs typeface="Arial" panose="020B0604020202020204" pitchFamily="34" charset="0"/>
                        </a:rPr>
                        <a:t> Value</a:t>
                      </a:r>
                      <a:endParaRPr lang="en-US"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98882577"/>
                  </a:ext>
                </a:extLst>
              </a:tr>
              <a:tr h="540589">
                <a:tc>
                  <a:txBody>
                    <a:bodyPr/>
                    <a:lstStyle/>
                    <a:p>
                      <a:pPr algn="ctr" fontAlgn="ctr"/>
                      <a:r>
                        <a:rPr lang="en-US" sz="1000" u="none" strike="noStrike">
                          <a:effectLst/>
                          <a:latin typeface="Arial" panose="020B0604020202020204" pitchFamily="34" charset="0"/>
                          <a:cs typeface="Arial" panose="020B0604020202020204" pitchFamily="34" charset="0"/>
                        </a:rPr>
                        <a:t>png("figure_6B.png", width = 1400, height = 600, res = 100)</a:t>
                      </a:r>
                      <a:endParaRPr lang="en-US" sz="10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dirty="0">
                          <a:effectLst/>
                          <a:latin typeface="Arial" panose="020B0604020202020204" pitchFamily="34" charset="0"/>
                          <a:cs typeface="Arial" panose="020B0604020202020204" pitchFamily="34" charset="0"/>
                        </a:rPr>
                        <a:t>Khởi tạo ghi đồ họa vào file PNG tên figure_6B.png, kích thước 1400×600 px, độ phân giải 100 DPI</a:t>
                      </a:r>
                      <a:endParaRPr lang="vi-VN"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94840557"/>
                  </a:ext>
                </a:extLst>
              </a:tr>
              <a:tr h="540589">
                <a:tc>
                  <a:txBody>
                    <a:bodyPr/>
                    <a:lstStyle/>
                    <a:p>
                      <a:pPr algn="ctr" fontAlgn="ctr"/>
                      <a:r>
                        <a:rPr lang="en-US" sz="1000" u="none" strike="noStrike" dirty="0" err="1">
                          <a:effectLst/>
                          <a:latin typeface="Arial" panose="020B0604020202020204" pitchFamily="34" charset="0"/>
                          <a:cs typeface="Arial" panose="020B0604020202020204" pitchFamily="34" charset="0"/>
                        </a:rPr>
                        <a:t>ggplot</a:t>
                      </a:r>
                      <a:r>
                        <a:rPr lang="en-US" sz="1000" u="none" strike="noStrike" dirty="0">
                          <a:effectLst/>
                          <a:latin typeface="Arial" panose="020B0604020202020204" pitchFamily="34" charset="0"/>
                          <a:cs typeface="Arial" panose="020B0604020202020204" pitchFamily="34" charset="0"/>
                        </a:rPr>
                        <a:t>(</a:t>
                      </a:r>
                      <a:r>
                        <a:rPr lang="en-US" sz="1000" u="none" strike="noStrike" dirty="0" err="1">
                          <a:effectLst/>
                          <a:latin typeface="Arial" panose="020B0604020202020204" pitchFamily="34" charset="0"/>
                          <a:cs typeface="Arial" panose="020B0604020202020204" pitchFamily="34" charset="0"/>
                        </a:rPr>
                        <a:t>data_long</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aes</a:t>
                      </a:r>
                      <a:r>
                        <a:rPr lang="en-US" sz="1000" u="none" strike="noStrike" dirty="0">
                          <a:effectLst/>
                          <a:latin typeface="Arial" panose="020B0604020202020204" pitchFamily="34" charset="0"/>
                          <a:cs typeface="Arial" panose="020B0604020202020204" pitchFamily="34" charset="0"/>
                        </a:rPr>
                        <a:t>(x = Day, y = Value, color = Condition, </a:t>
                      </a:r>
                      <a:r>
                        <a:rPr lang="en-US" sz="1000" u="none" strike="noStrike" dirty="0" err="1">
                          <a:effectLst/>
                          <a:latin typeface="Arial" panose="020B0604020202020204" pitchFamily="34" charset="0"/>
                          <a:cs typeface="Arial" panose="020B0604020202020204" pitchFamily="34" charset="0"/>
                        </a:rPr>
                        <a:t>linetype</a:t>
                      </a:r>
                      <a:r>
                        <a:rPr lang="en-US" sz="1000" u="none" strike="noStrike" dirty="0">
                          <a:effectLst/>
                          <a:latin typeface="Arial" panose="020B0604020202020204" pitchFamily="34" charset="0"/>
                          <a:cs typeface="Arial" panose="020B0604020202020204" pitchFamily="34" charset="0"/>
                        </a:rPr>
                        <a:t> = Type)) +</a:t>
                      </a:r>
                      <a:endParaRPr lang="en-US" sz="100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a:effectLst/>
                          <a:latin typeface="Arial" panose="020B0604020202020204" pitchFamily="34" charset="0"/>
                          <a:cs typeface="Arial" panose="020B0604020202020204" pitchFamily="34" charset="0"/>
                        </a:rPr>
                        <a:t>Tạo ggplot với: trục X là Day, trục Y là Value, màu phân biệt Condition, kiểu đường phân biệt Type</a:t>
                      </a:r>
                      <a:endParaRPr lang="vi-VN"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50983705"/>
                  </a:ext>
                </a:extLst>
              </a:tr>
              <a:tr h="418203">
                <a:tc>
                  <a:txBody>
                    <a:bodyPr/>
                    <a:lstStyle/>
                    <a:p>
                      <a:pPr algn="ctr" fontAlgn="ctr"/>
                      <a:r>
                        <a:rPr lang="en-US" sz="1000" u="none" strike="noStrike">
                          <a:effectLst/>
                          <a:latin typeface="Arial" panose="020B0604020202020204" pitchFamily="34" charset="0"/>
                          <a:cs typeface="Arial" panose="020B0604020202020204" pitchFamily="34" charset="0"/>
                        </a:rPr>
                        <a:t>geom_line(size = 1) + geom_point(size = 3) +</a:t>
                      </a:r>
                      <a:endParaRPr lang="en-US" sz="10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a:effectLst/>
                          <a:latin typeface="Arial" panose="020B0604020202020204" pitchFamily="34" charset="0"/>
                          <a:cs typeface="Arial" panose="020B0604020202020204" pitchFamily="34" charset="0"/>
                        </a:rPr>
                        <a:t>Vẽ đường nối các điểm (size = 1) và thêm điểm tại mỗi vị trí (size = 3)</a:t>
                      </a:r>
                      <a:endParaRPr lang="vi-VN"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23590887"/>
                  </a:ext>
                </a:extLst>
              </a:tr>
              <a:tr h="209102">
                <a:tc>
                  <a:txBody>
                    <a:bodyPr/>
                    <a:lstStyle/>
                    <a:p>
                      <a:pPr algn="ctr" fontAlgn="ctr"/>
                      <a:r>
                        <a:rPr lang="en-US" sz="1000" u="none" strike="noStrike">
                          <a:effectLst/>
                          <a:latin typeface="Arial" panose="020B0604020202020204" pitchFamily="34" charset="0"/>
                          <a:cs typeface="Arial" panose="020B0604020202020204" pitchFamily="34" charset="0"/>
                        </a:rPr>
                        <a:t>theme_minimal() +</a:t>
                      </a:r>
                      <a:endParaRPr lang="en-US" sz="10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Dùng giao diện tối giản, sạch sẽ</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48346379"/>
                  </a:ext>
                </a:extLst>
              </a:tr>
              <a:tr h="627305">
                <a:tc>
                  <a:txBody>
                    <a:bodyPr/>
                    <a:lstStyle/>
                    <a:p>
                      <a:pPr algn="ctr" fontAlgn="ctr"/>
                      <a:r>
                        <a:rPr lang="en-US" sz="1000" u="none" strike="noStrike" dirty="0">
                          <a:effectLst/>
                          <a:latin typeface="Arial" panose="020B0604020202020204" pitchFamily="34" charset="0"/>
                          <a:cs typeface="Arial" panose="020B0604020202020204" pitchFamily="34" charset="0"/>
                        </a:rPr>
                        <a:t>labs(title = "</a:t>
                      </a:r>
                      <a:r>
                        <a:rPr lang="en-US" sz="1000" u="none" strike="noStrike" dirty="0" err="1">
                          <a:effectLst/>
                          <a:latin typeface="Arial" panose="020B0604020202020204" pitchFamily="34" charset="0"/>
                          <a:cs typeface="Arial" panose="020B0604020202020204" pitchFamily="34" charset="0"/>
                        </a:rPr>
                        <a:t>Hình</a:t>
                      </a:r>
                      <a:r>
                        <a:rPr lang="en-US" sz="1000" u="none" strike="noStrike" dirty="0">
                          <a:effectLst/>
                          <a:latin typeface="Arial" panose="020B0604020202020204" pitchFamily="34" charset="0"/>
                          <a:cs typeface="Arial" panose="020B0604020202020204" pitchFamily="34" charset="0"/>
                        </a:rPr>
                        <a:t> 6B: </a:t>
                      </a:r>
                      <a:r>
                        <a:rPr lang="en-US" sz="1000" u="none" strike="noStrike" dirty="0" err="1">
                          <a:effectLst/>
                          <a:latin typeface="Arial" panose="020B0604020202020204" pitchFamily="34" charset="0"/>
                          <a:cs typeface="Arial" panose="020B0604020202020204" pitchFamily="34" charset="0"/>
                        </a:rPr>
                        <a:t>Tăng</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sinh</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tế</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bào</a:t>
                      </a:r>
                      <a:r>
                        <a:rPr lang="en-US" sz="1000" u="none" strike="noStrike" dirty="0">
                          <a:effectLst/>
                          <a:latin typeface="Arial" panose="020B0604020202020204" pitchFamily="34" charset="0"/>
                          <a:cs typeface="Arial" panose="020B0604020202020204" pitchFamily="34" charset="0"/>
                        </a:rPr>
                        <a:t> (Control vs. UNC0642)", x = "</a:t>
                      </a:r>
                      <a:r>
                        <a:rPr lang="en-US" sz="1000" u="none" strike="noStrike" dirty="0" err="1">
                          <a:effectLst/>
                          <a:latin typeface="Arial" panose="020B0604020202020204" pitchFamily="34" charset="0"/>
                          <a:cs typeface="Arial" panose="020B0604020202020204" pitchFamily="34" charset="0"/>
                        </a:rPr>
                        <a:t>Ngày</a:t>
                      </a:r>
                      <a:r>
                        <a:rPr lang="en-US" sz="1000" u="none" strike="noStrike" dirty="0">
                          <a:effectLst/>
                          <a:latin typeface="Arial" panose="020B0604020202020204" pitchFamily="34" charset="0"/>
                          <a:cs typeface="Arial" panose="020B0604020202020204" pitchFamily="34" charset="0"/>
                        </a:rPr>
                        <a:t>", y = "</a:t>
                      </a:r>
                      <a:r>
                        <a:rPr lang="en-US" sz="1000" u="none" strike="noStrike" dirty="0" err="1">
                          <a:effectLst/>
                          <a:latin typeface="Arial" panose="020B0604020202020204" pitchFamily="34" charset="0"/>
                          <a:cs typeface="Arial" panose="020B0604020202020204" pitchFamily="34" charset="0"/>
                        </a:rPr>
                        <a:t>Mức</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tăng</a:t>
                      </a:r>
                      <a:r>
                        <a:rPr lang="en-US" sz="1000" u="none" strike="noStrike" dirty="0">
                          <a:effectLst/>
                          <a:latin typeface="Arial" panose="020B0604020202020204" pitchFamily="34" charset="0"/>
                          <a:cs typeface="Arial" panose="020B0604020202020204" pitchFamily="34" charset="0"/>
                        </a:rPr>
                        <a:t> </a:t>
                      </a:r>
                      <a:r>
                        <a:rPr lang="en-US" sz="1000" u="none" strike="noStrike" dirty="0" err="1">
                          <a:effectLst/>
                          <a:latin typeface="Arial" panose="020B0604020202020204" pitchFamily="34" charset="0"/>
                          <a:cs typeface="Arial" panose="020B0604020202020204" pitchFamily="34" charset="0"/>
                        </a:rPr>
                        <a:t>sinh</a:t>
                      </a:r>
                      <a:r>
                        <a:rPr lang="en-US" sz="1000" u="none" strike="noStrike" dirty="0">
                          <a:effectLst/>
                          <a:latin typeface="Arial" panose="020B0604020202020204" pitchFamily="34" charset="0"/>
                          <a:cs typeface="Arial" panose="020B0604020202020204" pitchFamily="34" charset="0"/>
                        </a:rPr>
                        <a:t>") +</a:t>
                      </a:r>
                      <a:endParaRPr lang="en-US" sz="1000" b="0" i="0" u="none" strike="noStrike" dirty="0">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Đặt tiêu đề và nhãn trục X (Ngày) – trục Y (Mức tăng sinh)</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40053577"/>
                  </a:ext>
                </a:extLst>
              </a:tr>
              <a:tr h="418203">
                <a:tc>
                  <a:txBody>
                    <a:bodyPr/>
                    <a:lstStyle/>
                    <a:p>
                      <a:pPr algn="ctr" fontAlgn="ctr"/>
                      <a:r>
                        <a:rPr lang="en-US" sz="1000" u="none" strike="noStrike">
                          <a:effectLst/>
                          <a:latin typeface="Arial" panose="020B0604020202020204" pitchFamily="34" charset="0"/>
                          <a:cs typeface="Arial" panose="020B0604020202020204" pitchFamily="34" charset="0"/>
                        </a:rPr>
                        <a:t>theme(legend.position = "right", plot.title = element_text(hjust = 0.5))</a:t>
                      </a:r>
                      <a:endParaRPr lang="en-US" sz="10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a:effectLst/>
                          <a:latin typeface="Arial" panose="020B0604020202020204" pitchFamily="34" charset="0"/>
                          <a:cs typeface="Arial" panose="020B0604020202020204" pitchFamily="34" charset="0"/>
                        </a:rPr>
                        <a:t>Đưa chú giải (legend) sang phải, căn giữa tiêu đề</a:t>
                      </a:r>
                      <a:endParaRPr lang="vi-VN"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35524986"/>
                  </a:ext>
                </a:extLst>
              </a:tr>
              <a:tr h="209102">
                <a:tc>
                  <a:txBody>
                    <a:bodyPr/>
                    <a:lstStyle/>
                    <a:p>
                      <a:pPr algn="ctr" fontAlgn="ctr"/>
                      <a:r>
                        <a:rPr lang="en-US" sz="1000" u="none" strike="noStrike">
                          <a:effectLst/>
                          <a:latin typeface="Arial" panose="020B0604020202020204" pitchFamily="34" charset="0"/>
                          <a:cs typeface="Arial" panose="020B0604020202020204" pitchFamily="34" charset="0"/>
                        </a:rPr>
                        <a:t>dev.off()</a:t>
                      </a:r>
                      <a:endParaRPr lang="en-US" sz="10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u="none" strike="noStrike">
                          <a:effectLst/>
                          <a:latin typeface="Arial" panose="020B0604020202020204" pitchFamily="34" charset="0"/>
                          <a:cs typeface="Arial" panose="020B0604020202020204" pitchFamily="34" charset="0"/>
                        </a:rPr>
                        <a:t>Đóng thiết bị đồ họa, hoàn tất ghi file PNG</a:t>
                      </a:r>
                      <a:endParaRPr lang="en-US" sz="1000" b="0" i="0" u="none" strike="noStrike">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4693135"/>
                  </a:ext>
                </a:extLst>
              </a:tr>
              <a:tr h="481549">
                <a:tc>
                  <a:txBody>
                    <a:bodyPr/>
                    <a:lstStyle/>
                    <a:p>
                      <a:pPr algn="ctr" fontAlgn="ctr"/>
                      <a:r>
                        <a:rPr lang="vi-VN" sz="1000" u="none" strike="noStrike">
                          <a:effectLst/>
                          <a:latin typeface="Arial" panose="020B0604020202020204" pitchFamily="34" charset="0"/>
                          <a:cs typeface="Arial" panose="020B0604020202020204" pitchFamily="34" charset="0"/>
                        </a:rPr>
                        <a:t>cat("Biểu đồ đã được lưu tại:", file.path(getwd(), "figure_6B.png"), "\n")</a:t>
                      </a:r>
                      <a:endParaRPr lang="vi-VN" sz="1000" b="0" i="0" u="none" strike="noStrike">
                        <a:solidFill>
                          <a:srgbClr val="000000"/>
                        </a:solidFill>
                        <a:effectLst/>
                        <a:latin typeface="Arial" panose="020B0604020202020204" pitchFamily="34" charset="0"/>
                        <a:ea typeface="Arial Unicode MS" panose="020B0604020202020204" pitchFamily="34" charset="-128"/>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vi-VN" sz="1000" u="none" strike="noStrike" dirty="0">
                          <a:effectLst/>
                          <a:latin typeface="Arial" panose="020B0604020202020204" pitchFamily="34" charset="0"/>
                          <a:cs typeface="Arial" panose="020B0604020202020204" pitchFamily="34" charset="0"/>
                        </a:rPr>
                        <a:t>In thông báo ra console cho biết đường dẫn tới file figure_6B.png đã lưu</a:t>
                      </a:r>
                      <a:endParaRPr lang="vi-VN" sz="10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03918604"/>
                  </a:ext>
                </a:extLst>
              </a:tr>
            </a:tbl>
          </a:graphicData>
        </a:graphic>
      </p:graphicFrame>
      <p:sp>
        <p:nvSpPr>
          <p:cNvPr id="5" name="TextBox 4">
            <a:extLst>
              <a:ext uri="{FF2B5EF4-FFF2-40B4-BE49-F238E27FC236}">
                <a16:creationId xmlns:a16="http://schemas.microsoft.com/office/drawing/2014/main" xmlns="" id="{39820491-9B8C-572D-CFB5-CDBE5F710454}"/>
              </a:ext>
            </a:extLst>
          </p:cNvPr>
          <p:cNvSpPr txBox="1"/>
          <p:nvPr/>
        </p:nvSpPr>
        <p:spPr>
          <a:xfrm>
            <a:off x="0" y="857250"/>
            <a:ext cx="4874078" cy="5078313"/>
          </a:xfrm>
          <a:prstGeom prst="rect">
            <a:avLst/>
          </a:prstGeom>
          <a:noFill/>
        </p:spPr>
        <p:txBody>
          <a:bodyPr wrap="square">
            <a:spAutoFit/>
          </a:bodyPr>
          <a:lstStyle/>
          <a:p>
            <a:r>
              <a:rPr lang="x-none" sz="1350" dirty="0">
                <a:latin typeface="Arial" panose="020B0604020202020204" pitchFamily="34" charset="0"/>
                <a:cs typeface="Arial" panose="020B0604020202020204" pitchFamily="34" charset="0"/>
              </a:rPr>
              <a:t># 4. Chuyển dữ liệu sang định dạng dài</a:t>
            </a:r>
          </a:p>
          <a:p>
            <a:r>
              <a:rPr lang="x-none" sz="1350" dirty="0">
                <a:latin typeface="Arial" panose="020B0604020202020204" pitchFamily="34" charset="0"/>
                <a:cs typeface="Arial" panose="020B0604020202020204" pitchFamily="34" charset="0"/>
              </a:rPr>
              <a:t>data_long &lt;- pivot_longer(</a:t>
            </a:r>
          </a:p>
          <a:p>
            <a:r>
              <a:rPr lang="x-none" sz="1350" dirty="0">
                <a:latin typeface="Arial" panose="020B0604020202020204" pitchFamily="34" charset="0"/>
                <a:cs typeface="Arial" panose="020B0604020202020204" pitchFamily="34" charset="0"/>
              </a:rPr>
              <a:t>  data,</a:t>
            </a:r>
          </a:p>
          <a:p>
            <a:r>
              <a:rPr lang="x-none" sz="1350" dirty="0">
                <a:latin typeface="Arial" panose="020B0604020202020204" pitchFamily="34" charset="0"/>
                <a:cs typeface="Arial" panose="020B0604020202020204" pitchFamily="34" charset="0"/>
              </a:rPr>
              <a:t>  cols = c(Control, UNC0642),</a:t>
            </a:r>
          </a:p>
          <a:p>
            <a:r>
              <a:rPr lang="x-none" sz="1350" dirty="0">
                <a:latin typeface="Arial" panose="020B0604020202020204" pitchFamily="34" charset="0"/>
                <a:cs typeface="Arial" panose="020B0604020202020204" pitchFamily="34" charset="0"/>
              </a:rPr>
              <a:t>  names_to = "Condition",</a:t>
            </a:r>
          </a:p>
          <a:p>
            <a:r>
              <a:rPr lang="x-none" sz="1350" dirty="0">
                <a:latin typeface="Arial" panose="020B0604020202020204" pitchFamily="34" charset="0"/>
                <a:cs typeface="Arial" panose="020B0604020202020204" pitchFamily="34" charset="0"/>
              </a:rPr>
              <a:t>  values_to = "Value"</a:t>
            </a:r>
          </a:p>
          <a:p>
            <a:r>
              <a:rPr lang="x-none" sz="1350" dirty="0">
                <a:latin typeface="Arial" panose="020B0604020202020204" pitchFamily="34" charset="0"/>
                <a:cs typeface="Arial" panose="020B0604020202020204" pitchFamily="34" charset="0"/>
              </a:rPr>
              <a:t>)</a:t>
            </a:r>
          </a:p>
          <a:p>
            <a:r>
              <a:rPr lang="x-none" sz="1350" dirty="0">
                <a:latin typeface="Arial" panose="020B0604020202020204" pitchFamily="34" charset="0"/>
                <a:cs typeface="Arial" panose="020B0604020202020204" pitchFamily="34" charset="0"/>
              </a:rPr>
              <a:t># 5. Tạo biểu đồ đường</a:t>
            </a:r>
          </a:p>
          <a:p>
            <a:r>
              <a:rPr lang="x-none" sz="1350" dirty="0">
                <a:latin typeface="Arial" panose="020B0604020202020204" pitchFamily="34" charset="0"/>
                <a:cs typeface="Arial" panose="020B0604020202020204" pitchFamily="34" charset="0"/>
              </a:rPr>
              <a:t>png("figure_6B.png", width = 1400, height = 600, res = 100)</a:t>
            </a:r>
          </a:p>
          <a:p>
            <a:r>
              <a:rPr lang="x-none" sz="1350" dirty="0">
                <a:latin typeface="Arial" panose="020B0604020202020204" pitchFamily="34" charset="0"/>
                <a:cs typeface="Arial" panose="020B0604020202020204" pitchFamily="34" charset="0"/>
              </a:rPr>
              <a:t>ggplot(data_long, aes(x = Day, y = Value, color = Condition, linetype = Type)) +</a:t>
            </a:r>
          </a:p>
          <a:p>
            <a:r>
              <a:rPr lang="x-none" sz="1350" dirty="0">
                <a:latin typeface="Arial" panose="020B0604020202020204" pitchFamily="34" charset="0"/>
                <a:cs typeface="Arial" panose="020B0604020202020204" pitchFamily="34" charset="0"/>
              </a:rPr>
              <a:t>  geom_line(size = 1) +</a:t>
            </a:r>
          </a:p>
          <a:p>
            <a:r>
              <a:rPr lang="x-none" sz="1350" dirty="0">
                <a:latin typeface="Arial" panose="020B0604020202020204" pitchFamily="34" charset="0"/>
                <a:cs typeface="Arial" panose="020B0604020202020204" pitchFamily="34" charset="0"/>
              </a:rPr>
              <a:t>  geom_point(size = 3) +</a:t>
            </a:r>
          </a:p>
          <a:p>
            <a:r>
              <a:rPr lang="x-none" sz="1350" dirty="0">
                <a:latin typeface="Arial" panose="020B0604020202020204" pitchFamily="34" charset="0"/>
                <a:cs typeface="Arial" panose="020B0604020202020204" pitchFamily="34" charset="0"/>
              </a:rPr>
              <a:t>  theme_minimal() +</a:t>
            </a:r>
          </a:p>
          <a:p>
            <a:r>
              <a:rPr lang="x-none" sz="1350" dirty="0">
                <a:latin typeface="Arial" panose="020B0604020202020204" pitchFamily="34" charset="0"/>
                <a:cs typeface="Arial" panose="020B0604020202020204" pitchFamily="34" charset="0"/>
              </a:rPr>
              <a:t>  labs(</a:t>
            </a:r>
          </a:p>
          <a:p>
            <a:r>
              <a:rPr lang="x-none" sz="1350" dirty="0">
                <a:latin typeface="Arial" panose="020B0604020202020204" pitchFamily="34" charset="0"/>
                <a:cs typeface="Arial" panose="020B0604020202020204" pitchFamily="34" charset="0"/>
              </a:rPr>
              <a:t>    title = "Hình 6B: Tăng sinh tế bào (Control vs. UNC0642)",</a:t>
            </a:r>
          </a:p>
          <a:p>
            <a:r>
              <a:rPr lang="x-none" sz="1350" dirty="0">
                <a:latin typeface="Arial" panose="020B0604020202020204" pitchFamily="34" charset="0"/>
                <a:cs typeface="Arial" panose="020B0604020202020204" pitchFamily="34" charset="0"/>
              </a:rPr>
              <a:t>    x = "Ngày",</a:t>
            </a:r>
          </a:p>
          <a:p>
            <a:r>
              <a:rPr lang="x-none" sz="1350" dirty="0">
                <a:latin typeface="Arial" panose="020B0604020202020204" pitchFamily="34" charset="0"/>
                <a:cs typeface="Arial" panose="020B0604020202020204" pitchFamily="34" charset="0"/>
              </a:rPr>
              <a:t>    y = "Mức tăng sinh"</a:t>
            </a:r>
          </a:p>
          <a:p>
            <a:r>
              <a:rPr lang="x-none" sz="1350" dirty="0">
                <a:latin typeface="Arial" panose="020B0604020202020204" pitchFamily="34" charset="0"/>
                <a:cs typeface="Arial" panose="020B0604020202020204" pitchFamily="34" charset="0"/>
              </a:rPr>
              <a:t>  ) +</a:t>
            </a:r>
          </a:p>
          <a:p>
            <a:r>
              <a:rPr lang="x-none" sz="1350" dirty="0">
                <a:latin typeface="Arial" panose="020B0604020202020204" pitchFamily="34" charset="0"/>
                <a:cs typeface="Arial" panose="020B0604020202020204" pitchFamily="34" charset="0"/>
              </a:rPr>
              <a:t>  theme(</a:t>
            </a:r>
          </a:p>
          <a:p>
            <a:r>
              <a:rPr lang="x-none" sz="1350" dirty="0">
                <a:latin typeface="Arial" panose="020B0604020202020204" pitchFamily="34" charset="0"/>
                <a:cs typeface="Arial" panose="020B0604020202020204" pitchFamily="34" charset="0"/>
              </a:rPr>
              <a:t>    legend.position = "right",</a:t>
            </a:r>
          </a:p>
          <a:p>
            <a:r>
              <a:rPr lang="x-none" sz="1350" dirty="0">
                <a:latin typeface="Arial" panose="020B0604020202020204" pitchFamily="34" charset="0"/>
                <a:cs typeface="Arial" panose="020B0604020202020204" pitchFamily="34" charset="0"/>
              </a:rPr>
              <a:t>    plot.title = element_text(hjust = 0.5)</a:t>
            </a:r>
          </a:p>
          <a:p>
            <a:r>
              <a:rPr lang="x-none" sz="1350" dirty="0">
                <a:latin typeface="Arial" panose="020B0604020202020204" pitchFamily="34" charset="0"/>
                <a:cs typeface="Arial" panose="020B0604020202020204" pitchFamily="34" charset="0"/>
              </a:rPr>
              <a:t>  )</a:t>
            </a:r>
          </a:p>
          <a:p>
            <a:r>
              <a:rPr lang="x-none" sz="1350" dirty="0">
                <a:latin typeface="Arial" panose="020B0604020202020204" pitchFamily="34" charset="0"/>
                <a:cs typeface="Arial" panose="020B0604020202020204" pitchFamily="34" charset="0"/>
              </a:rPr>
              <a:t>dev.off()</a:t>
            </a:r>
          </a:p>
        </p:txBody>
      </p:sp>
      <p:sp>
        <p:nvSpPr>
          <p:cNvPr id="8" name="TextBox 7">
            <a:extLst>
              <a:ext uri="{FF2B5EF4-FFF2-40B4-BE49-F238E27FC236}">
                <a16:creationId xmlns:a16="http://schemas.microsoft.com/office/drawing/2014/main" xmlns="" id="{7B5615F6-9299-247F-0764-DA5916B67522}"/>
              </a:ext>
            </a:extLst>
          </p:cNvPr>
          <p:cNvSpPr txBox="1"/>
          <p:nvPr/>
        </p:nvSpPr>
        <p:spPr>
          <a:xfrm>
            <a:off x="4874078" y="5160244"/>
            <a:ext cx="4604657" cy="715581"/>
          </a:xfrm>
          <a:prstGeom prst="rect">
            <a:avLst/>
          </a:prstGeom>
          <a:noFill/>
        </p:spPr>
        <p:txBody>
          <a:bodyPr wrap="square">
            <a:spAutoFit/>
          </a:bodyPr>
          <a:lstStyle/>
          <a:p>
            <a:r>
              <a:rPr lang="x-none" sz="1350" dirty="0">
                <a:latin typeface="Arial" panose="020B0604020202020204" pitchFamily="34" charset="0"/>
                <a:cs typeface="Arial" panose="020B0604020202020204" pitchFamily="34" charset="0"/>
              </a:rPr>
              <a:t># 6. Thông báo hoàn thành</a:t>
            </a:r>
          </a:p>
          <a:p>
            <a:r>
              <a:rPr lang="x-none" sz="1350" dirty="0">
                <a:latin typeface="Arial" panose="020B0604020202020204" pitchFamily="34" charset="0"/>
                <a:cs typeface="Arial" panose="020B0604020202020204" pitchFamily="34" charset="0"/>
              </a:rPr>
              <a:t>cat("Biểu đồ đã được lưu tại:", file.path(getwd(), "figure_6B.png"), "\n")</a:t>
            </a:r>
          </a:p>
        </p:txBody>
      </p:sp>
    </p:spTree>
    <p:extLst>
      <p:ext uri="{BB962C8B-B14F-4D97-AF65-F5344CB8AC3E}">
        <p14:creationId xmlns:p14="http://schemas.microsoft.com/office/powerpoint/2010/main" val="27018606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EE573140-DFFC-8C49-FE22-B416ED152483}"/>
              </a:ext>
            </a:extLst>
          </p:cNvPr>
          <p:cNvPicPr>
            <a:picLocks noChangeAspect="1"/>
          </p:cNvPicPr>
          <p:nvPr/>
        </p:nvPicPr>
        <p:blipFill>
          <a:blip r:embed="rId3"/>
          <a:stretch>
            <a:fillRect/>
          </a:stretch>
        </p:blipFill>
        <p:spPr>
          <a:xfrm>
            <a:off x="0" y="1020536"/>
            <a:ext cx="9120190" cy="3908652"/>
          </a:xfrm>
          <a:prstGeom prst="rect">
            <a:avLst/>
          </a:prstGeom>
        </p:spPr>
      </p:pic>
    </p:spTree>
    <p:extLst>
      <p:ext uri="{BB962C8B-B14F-4D97-AF65-F5344CB8AC3E}">
        <p14:creationId xmlns:p14="http://schemas.microsoft.com/office/powerpoint/2010/main" val="16375291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FA177C80-3E49-FBFD-C16C-6FC60836312A}"/>
              </a:ext>
            </a:extLst>
          </p:cNvPr>
          <p:cNvGraphicFramePr>
            <a:graphicFrameLocks noGrp="1"/>
          </p:cNvGraphicFramePr>
          <p:nvPr>
            <p:extLst>
              <p:ext uri="{D42A27DB-BD31-4B8C-83A1-F6EECF244321}">
                <p14:modId xmlns:p14="http://schemas.microsoft.com/office/powerpoint/2010/main" val="4114530547"/>
              </p:ext>
            </p:extLst>
          </p:nvPr>
        </p:nvGraphicFramePr>
        <p:xfrm>
          <a:off x="859317" y="473900"/>
          <a:ext cx="7436385" cy="4307422"/>
        </p:xfrm>
        <a:graphic>
          <a:graphicData uri="http://schemas.openxmlformats.org/drawingml/2006/table">
            <a:tbl>
              <a:tblPr/>
              <a:tblGrid>
                <a:gridCol w="2478795">
                  <a:extLst>
                    <a:ext uri="{9D8B030D-6E8A-4147-A177-3AD203B41FA5}">
                      <a16:colId xmlns:a16="http://schemas.microsoft.com/office/drawing/2014/main" xmlns="" val="1751541301"/>
                    </a:ext>
                  </a:extLst>
                </a:gridCol>
                <a:gridCol w="2478795">
                  <a:extLst>
                    <a:ext uri="{9D8B030D-6E8A-4147-A177-3AD203B41FA5}">
                      <a16:colId xmlns:a16="http://schemas.microsoft.com/office/drawing/2014/main" xmlns="" val="3498765868"/>
                    </a:ext>
                  </a:extLst>
                </a:gridCol>
                <a:gridCol w="2478795">
                  <a:extLst>
                    <a:ext uri="{9D8B030D-6E8A-4147-A177-3AD203B41FA5}">
                      <a16:colId xmlns:a16="http://schemas.microsoft.com/office/drawing/2014/main" xmlns="" val="124054414"/>
                    </a:ext>
                  </a:extLst>
                </a:gridCol>
              </a:tblGrid>
              <a:tr h="688162">
                <a:tc>
                  <a:txBody>
                    <a:bodyPr/>
                    <a:lstStyle/>
                    <a:p>
                      <a:r>
                        <a:rPr lang="en-US" sz="1600" b="1" dirty="0" err="1">
                          <a:latin typeface="Arial" panose="020B0604020202020204" pitchFamily="34" charset="0"/>
                          <a:cs typeface="Arial" panose="020B0604020202020204" pitchFamily="34" charset="0"/>
                        </a:rPr>
                        <a:t>Dấu</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hiệu</a:t>
                      </a:r>
                      <a:endParaRPr lang="en-US" sz="1600" b="1"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600" b="1" dirty="0">
                          <a:latin typeface="Arial" panose="020B0604020202020204" pitchFamily="34" charset="0"/>
                          <a:cs typeface="Arial" panose="020B0604020202020204" pitchFamily="34" charset="0"/>
                        </a:rPr>
                        <a:t>Xu hướng theo giai đoạn ung thư</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dirty="0" err="1">
                          <a:latin typeface="Arial" panose="020B0604020202020204" pitchFamily="34" charset="0"/>
                          <a:cs typeface="Arial" panose="020B0604020202020204" pitchFamily="34" charset="0"/>
                        </a:rPr>
                        <a:t>Gợi</a:t>
                      </a:r>
                      <a:r>
                        <a:rPr lang="en-US" sz="1600" b="1" dirty="0">
                          <a:latin typeface="Arial" panose="020B0604020202020204" pitchFamily="34" charset="0"/>
                          <a:cs typeface="Arial" panose="020B0604020202020204" pitchFamily="34" charset="0"/>
                        </a:rPr>
                        <a:t> ý</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69682238"/>
                  </a:ext>
                </a:extLst>
              </a:tr>
              <a:tr h="688162">
                <a:tc>
                  <a:txBody>
                    <a:bodyPr/>
                    <a:lstStyle/>
                    <a:p>
                      <a:r>
                        <a:rPr lang="en-US" sz="1600" b="1">
                          <a:latin typeface="Arial" panose="020B0604020202020204" pitchFamily="34" charset="0"/>
                          <a:cs typeface="Arial" panose="020B0604020202020204" pitchFamily="34" charset="0"/>
                        </a:rPr>
                        <a:t>H3K18ac</a:t>
                      </a: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G9a</a:t>
                      </a: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DNMT1</a:t>
                      </a: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EZH2</a:t>
                      </a:r>
                      <a:endParaRPr lang="en-US" sz="16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err="1">
                          <a:latin typeface="Arial" panose="020B0604020202020204" pitchFamily="34" charset="0"/>
                          <a:cs typeface="Arial" panose="020B0604020202020204" pitchFamily="34" charset="0"/>
                        </a:rPr>
                        <a:t>Tăng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mạnh</a:t>
                      </a:r>
                      <a:r>
                        <a:rPr lang="en-US" sz="1600" dirty="0">
                          <a:latin typeface="Arial" panose="020B0604020202020204" pitchFamily="34" charset="0"/>
                          <a:cs typeface="Arial" panose="020B0604020202020204" pitchFamily="34" charset="0"/>
                        </a:rPr>
                        <a:t> ở grade 3, T4, N2, stage III</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600" dirty="0">
                          <a:latin typeface="Arial" panose="020B0604020202020204" pitchFamily="34" charset="0"/>
                          <a:cs typeface="Arial" panose="020B0604020202020204" pitchFamily="34" charset="0"/>
                        </a:rPr>
                        <a:t>Có thể thúc đẩy ung thư phát triển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31744275"/>
                  </a:ext>
                </a:extLst>
              </a:tr>
              <a:tr h="688162">
                <a:tc>
                  <a:txBody>
                    <a:bodyPr/>
                    <a:lstStyle/>
                    <a:p>
                      <a:r>
                        <a:rPr lang="en-US" sz="1600" b="1" dirty="0">
                          <a:latin typeface="Arial" panose="020B0604020202020204" pitchFamily="34" charset="0"/>
                          <a:cs typeface="Arial" panose="020B0604020202020204" pitchFamily="34" charset="0"/>
                        </a:rPr>
                        <a:t>H3K4me2</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H3K79me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NSD1</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SMYD2</a:t>
                      </a:r>
                      <a:endParaRPr lang="en-US" sz="16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latin typeface="Arial" panose="020B0604020202020204" pitchFamily="34" charset="0"/>
                          <a:cs typeface="Arial" panose="020B0604020202020204" pitchFamily="34" charset="0"/>
                        </a:rPr>
                        <a:t>Tăng từ từ</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600">
                          <a:latin typeface="Arial" panose="020B0604020202020204" pitchFamily="34" charset="0"/>
                          <a:cs typeface="Arial" panose="020B0604020202020204" pitchFamily="34" charset="0"/>
                        </a:rPr>
                        <a:t>Liên quan đến tiến triển ung thư</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88637516"/>
                  </a:ext>
                </a:extLst>
              </a:tr>
              <a:tr h="688162">
                <a:tc>
                  <a:txBody>
                    <a:bodyPr/>
                    <a:lstStyle/>
                    <a:p>
                      <a:r>
                        <a:rPr lang="en-US" sz="1600" b="1">
                          <a:latin typeface="Arial" panose="020B0604020202020204" pitchFamily="34" charset="0"/>
                          <a:cs typeface="Arial" panose="020B0604020202020204" pitchFamily="34" charset="0"/>
                        </a:rPr>
                        <a:t>H3K9me2</a:t>
                      </a:r>
                      <a:endParaRPr lang="en-US" sz="16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600">
                          <a:latin typeface="Arial" panose="020B0604020202020204" pitchFamily="34" charset="0"/>
                          <a:cs typeface="Arial" panose="020B0604020202020204" pitchFamily="34" charset="0"/>
                        </a:rPr>
                        <a:t>Giảm khi bệnh nặng hơn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600">
                          <a:latin typeface="Arial" panose="020B0604020202020204" pitchFamily="34" charset="0"/>
                          <a:cs typeface="Arial" panose="020B0604020202020204" pitchFamily="34" charset="0"/>
                        </a:rPr>
                        <a:t>Có thể bị mất trong ung thư nặng</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9291709"/>
                  </a:ext>
                </a:extLst>
              </a:tr>
              <a:tr h="917142">
                <a:tc>
                  <a:txBody>
                    <a:bodyPr/>
                    <a:lstStyle/>
                    <a:p>
                      <a:r>
                        <a:rPr lang="en-US" sz="1600" b="1">
                          <a:latin typeface="Arial" panose="020B0604020202020204" pitchFamily="34" charset="0"/>
                          <a:cs typeface="Arial" panose="020B0604020202020204" pitchFamily="34" charset="0"/>
                        </a:rPr>
                        <a:t>H4K12ac</a:t>
                      </a: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H3K27ac</a:t>
                      </a:r>
                      <a:endParaRPr lang="en-US" sz="16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600">
                          <a:latin typeface="Arial" panose="020B0604020202020204" pitchFamily="34" charset="0"/>
                          <a:cs typeface="Arial" panose="020B0604020202020204" pitchFamily="34" charset="0"/>
                        </a:rPr>
                        <a:t>Tăng sớm nhưng ổn định hoặc giảm nhẹ về sau</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latin typeface="Arial" panose="020B0604020202020204" pitchFamily="34" charset="0"/>
                          <a:cs typeface="Arial" panose="020B0604020202020204" pitchFamily="34" charset="0"/>
                        </a:rPr>
                        <a:t>Có thể quan trọng ở giai đoạn sớm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41633392"/>
                  </a:ext>
                </a:extLst>
              </a:tr>
              <a:tr h="637632">
                <a:tc>
                  <a:txBody>
                    <a:bodyPr/>
                    <a:lstStyle/>
                    <a:p>
                      <a:r>
                        <a:rPr lang="en-US" sz="1600" b="1">
                          <a:latin typeface="Arial" panose="020B0604020202020204" pitchFamily="34" charset="0"/>
                          <a:cs typeface="Arial" panose="020B0604020202020204" pitchFamily="34" charset="0"/>
                        </a:rPr>
                        <a:t>KDM3A</a:t>
                      </a:r>
                      <a:endParaRPr lang="en-US" sz="160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latin typeface="Arial" panose="020B0604020202020204" pitchFamily="34" charset="0"/>
                          <a:cs typeface="Arial" panose="020B0604020202020204" pitchFamily="34" charset="0"/>
                        </a:rPr>
                        <a:t>Ít thay đổi</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err="1">
                          <a:latin typeface="Arial" panose="020B0604020202020204" pitchFamily="34" charset="0"/>
                          <a:cs typeface="Arial" panose="020B0604020202020204" pitchFamily="34" charset="0"/>
                        </a:rPr>
                        <a:t>Có</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không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liên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quan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nhiều</a:t>
                      </a:r>
                      <a:endParaRPr lang="en-US" sz="16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458915301"/>
                  </a:ext>
                </a:extLst>
              </a:tr>
            </a:tbl>
          </a:graphicData>
        </a:graphic>
      </p:graphicFrame>
      <p:sp>
        <p:nvSpPr>
          <p:cNvPr id="6" name="TextBox 5">
            <a:extLst>
              <a:ext uri="{FF2B5EF4-FFF2-40B4-BE49-F238E27FC236}">
                <a16:creationId xmlns:a16="http://schemas.microsoft.com/office/drawing/2014/main" xmlns="" id="{22B03D82-FAB8-8F0C-7D8E-2A1FF84E9969}"/>
              </a:ext>
            </a:extLst>
          </p:cNvPr>
          <p:cNvSpPr txBox="1"/>
          <p:nvPr/>
        </p:nvSpPr>
        <p:spPr>
          <a:xfrm>
            <a:off x="200025" y="5143184"/>
            <a:ext cx="8829675" cy="1200329"/>
          </a:xfrm>
          <a:prstGeom prst="rect">
            <a:avLst/>
          </a:prstGeom>
          <a:noFill/>
        </p:spPr>
        <p:txBody>
          <a:bodyPr wrap="square">
            <a:spAutoFit/>
          </a:bodyPr>
          <a:lstStyle/>
          <a:p>
            <a:pPr algn="l">
              <a:buFont typeface="Arial" panose="020B0604020202020204" pitchFamily="34" charset="0"/>
              <a:buChar char="•"/>
            </a:pPr>
            <a:r>
              <a:rPr lang="en-US" dirty="0" smtClean="0">
                <a:solidFill>
                  <a:srgbClr val="000000"/>
                </a:solidFill>
                <a:latin typeface="Arial" panose="020B0604020202020204" pitchFamily="34" charset="0"/>
                <a:cs typeface="Arial" panose="020B0604020202020204" pitchFamily="34" charset="0"/>
              </a:rPr>
              <a:t> </a:t>
            </a:r>
            <a:r>
              <a:rPr lang="vi-VN" dirty="0" smtClean="0">
                <a:solidFill>
                  <a:srgbClr val="000000"/>
                </a:solidFill>
                <a:latin typeface="Arial" panose="020B0604020202020204" pitchFamily="34" charset="0"/>
                <a:cs typeface="Arial" panose="020B0604020202020204" pitchFamily="34" charset="0"/>
              </a:rPr>
              <a:t>Các </a:t>
            </a:r>
            <a:r>
              <a:rPr lang="vi-VN" dirty="0">
                <a:solidFill>
                  <a:srgbClr val="000000"/>
                </a:solidFill>
                <a:latin typeface="Arial" panose="020B0604020202020204" pitchFamily="34" charset="0"/>
                <a:cs typeface="Arial" panose="020B0604020202020204" pitchFamily="34" charset="0"/>
              </a:rPr>
              <a:t>dấu epigenetic như </a:t>
            </a:r>
            <a:r>
              <a:rPr lang="vi-VN" b="1" dirty="0">
                <a:solidFill>
                  <a:srgbClr val="000000"/>
                </a:solidFill>
                <a:latin typeface="Arial" panose="020B0604020202020204" pitchFamily="34" charset="0"/>
                <a:cs typeface="Arial" panose="020B0604020202020204" pitchFamily="34" charset="0"/>
              </a:rPr>
              <a:t>H3K18ac, G9a, EZH2</a:t>
            </a:r>
            <a:r>
              <a:rPr lang="vi-VN" dirty="0">
                <a:solidFill>
                  <a:srgbClr val="000000"/>
                </a:solidFill>
                <a:latin typeface="Arial" panose="020B0604020202020204" pitchFamily="34" charset="0"/>
                <a:cs typeface="Arial" panose="020B0604020202020204" pitchFamily="34" charset="0"/>
              </a:rPr>
              <a:t> tăng rõ rệt khi ung thư nặng hơn.</a:t>
            </a:r>
          </a:p>
          <a:p>
            <a:pPr algn="l">
              <a:buFont typeface="Arial" panose="020B0604020202020204" pitchFamily="34" charset="0"/>
              <a:buChar char="•"/>
            </a:pPr>
            <a:r>
              <a:rPr lang="en-US" dirty="0" smtClean="0">
                <a:solidFill>
                  <a:srgbClr val="000000"/>
                </a:solidFill>
                <a:latin typeface="Arial" panose="020B0604020202020204" pitchFamily="34" charset="0"/>
                <a:cs typeface="Arial" panose="020B0604020202020204" pitchFamily="34" charset="0"/>
              </a:rPr>
              <a:t> </a:t>
            </a:r>
            <a:r>
              <a:rPr lang="vi-VN" dirty="0" smtClean="0">
                <a:solidFill>
                  <a:srgbClr val="000000"/>
                </a:solidFill>
                <a:latin typeface="Arial" panose="020B0604020202020204" pitchFamily="34" charset="0"/>
                <a:cs typeface="Arial" panose="020B0604020202020204" pitchFamily="34" charset="0"/>
              </a:rPr>
              <a:t>Một </a:t>
            </a:r>
            <a:r>
              <a:rPr lang="vi-VN" dirty="0">
                <a:solidFill>
                  <a:srgbClr val="000000"/>
                </a:solidFill>
                <a:latin typeface="Arial" panose="020B0604020202020204" pitchFamily="34" charset="0"/>
                <a:cs typeface="Arial" panose="020B0604020202020204" pitchFamily="34" charset="0"/>
              </a:rPr>
              <a:t>số dấu như </a:t>
            </a:r>
            <a:r>
              <a:rPr lang="vi-VN" b="1" dirty="0">
                <a:solidFill>
                  <a:srgbClr val="000000"/>
                </a:solidFill>
                <a:latin typeface="Arial" panose="020B0604020202020204" pitchFamily="34" charset="0"/>
                <a:cs typeface="Arial" panose="020B0604020202020204" pitchFamily="34" charset="0"/>
              </a:rPr>
              <a:t>H3K9me2</a:t>
            </a:r>
            <a:r>
              <a:rPr lang="vi-VN" dirty="0">
                <a:solidFill>
                  <a:srgbClr val="000000"/>
                </a:solidFill>
                <a:latin typeface="Arial" panose="020B0604020202020204" pitchFamily="34" charset="0"/>
                <a:cs typeface="Arial" panose="020B0604020202020204" pitchFamily="34" charset="0"/>
              </a:rPr>
              <a:t> giảm đi → có thể mất hoạt tính ức chế ung thư.</a:t>
            </a:r>
          </a:p>
          <a:p>
            <a:pPr algn="l">
              <a:buFont typeface="Arial" panose="020B0604020202020204" pitchFamily="34" charset="0"/>
              <a:buChar char="•"/>
            </a:pPr>
            <a:r>
              <a:rPr lang="en-US" dirty="0" smtClean="0">
                <a:solidFill>
                  <a:srgbClr val="000000"/>
                </a:solidFill>
                <a:latin typeface="Arial" panose="020B0604020202020204" pitchFamily="34" charset="0"/>
                <a:cs typeface="Arial" panose="020B0604020202020204" pitchFamily="34" charset="0"/>
              </a:rPr>
              <a:t> </a:t>
            </a:r>
            <a:r>
              <a:rPr lang="vi-VN" dirty="0" smtClean="0">
                <a:solidFill>
                  <a:srgbClr val="000000"/>
                </a:solidFill>
                <a:latin typeface="Arial" panose="020B0604020202020204" pitchFamily="34" charset="0"/>
                <a:cs typeface="Arial" panose="020B0604020202020204" pitchFamily="34" charset="0"/>
              </a:rPr>
              <a:t>Biểu </a:t>
            </a:r>
            <a:r>
              <a:rPr lang="vi-VN" dirty="0">
                <a:solidFill>
                  <a:srgbClr val="000000"/>
                </a:solidFill>
                <a:latin typeface="Arial" panose="020B0604020202020204" pitchFamily="34" charset="0"/>
                <a:cs typeface="Arial" panose="020B0604020202020204" pitchFamily="34" charset="0"/>
              </a:rPr>
              <a:t>đồ giúp xác định </a:t>
            </a:r>
            <a:r>
              <a:rPr lang="vi-VN" b="1" dirty="0">
                <a:solidFill>
                  <a:srgbClr val="000000"/>
                </a:solidFill>
                <a:latin typeface="Arial" panose="020B0604020202020204" pitchFamily="34" charset="0"/>
                <a:cs typeface="Arial" panose="020B0604020202020204" pitchFamily="34" charset="0"/>
              </a:rPr>
              <a:t>dấu hiệu tiềm năng để chẩn đoán giai đoạn và điều trị</a:t>
            </a:r>
            <a:r>
              <a:rPr lang="vi-VN" dirty="0">
                <a:solidFill>
                  <a:srgbClr val="000000"/>
                </a:solidFill>
                <a:latin typeface="Arial" panose="020B0604020202020204" pitchFamily="34" charset="0"/>
                <a:cs typeface="Arial" panose="020B0604020202020204" pitchFamily="34" charset="0"/>
              </a:rPr>
              <a:t> ung thư vú.</a:t>
            </a:r>
          </a:p>
        </p:txBody>
      </p:sp>
    </p:spTree>
    <p:extLst>
      <p:ext uri="{BB962C8B-B14F-4D97-AF65-F5344CB8AC3E}">
        <p14:creationId xmlns:p14="http://schemas.microsoft.com/office/powerpoint/2010/main" val="19230887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F322D78-FEA7-93DA-1D75-B383BB2C6957}"/>
              </a:ext>
            </a:extLst>
          </p:cNvPr>
          <p:cNvPicPr>
            <a:picLocks noChangeAspect="1"/>
          </p:cNvPicPr>
          <p:nvPr/>
        </p:nvPicPr>
        <p:blipFill>
          <a:blip r:embed="rId3"/>
          <a:stretch>
            <a:fillRect/>
          </a:stretch>
        </p:blipFill>
        <p:spPr>
          <a:xfrm>
            <a:off x="1211856" y="0"/>
            <a:ext cx="6852492" cy="6774768"/>
          </a:xfrm>
          <a:prstGeom prst="rect">
            <a:avLst/>
          </a:prstGeom>
        </p:spPr>
      </p:pic>
    </p:spTree>
    <p:extLst>
      <p:ext uri="{BB962C8B-B14F-4D97-AF65-F5344CB8AC3E}">
        <p14:creationId xmlns:p14="http://schemas.microsoft.com/office/powerpoint/2010/main" val="21612149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Uploaded image">
            <a:extLst>
              <a:ext uri="{FF2B5EF4-FFF2-40B4-BE49-F238E27FC236}">
                <a16:creationId xmlns:a16="http://schemas.microsoft.com/office/drawing/2014/main" xmlns="" id="{428E4697-3027-950E-8DF8-C52258A3E8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90" y="1078706"/>
            <a:ext cx="9065419" cy="4700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9453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AC43096B-20C7-1BA9-86B0-5B670A2D623C}"/>
              </a:ext>
            </a:extLst>
          </p:cNvPr>
          <p:cNvSpPr txBox="1"/>
          <p:nvPr/>
        </p:nvSpPr>
        <p:spPr>
          <a:xfrm>
            <a:off x="0" y="1213009"/>
            <a:ext cx="4751614" cy="4832092"/>
          </a:xfrm>
          <a:prstGeom prst="rect">
            <a:avLst/>
          </a:prstGeom>
          <a:noFill/>
        </p:spPr>
        <p:txBody>
          <a:bodyPr wrap="square">
            <a:spAutoFit/>
          </a:bodyPr>
          <a:lstStyle/>
          <a:p>
            <a:r>
              <a:rPr lang="x-none" sz="1400" dirty="0">
                <a:highlight>
                  <a:srgbClr val="FFFF00"/>
                </a:highlight>
                <a:latin typeface="Arial" panose="020B0604020202020204" pitchFamily="34" charset="0"/>
                <a:cs typeface="Arial" panose="020B0604020202020204" pitchFamily="34" charset="0"/>
              </a:rPr>
              <a:t># Kiểm tra và cài đặt các gói cần thiết nếu chưa có</a:t>
            </a:r>
          </a:p>
          <a:p>
            <a:r>
              <a:rPr lang="x-none" sz="1400" dirty="0">
                <a:latin typeface="Arial" panose="020B0604020202020204" pitchFamily="34" charset="0"/>
                <a:cs typeface="Arial" panose="020B0604020202020204" pitchFamily="34" charset="0"/>
              </a:rPr>
              <a:t>if (!requireNamespace("tidyverse", quietly = TRUE)) {</a:t>
            </a:r>
          </a:p>
          <a:p>
            <a:r>
              <a:rPr lang="x-none" sz="1400" dirty="0">
                <a:latin typeface="Arial" panose="020B0604020202020204" pitchFamily="34" charset="0"/>
                <a:cs typeface="Arial" panose="020B0604020202020204" pitchFamily="34" charset="0"/>
              </a:rPr>
              <a:t>  # Cài đặt tidyverse nếu chưa có</a:t>
            </a:r>
          </a:p>
          <a:p>
            <a:r>
              <a:rPr lang="x-none" sz="1400" dirty="0">
                <a:latin typeface="Arial" panose="020B0604020202020204" pitchFamily="34" charset="0"/>
                <a:cs typeface="Arial" panose="020B0604020202020204" pitchFamily="34" charset="0"/>
              </a:rPr>
              <a:t>  install.packages("tidyverse")</a:t>
            </a:r>
          </a:p>
          <a:p>
            <a:r>
              <a:rPr lang="x-none" sz="1400" dirty="0">
                <a:latin typeface="Arial" panose="020B0604020202020204" pitchFamily="34" charset="0"/>
                <a:cs typeface="Arial" panose="020B0604020202020204" pitchFamily="34" charset="0"/>
              </a:rPr>
              <a:t>}</a:t>
            </a:r>
          </a:p>
          <a:p>
            <a:r>
              <a:rPr lang="x-none" sz="1400" dirty="0">
                <a:latin typeface="Arial" panose="020B0604020202020204" pitchFamily="34" charset="0"/>
                <a:cs typeface="Arial" panose="020B0604020202020204" pitchFamily="34" charset="0"/>
              </a:rPr>
              <a:t>if (!requireNamespace("readr", quietly = TRUE)) {</a:t>
            </a:r>
          </a:p>
          <a:p>
            <a:r>
              <a:rPr lang="x-none" sz="1400" dirty="0">
                <a:latin typeface="Arial" panose="020B0604020202020204" pitchFamily="34" charset="0"/>
                <a:cs typeface="Arial" panose="020B0604020202020204" pitchFamily="34" charset="0"/>
              </a:rPr>
              <a:t>  # Cài đặt readr nếu chưa có</a:t>
            </a:r>
          </a:p>
          <a:p>
            <a:r>
              <a:rPr lang="x-none" sz="1400" dirty="0">
                <a:latin typeface="Arial" panose="020B0604020202020204" pitchFamily="34" charset="0"/>
                <a:cs typeface="Arial" panose="020B0604020202020204" pitchFamily="34" charset="0"/>
              </a:rPr>
              <a:t>  install.packages("readr")</a:t>
            </a:r>
          </a:p>
          <a:p>
            <a:r>
              <a:rPr lang="x-none" sz="1400" dirty="0">
                <a:latin typeface="Arial" panose="020B0604020202020204" pitchFamily="34" charset="0"/>
                <a:cs typeface="Arial" panose="020B0604020202020204" pitchFamily="34" charset="0"/>
              </a:rPr>
              <a:t>}</a:t>
            </a:r>
          </a:p>
          <a:p>
            <a:r>
              <a:rPr lang="x-none" sz="1400" dirty="0">
                <a:latin typeface="Arial" panose="020B0604020202020204" pitchFamily="34" charset="0"/>
                <a:cs typeface="Arial" panose="020B0604020202020204" pitchFamily="34" charset="0"/>
              </a:rPr>
              <a:t>if (!requireNamespace("ggrepel", quietly = TRUE)) {</a:t>
            </a:r>
          </a:p>
          <a:p>
            <a:r>
              <a:rPr lang="x-none" sz="1400" dirty="0">
                <a:latin typeface="Arial" panose="020B0604020202020204" pitchFamily="34" charset="0"/>
                <a:cs typeface="Arial" panose="020B0604020202020204" pitchFamily="34" charset="0"/>
              </a:rPr>
              <a:t>  # Cài đặt ggrepel nếu chưa có</a:t>
            </a:r>
          </a:p>
          <a:p>
            <a:r>
              <a:rPr lang="x-none" sz="1400" dirty="0">
                <a:latin typeface="Arial" panose="020B0604020202020204" pitchFamily="34" charset="0"/>
                <a:cs typeface="Arial" panose="020B0604020202020204" pitchFamily="34" charset="0"/>
              </a:rPr>
              <a:t>  install.packages("ggrepel")</a:t>
            </a:r>
          </a:p>
          <a:p>
            <a:r>
              <a:rPr lang="x-none" sz="1400" dirty="0">
                <a:latin typeface="Arial" panose="020B0604020202020204" pitchFamily="34" charset="0"/>
                <a:cs typeface="Arial" panose="020B0604020202020204" pitchFamily="34" charset="0"/>
              </a:rPr>
              <a:t>}</a:t>
            </a:r>
          </a:p>
          <a:p>
            <a:r>
              <a:rPr lang="x-none" sz="1400" dirty="0">
                <a:latin typeface="Arial" panose="020B0604020202020204" pitchFamily="34" charset="0"/>
                <a:cs typeface="Arial" panose="020B0604020202020204" pitchFamily="34" charset="0"/>
              </a:rPr>
              <a:t>if (!requireNamespace("BiocManager", quietly = TRUE)) {</a:t>
            </a:r>
          </a:p>
          <a:p>
            <a:r>
              <a:rPr lang="x-none" sz="1400" dirty="0">
                <a:latin typeface="Arial" panose="020B0604020202020204" pitchFamily="34" charset="0"/>
                <a:cs typeface="Arial" panose="020B0604020202020204" pitchFamily="34" charset="0"/>
              </a:rPr>
              <a:t>  # Cài đặt BiocManager nếu chưa có</a:t>
            </a:r>
          </a:p>
          <a:p>
            <a:r>
              <a:rPr lang="x-none" sz="1400" dirty="0">
                <a:latin typeface="Arial" panose="020B0604020202020204" pitchFamily="34" charset="0"/>
                <a:cs typeface="Arial" panose="020B0604020202020204" pitchFamily="34" charset="0"/>
              </a:rPr>
              <a:t>  install.packages("BiocManager")</a:t>
            </a:r>
          </a:p>
          <a:p>
            <a:r>
              <a:rPr lang="x-none" sz="1400" dirty="0">
                <a:latin typeface="Arial" panose="020B0604020202020204" pitchFamily="34" charset="0"/>
                <a:cs typeface="Arial" panose="020B0604020202020204" pitchFamily="34" charset="0"/>
              </a:rPr>
              <a:t>}</a:t>
            </a:r>
          </a:p>
          <a:p>
            <a:r>
              <a:rPr lang="x-none" sz="1400" dirty="0">
                <a:latin typeface="Arial" panose="020B0604020202020204" pitchFamily="34" charset="0"/>
                <a:cs typeface="Arial" panose="020B0604020202020204" pitchFamily="34" charset="0"/>
              </a:rPr>
              <a:t>if (!requireNamespace("EnhancedVolcano", quietly = TRUE)) {</a:t>
            </a:r>
          </a:p>
          <a:p>
            <a:r>
              <a:rPr lang="x-none" sz="1400" dirty="0">
                <a:latin typeface="Arial" panose="020B0604020202020204" pitchFamily="34" charset="0"/>
                <a:cs typeface="Arial" panose="020B0604020202020204" pitchFamily="34" charset="0"/>
              </a:rPr>
              <a:t>  # Cài đặt EnhancedVolcano qua BiocManager</a:t>
            </a:r>
          </a:p>
          <a:p>
            <a:r>
              <a:rPr lang="x-none" sz="1400" dirty="0">
                <a:latin typeface="Arial" panose="020B0604020202020204" pitchFamily="34" charset="0"/>
                <a:cs typeface="Arial" panose="020B0604020202020204" pitchFamily="34" charset="0"/>
              </a:rPr>
              <a:t>  BiocManager::install("EnhancedVolcano")</a:t>
            </a:r>
          </a:p>
          <a:p>
            <a:r>
              <a:rPr lang="x-none" sz="1400" dirty="0">
                <a:latin typeface="Arial" panose="020B0604020202020204" pitchFamily="34" charset="0"/>
                <a:cs typeface="Arial" panose="020B0604020202020204" pitchFamily="34" charset="0"/>
              </a:rPr>
              <a:t>}</a:t>
            </a:r>
          </a:p>
        </p:txBody>
      </p:sp>
      <p:sp>
        <p:nvSpPr>
          <p:cNvPr id="11" name="TextBox 10">
            <a:extLst>
              <a:ext uri="{FF2B5EF4-FFF2-40B4-BE49-F238E27FC236}">
                <a16:creationId xmlns:a16="http://schemas.microsoft.com/office/drawing/2014/main" xmlns="" id="{61E2F474-F10F-930E-A420-093F042CF1E5}"/>
              </a:ext>
            </a:extLst>
          </p:cNvPr>
          <p:cNvSpPr txBox="1"/>
          <p:nvPr/>
        </p:nvSpPr>
        <p:spPr>
          <a:xfrm>
            <a:off x="4572000" y="1420759"/>
            <a:ext cx="4604657" cy="4185761"/>
          </a:xfrm>
          <a:prstGeom prst="rect">
            <a:avLst/>
          </a:prstGeom>
          <a:noFill/>
        </p:spPr>
        <p:txBody>
          <a:bodyPr wrap="square">
            <a:spAutoFit/>
          </a:bodyPr>
          <a:lstStyle/>
          <a:p>
            <a:r>
              <a:rPr lang="x-none" sz="1400" dirty="0">
                <a:latin typeface="Arial" panose="020B0604020202020204" pitchFamily="34" charset="0"/>
                <a:cs typeface="Arial" panose="020B0604020202020204" pitchFamily="34" charset="0"/>
              </a:rPr>
              <a:t># Tải gói tidyverse để xử lý và trực quan hóa dữ liệu</a:t>
            </a:r>
          </a:p>
          <a:p>
            <a:r>
              <a:rPr lang="x-none" sz="1400" dirty="0">
                <a:latin typeface="Arial" panose="020B0604020202020204" pitchFamily="34" charset="0"/>
                <a:cs typeface="Arial" panose="020B0604020202020204" pitchFamily="34" charset="0"/>
              </a:rPr>
              <a:t>library(tidyverse)</a:t>
            </a:r>
          </a:p>
          <a:p>
            <a:r>
              <a:rPr lang="x-none" sz="1400" dirty="0">
                <a:latin typeface="Arial" panose="020B0604020202020204" pitchFamily="34" charset="0"/>
                <a:cs typeface="Arial" panose="020B0604020202020204" pitchFamily="34" charset="0"/>
              </a:rPr>
              <a:t># Tải gói readr để đọc tệp CSV một cách hiệu quả</a:t>
            </a:r>
          </a:p>
          <a:p>
            <a:r>
              <a:rPr lang="x-none" sz="1400" dirty="0">
                <a:latin typeface="Arial" panose="020B0604020202020204" pitchFamily="34" charset="0"/>
                <a:cs typeface="Arial" panose="020B0604020202020204" pitchFamily="34" charset="0"/>
              </a:rPr>
              <a:t>library(readr)</a:t>
            </a:r>
          </a:p>
          <a:p>
            <a:r>
              <a:rPr lang="x-none" sz="1400" dirty="0">
                <a:latin typeface="Arial" panose="020B0604020202020204" pitchFamily="34" charset="0"/>
                <a:cs typeface="Arial" panose="020B0604020202020204" pitchFamily="34" charset="0"/>
              </a:rPr>
              <a:t># Tải gói ggrepel để thêm nhãn cho các điểm trên biểu đồ mà không bị chồng lấn</a:t>
            </a:r>
          </a:p>
          <a:p>
            <a:r>
              <a:rPr lang="x-none" sz="1400" dirty="0">
                <a:latin typeface="Arial" panose="020B0604020202020204" pitchFamily="34" charset="0"/>
                <a:cs typeface="Arial" panose="020B0604020202020204" pitchFamily="34" charset="0"/>
              </a:rPr>
              <a:t>library(ggrepel)</a:t>
            </a:r>
          </a:p>
          <a:p>
            <a:r>
              <a:rPr lang="x-none" sz="1400" dirty="0">
                <a:latin typeface="Arial" panose="020B0604020202020204" pitchFamily="34" charset="0"/>
                <a:cs typeface="Arial" panose="020B0604020202020204" pitchFamily="34" charset="0"/>
              </a:rPr>
              <a:t># Tải gói EnhancedVolcano để tạo biểu đồ núi lửa chuyên nghiệp</a:t>
            </a:r>
          </a:p>
          <a:p>
            <a:r>
              <a:rPr lang="x-none" sz="1400" dirty="0">
                <a:latin typeface="Arial" panose="020B0604020202020204" pitchFamily="34" charset="0"/>
                <a:cs typeface="Arial" panose="020B0604020202020204" pitchFamily="34" charset="0"/>
              </a:rPr>
              <a:t>library(EnhancedVolcano)</a:t>
            </a:r>
          </a:p>
          <a:p>
            <a:r>
              <a:rPr lang="vi-VN" sz="1400" dirty="0">
                <a:highlight>
                  <a:srgbClr val="FFFF00"/>
                </a:highlight>
                <a:latin typeface="Arial" panose="020B0604020202020204" pitchFamily="34" charset="0"/>
                <a:cs typeface="Arial" panose="020B0604020202020204" pitchFamily="34" charset="0"/>
              </a:rPr>
              <a:t># Thiết lập thư mục làm việc (đảm bảo lưu tệp PNG đúng nơi)</a:t>
            </a:r>
          </a:p>
          <a:p>
            <a:r>
              <a:rPr lang="vi-VN" sz="1400" dirty="0">
                <a:latin typeface="Arial" panose="020B0604020202020204" pitchFamily="34" charset="0"/>
                <a:cs typeface="Arial" panose="020B0604020202020204" pitchFamily="34" charset="0"/>
              </a:rPr>
              <a:t>setwd("/cloud/project")</a:t>
            </a:r>
          </a:p>
          <a:p>
            <a:r>
              <a:rPr lang="vi-VN" sz="1400" dirty="0">
                <a:highlight>
                  <a:srgbClr val="FFFF00"/>
                </a:highlight>
                <a:latin typeface="Arial" panose="020B0604020202020204" pitchFamily="34" charset="0"/>
                <a:cs typeface="Arial" panose="020B0604020202020204" pitchFamily="34" charset="0"/>
              </a:rPr>
              <a:t># In thư mục làm việc để kiểm tra</a:t>
            </a:r>
          </a:p>
          <a:p>
            <a:r>
              <a:rPr lang="vi-VN" sz="1400" dirty="0">
                <a:latin typeface="Arial" panose="020B0604020202020204" pitchFamily="34" charset="0"/>
                <a:cs typeface="Arial" panose="020B0604020202020204" pitchFamily="34" charset="0"/>
              </a:rPr>
              <a:t>message("Thư mục làm việc hiện tại: ", getwd())</a:t>
            </a:r>
          </a:p>
          <a:p>
            <a:endParaRPr lang="vi-VN" sz="1400" dirty="0">
              <a:latin typeface="Arial" panose="020B0604020202020204" pitchFamily="34" charset="0"/>
              <a:cs typeface="Arial" panose="020B0604020202020204" pitchFamily="34" charset="0"/>
            </a:endParaRPr>
          </a:p>
          <a:p>
            <a:r>
              <a:rPr lang="vi-VN" sz="1400" dirty="0">
                <a:highlight>
                  <a:srgbClr val="FFFF00"/>
                </a:highlight>
                <a:latin typeface="Arial" panose="020B0604020202020204" pitchFamily="34" charset="0"/>
                <a:cs typeface="Arial" panose="020B0604020202020204" pitchFamily="34" charset="0"/>
              </a:rPr>
              <a:t># Đọc dữ liệu từ tệp extract_file.csv, chứa biểu hiện gen của các dòng tế bào</a:t>
            </a:r>
          </a:p>
          <a:p>
            <a:r>
              <a:rPr lang="vi-VN" sz="1400" dirty="0">
                <a:highlight>
                  <a:srgbClr val="FFFF00"/>
                </a:highlight>
                <a:latin typeface="Arial" panose="020B0604020202020204" pitchFamily="34" charset="0"/>
                <a:cs typeface="Arial" panose="020B0604020202020204" pitchFamily="34" charset="0"/>
              </a:rPr>
              <a:t>data &lt;- read_csv("extract_file.csv")</a:t>
            </a:r>
            <a:endParaRPr lang="x-none" sz="1400" dirty="0">
              <a:highlight>
                <a:srgbClr val="FFFF00"/>
              </a:highlight>
              <a:latin typeface="Arial" panose="020B0604020202020204" pitchFamily="34" charset="0"/>
              <a:cs typeface="Arial" panose="020B0604020202020204" pitchFamily="34" charset="0"/>
            </a:endParaRPr>
          </a:p>
        </p:txBody>
      </p:sp>
      <p:sp>
        <p:nvSpPr>
          <p:cNvPr id="12" name="Right Arrow 11">
            <a:extLst>
              <a:ext uri="{FF2B5EF4-FFF2-40B4-BE49-F238E27FC236}">
                <a16:creationId xmlns:a16="http://schemas.microsoft.com/office/drawing/2014/main" xmlns="" id="{A15FD912-8B25-80CB-5F15-CD6820110DEF}"/>
              </a:ext>
            </a:extLst>
          </p:cNvPr>
          <p:cNvSpPr/>
          <p:nvPr/>
        </p:nvSpPr>
        <p:spPr>
          <a:xfrm>
            <a:off x="4090308" y="2718707"/>
            <a:ext cx="481693" cy="3545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sz="1350"/>
          </a:p>
        </p:txBody>
      </p:sp>
    </p:spTree>
    <p:extLst>
      <p:ext uri="{BB962C8B-B14F-4D97-AF65-F5344CB8AC3E}">
        <p14:creationId xmlns:p14="http://schemas.microsoft.com/office/powerpoint/2010/main" val="31454076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DF1D4BC-CF83-6DD4-1666-957CBF5E07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98261470-5B49-2637-AE5C-7851369F7E4E}"/>
              </a:ext>
            </a:extLst>
          </p:cNvPr>
          <p:cNvSpPr txBox="1"/>
          <p:nvPr/>
        </p:nvSpPr>
        <p:spPr>
          <a:xfrm>
            <a:off x="1" y="1005260"/>
            <a:ext cx="9143999" cy="5047536"/>
          </a:xfrm>
          <a:prstGeom prst="rect">
            <a:avLst/>
          </a:prstGeom>
          <a:noFill/>
        </p:spPr>
        <p:txBody>
          <a:bodyPr wrap="square">
            <a:spAutoFit/>
          </a:bodyPr>
          <a:lstStyle/>
          <a:p>
            <a:r>
              <a:rPr lang="x-none" sz="1400" dirty="0">
                <a:highlight>
                  <a:srgbClr val="FFFF00"/>
                </a:highlight>
                <a:latin typeface="Arial" panose="020B0604020202020204" pitchFamily="34" charset="0"/>
                <a:cs typeface="Arial" panose="020B0604020202020204" pitchFamily="34" charset="0"/>
              </a:rPr>
              <a:t># Tính trung bình và fold change cho từng dòng tế bào</a:t>
            </a:r>
          </a:p>
          <a:p>
            <a:r>
              <a:rPr lang="x-none" sz="1400" dirty="0">
                <a:highlight>
                  <a:srgbClr val="FFFF00"/>
                </a:highlight>
                <a:latin typeface="Arial" panose="020B0604020202020204" pitchFamily="34" charset="0"/>
                <a:cs typeface="Arial" panose="020B0604020202020204" pitchFamily="34" charset="0"/>
              </a:rPr>
              <a:t>data &lt;- data %&gt;%</a:t>
            </a:r>
          </a:p>
          <a:p>
            <a:r>
              <a:rPr lang="x-none" sz="1400" dirty="0">
                <a:latin typeface="Arial" panose="020B0604020202020204" pitchFamily="34" charset="0"/>
                <a:cs typeface="Arial" panose="020B0604020202020204" pitchFamily="34" charset="0"/>
              </a:rPr>
              <a:t>  # Tính trung bình biểu hiện gen cho điều kiện đối chứng (control) của MDA-MB-231</a:t>
            </a:r>
          </a:p>
          <a:p>
            <a:r>
              <a:rPr lang="x-none" sz="1400" dirty="0">
                <a:latin typeface="Arial" panose="020B0604020202020204" pitchFamily="34" charset="0"/>
                <a:cs typeface="Arial" panose="020B0604020202020204" pitchFamily="34" charset="0"/>
              </a:rPr>
              <a:t>  mutate(</a:t>
            </a:r>
          </a:p>
          <a:p>
            <a:r>
              <a:rPr lang="x-none" sz="1400" dirty="0">
                <a:latin typeface="Arial" panose="020B0604020202020204" pitchFamily="34" charset="0"/>
                <a:cs typeface="Arial" panose="020B0604020202020204" pitchFamily="34" charset="0"/>
              </a:rPr>
              <a:t>    `231_con_avg` = (`231con1` + `231con2` + `231con3`) / 3,</a:t>
            </a:r>
          </a:p>
          <a:p>
            <a:r>
              <a:rPr lang="x-none" sz="1400" dirty="0">
                <a:latin typeface="Arial" panose="020B0604020202020204" pitchFamily="34" charset="0"/>
                <a:cs typeface="Arial" panose="020B0604020202020204" pitchFamily="34" charset="0"/>
              </a:rPr>
              <a:t>    # Tính trung bình biểu hiện gen cho điều kiện điều trị G9A của MDA-MB-231</a:t>
            </a:r>
          </a:p>
          <a:p>
            <a:r>
              <a:rPr lang="x-none" sz="1400" dirty="0">
                <a:latin typeface="Arial" panose="020B0604020202020204" pitchFamily="34" charset="0"/>
                <a:cs typeface="Arial" panose="020B0604020202020204" pitchFamily="34" charset="0"/>
              </a:rPr>
              <a:t>    `231_G9A_avg` = (`231G9A1` + `231G9A2` + `231G9A3`) / 3,</a:t>
            </a:r>
          </a:p>
          <a:p>
            <a:r>
              <a:rPr lang="x-none" sz="1400" dirty="0">
                <a:latin typeface="Arial" panose="020B0604020202020204" pitchFamily="34" charset="0"/>
                <a:cs typeface="Arial" panose="020B0604020202020204" pitchFamily="34" charset="0"/>
              </a:rPr>
              <a:t>    # Tính fold change (tỷ lệ G9A/control) cho MDA-MB-231, thêm 1e-6 để tránh chia cho 0</a:t>
            </a:r>
          </a:p>
          <a:p>
            <a:r>
              <a:rPr lang="x-none" sz="1400" dirty="0">
                <a:latin typeface="Arial" panose="020B0604020202020204" pitchFamily="34" charset="0"/>
                <a:cs typeface="Arial" panose="020B0604020202020204" pitchFamily="34" charset="0"/>
              </a:rPr>
              <a:t>    `231_fold_change` = `231_G9A_avg` / (`231_con_avg` + 1e-6),</a:t>
            </a:r>
          </a:p>
          <a:p>
            <a:r>
              <a:rPr lang="x-none" sz="1400" dirty="0">
                <a:latin typeface="Arial" panose="020B0604020202020204" pitchFamily="34" charset="0"/>
                <a:cs typeface="Arial" panose="020B0604020202020204" pitchFamily="34" charset="0"/>
              </a:rPr>
              <a:t>    # Tính log2 fold change cho MDA-MB-231</a:t>
            </a:r>
          </a:p>
          <a:p>
            <a:r>
              <a:rPr lang="x-none" sz="1400" dirty="0">
                <a:latin typeface="Arial" panose="020B0604020202020204" pitchFamily="34" charset="0"/>
                <a:cs typeface="Arial" panose="020B0604020202020204" pitchFamily="34" charset="0"/>
              </a:rPr>
              <a:t>    `231_log2FC` = log2(`231_fold_change` + 1e-6),</a:t>
            </a:r>
          </a:p>
          <a:p>
            <a:r>
              <a:rPr lang="x-none" sz="1400" dirty="0">
                <a:latin typeface="Arial" panose="020B0604020202020204" pitchFamily="34" charset="0"/>
                <a:cs typeface="Arial" panose="020B0604020202020204" pitchFamily="34" charset="0"/>
              </a:rPr>
              <a:t>    # Tính trung bình biểu hiện gen cho điều kiện đối chứng của MDA-MB-468</a:t>
            </a:r>
          </a:p>
          <a:p>
            <a:r>
              <a:rPr lang="x-none" sz="1400" dirty="0">
                <a:latin typeface="Arial" panose="020B0604020202020204" pitchFamily="34" charset="0"/>
                <a:cs typeface="Arial" panose="020B0604020202020204" pitchFamily="34" charset="0"/>
              </a:rPr>
              <a:t>    `468_con_avg` = (`468con1` + `468con2` + `468con3`) / 3,</a:t>
            </a:r>
          </a:p>
          <a:p>
            <a:r>
              <a:rPr lang="x-none" sz="1400" dirty="0">
                <a:latin typeface="Arial" panose="020B0604020202020204" pitchFamily="34" charset="0"/>
                <a:cs typeface="Arial" panose="020B0604020202020204" pitchFamily="34" charset="0"/>
              </a:rPr>
              <a:t>    # Tính trung bình biểu hiện gen cho điều kiện điều trị G9A của MDA-MB-468</a:t>
            </a:r>
          </a:p>
          <a:p>
            <a:r>
              <a:rPr lang="x-none" sz="1400" dirty="0">
                <a:latin typeface="Arial" panose="020B0604020202020204" pitchFamily="34" charset="0"/>
                <a:cs typeface="Arial" panose="020B0604020202020204" pitchFamily="34" charset="0"/>
              </a:rPr>
              <a:t>    `468_G9A_avg` = (`468G9A1` + `468G9A2` + `468G9A3`) / 3,</a:t>
            </a:r>
          </a:p>
          <a:p>
            <a:r>
              <a:rPr lang="x-none" sz="1400" dirty="0">
                <a:latin typeface="Arial" panose="020B0604020202020204" pitchFamily="34" charset="0"/>
                <a:cs typeface="Arial" panose="020B0604020202020204" pitchFamily="34" charset="0"/>
              </a:rPr>
              <a:t>    # Tính fold change cho MDA-MB-468</a:t>
            </a:r>
          </a:p>
          <a:p>
            <a:r>
              <a:rPr lang="x-none" sz="1400" dirty="0">
                <a:latin typeface="Arial" panose="020B0604020202020204" pitchFamily="34" charset="0"/>
                <a:cs typeface="Arial" panose="020B0604020202020204" pitchFamily="34" charset="0"/>
              </a:rPr>
              <a:t>    `468_fold_change` = `468_G9A_avg` / (`468_con_avg` + 1e-6),</a:t>
            </a:r>
          </a:p>
          <a:p>
            <a:r>
              <a:rPr lang="x-none" sz="1400" dirty="0">
                <a:latin typeface="Arial" panose="020B0604020202020204" pitchFamily="34" charset="0"/>
                <a:cs typeface="Arial" panose="020B0604020202020204" pitchFamily="34" charset="0"/>
              </a:rPr>
              <a:t>    # Tính log2 fold change cho MDA-MB-468</a:t>
            </a:r>
          </a:p>
          <a:p>
            <a:r>
              <a:rPr lang="x-none" sz="1400" dirty="0">
                <a:latin typeface="Arial" panose="020B0604020202020204" pitchFamily="34" charset="0"/>
                <a:cs typeface="Arial" panose="020B0604020202020204" pitchFamily="34" charset="0"/>
              </a:rPr>
              <a:t>    `468_log2FC` = log2(`468_fold_change` + 1e-6),</a:t>
            </a:r>
          </a:p>
          <a:p>
            <a:r>
              <a:rPr lang="x-none" sz="1400" dirty="0">
                <a:latin typeface="Arial" panose="020B0604020202020204" pitchFamily="34" charset="0"/>
                <a:cs typeface="Arial" panose="020B0604020202020204" pitchFamily="34" charset="0"/>
              </a:rPr>
              <a:t>    # Tính trung bình biểu hiện gen cho điều kiện đối chứng của MCF-7</a:t>
            </a:r>
          </a:p>
          <a:p>
            <a:r>
              <a:rPr lang="x-none" sz="1400" dirty="0">
                <a:latin typeface="Arial" panose="020B0604020202020204" pitchFamily="34" charset="0"/>
                <a:cs typeface="Arial" panose="020B0604020202020204" pitchFamily="34" charset="0"/>
              </a:rPr>
              <a:t>    MCF7_con_avg = (MCF7con1 + MCF7con2 + MCF7con3) / 3,</a:t>
            </a:r>
          </a:p>
          <a:p>
            <a:r>
              <a:rPr lang="x-none" sz="1400" dirty="0">
                <a:latin typeface="Arial" panose="020B0604020202020204" pitchFamily="34" charset="0"/>
                <a:cs typeface="Arial" panose="020B0604020202020204" pitchFamily="34" charset="0"/>
              </a:rPr>
              <a:t>    # Tính trung bình biểu hiện gen cho điều kiện điều trị G9A của MCF-7</a:t>
            </a:r>
          </a:p>
          <a:p>
            <a:r>
              <a:rPr lang="x-none" sz="1400" dirty="0">
                <a:latin typeface="Arial" panose="020B0604020202020204" pitchFamily="34" charset="0"/>
                <a:cs typeface="Arial" panose="020B0604020202020204" pitchFamily="34" charset="0"/>
              </a:rPr>
              <a:t>    MCF7_G9A_avg = (MCF7G9A1 + MCF7G9A2 + MCF7G9A3) / 3,</a:t>
            </a:r>
          </a:p>
        </p:txBody>
      </p:sp>
    </p:spTree>
    <p:extLst>
      <p:ext uri="{BB962C8B-B14F-4D97-AF65-F5344CB8AC3E}">
        <p14:creationId xmlns:p14="http://schemas.microsoft.com/office/powerpoint/2010/main" val="31636184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3A2262-6112-F979-1624-3841A8342F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CD91B9FA-688E-A659-C87C-56410EEDD8F4}"/>
              </a:ext>
            </a:extLst>
          </p:cNvPr>
          <p:cNvSpPr txBox="1"/>
          <p:nvPr/>
        </p:nvSpPr>
        <p:spPr>
          <a:xfrm>
            <a:off x="-8163" y="1213009"/>
            <a:ext cx="4580163" cy="4455066"/>
          </a:xfrm>
          <a:prstGeom prst="rect">
            <a:avLst/>
          </a:prstGeom>
          <a:noFill/>
        </p:spPr>
        <p:txBody>
          <a:bodyPr wrap="square">
            <a:spAutoFit/>
          </a:bodyPr>
          <a:lstStyle/>
          <a:p>
            <a:r>
              <a:rPr lang="x-none" sz="1350" dirty="0">
                <a:latin typeface="Arial" panose="020B0604020202020204" pitchFamily="34" charset="0"/>
                <a:cs typeface="Arial" panose="020B0604020202020204" pitchFamily="34" charset="0"/>
              </a:rPr>
              <a:t> </a:t>
            </a:r>
            <a:r>
              <a:rPr lang="x-none" sz="1350" dirty="0">
                <a:highlight>
                  <a:srgbClr val="FFFF00"/>
                </a:highlight>
                <a:latin typeface="Arial" panose="020B0604020202020204" pitchFamily="34" charset="0"/>
                <a:cs typeface="Arial" panose="020B0604020202020204" pitchFamily="34" charset="0"/>
              </a:rPr>
              <a:t># Tính fold change cho MCF-7</a:t>
            </a:r>
          </a:p>
          <a:p>
            <a:r>
              <a:rPr lang="x-none" sz="1350" dirty="0">
                <a:latin typeface="Arial" panose="020B0604020202020204" pitchFamily="34" charset="0"/>
                <a:cs typeface="Arial" panose="020B0604020202020204" pitchFamily="34" charset="0"/>
              </a:rPr>
              <a:t>    MCF7_fold_change = MCF7_G9A_avg / (MCF7_con_avg + 1e-6),</a:t>
            </a:r>
          </a:p>
          <a:p>
            <a:r>
              <a:rPr lang="x-none" sz="1350" dirty="0">
                <a:latin typeface="Arial" panose="020B0604020202020204" pitchFamily="34" charset="0"/>
                <a:cs typeface="Arial" panose="020B0604020202020204" pitchFamily="34" charset="0"/>
              </a:rPr>
              <a:t>    # Tính log2 fold change cho MCF-7</a:t>
            </a:r>
          </a:p>
          <a:p>
            <a:r>
              <a:rPr lang="x-none" sz="1350" dirty="0">
                <a:latin typeface="Arial" panose="020B0604020202020204" pitchFamily="34" charset="0"/>
                <a:cs typeface="Arial" panose="020B0604020202020204" pitchFamily="34" charset="0"/>
              </a:rPr>
              <a:t>    MCF7_log2FC = log2(MCF7_fold_change + 1e-6)</a:t>
            </a:r>
          </a:p>
          <a:p>
            <a:r>
              <a:rPr lang="x-none" sz="1350" dirty="0">
                <a:latin typeface="Arial" panose="020B0604020202020204" pitchFamily="34" charset="0"/>
                <a:cs typeface="Arial" panose="020B0604020202020204" pitchFamily="34" charset="0"/>
              </a:rPr>
              <a:t>  )</a:t>
            </a:r>
          </a:p>
          <a:p>
            <a:r>
              <a:rPr lang="vi-VN" sz="1350" dirty="0">
                <a:highlight>
                  <a:srgbClr val="FFFF00"/>
                </a:highlight>
                <a:latin typeface="Arial" panose="020B0604020202020204" pitchFamily="34" charset="0"/>
                <a:cs typeface="Arial" panose="020B0604020202020204" pitchFamily="34" charset="0"/>
              </a:rPr>
              <a:t># Định nghĩa hàm tính p-value bằng t-test, xử lý trường hợp dữ liệu hằng số</a:t>
            </a:r>
          </a:p>
          <a:p>
            <a:r>
              <a:rPr lang="vi-VN" sz="1350" dirty="0">
                <a:latin typeface="Arial" panose="020B0604020202020204" pitchFamily="34" charset="0"/>
                <a:cs typeface="Arial" panose="020B0604020202020204" pitchFamily="34" charset="0"/>
              </a:rPr>
              <a:t>calculate_pvalue &lt;- function(control, treated) {</a:t>
            </a:r>
          </a:p>
          <a:p>
            <a:r>
              <a:rPr lang="vi-VN" sz="1350" dirty="0">
                <a:latin typeface="Arial" panose="020B0604020202020204" pitchFamily="34" charset="0"/>
                <a:cs typeface="Arial" panose="020B0604020202020204" pitchFamily="34" charset="0"/>
              </a:rPr>
              <a:t>  # Kiểm tra nếu bất kỳ nhóm nào có variance bằng 0 hoặc dữ liệu không hợp lệ</a:t>
            </a:r>
          </a:p>
          <a:p>
            <a:r>
              <a:rPr lang="vi-VN" sz="1350" dirty="0">
                <a:latin typeface="Arial" panose="020B0604020202020204" pitchFamily="34" charset="0"/>
                <a:cs typeface="Arial" panose="020B0604020202020204" pitchFamily="34" charset="0"/>
              </a:rPr>
              <a:t>  if (var(control) == 0 || var(treated) == 0 || any(is.na(control)) || any(is.na(treated))) {</a:t>
            </a:r>
          </a:p>
          <a:p>
            <a:r>
              <a:rPr lang="vi-VN" sz="1350" dirty="0">
                <a:latin typeface="Arial" panose="020B0604020202020204" pitchFamily="34" charset="0"/>
                <a:cs typeface="Arial" panose="020B0604020202020204" pitchFamily="34" charset="0"/>
              </a:rPr>
              <a:t>    # Trả về p-value = 1 nếu dữ liệu không đủ để chạy t-test</a:t>
            </a:r>
          </a:p>
          <a:p>
            <a:r>
              <a:rPr lang="vi-VN" sz="1350" dirty="0">
                <a:latin typeface="Arial" panose="020B0604020202020204" pitchFamily="34" charset="0"/>
                <a:cs typeface="Arial" panose="020B0604020202020204" pitchFamily="34" charset="0"/>
              </a:rPr>
              <a:t>    return(1)</a:t>
            </a:r>
          </a:p>
          <a:p>
            <a:r>
              <a:rPr lang="vi-VN" sz="1350" dirty="0">
                <a:latin typeface="Arial" panose="020B0604020202020204" pitchFamily="34" charset="0"/>
                <a:cs typeface="Arial" panose="020B0604020202020204" pitchFamily="34" charset="0"/>
              </a:rPr>
              <a:t>  } else {</a:t>
            </a:r>
          </a:p>
          <a:p>
            <a:r>
              <a:rPr lang="vi-VN" sz="1350" dirty="0">
                <a:latin typeface="Arial" panose="020B0604020202020204" pitchFamily="34" charset="0"/>
                <a:cs typeface="Arial" panose="020B0604020202020204" pitchFamily="34" charset="0"/>
              </a:rPr>
              <a:t>    # Thực hiện t-test và trả về p-value</a:t>
            </a:r>
          </a:p>
          <a:p>
            <a:r>
              <a:rPr lang="vi-VN" sz="1350" dirty="0">
                <a:latin typeface="Arial" panose="020B0604020202020204" pitchFamily="34" charset="0"/>
                <a:cs typeface="Arial" panose="020B0604020202020204" pitchFamily="34" charset="0"/>
              </a:rPr>
              <a:t>    t.test(control, treated)$p.value</a:t>
            </a:r>
          </a:p>
          <a:p>
            <a:r>
              <a:rPr lang="vi-VN" sz="1350" dirty="0">
                <a:latin typeface="Arial" panose="020B0604020202020204" pitchFamily="34" charset="0"/>
                <a:cs typeface="Arial" panose="020B0604020202020204" pitchFamily="34" charset="0"/>
              </a:rPr>
              <a:t>  }</a:t>
            </a:r>
          </a:p>
          <a:p>
            <a:r>
              <a:rPr lang="vi-VN" sz="1350" dirty="0">
                <a:latin typeface="Arial" panose="020B0604020202020204" pitchFamily="34" charset="0"/>
                <a:cs typeface="Arial" panose="020B0604020202020204" pitchFamily="34" charset="0"/>
              </a:rPr>
              <a:t>}</a:t>
            </a:r>
            <a:endParaRPr lang="x-none" sz="135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xmlns="" id="{1D1C3898-37E9-C86D-908F-878AB260BA18}"/>
              </a:ext>
            </a:extLst>
          </p:cNvPr>
          <p:cNvSpPr txBox="1"/>
          <p:nvPr/>
        </p:nvSpPr>
        <p:spPr>
          <a:xfrm>
            <a:off x="4572000" y="857251"/>
            <a:ext cx="4580163" cy="5493812"/>
          </a:xfrm>
          <a:prstGeom prst="rect">
            <a:avLst/>
          </a:prstGeom>
          <a:noFill/>
        </p:spPr>
        <p:txBody>
          <a:bodyPr wrap="square">
            <a:spAutoFit/>
          </a:bodyPr>
          <a:lstStyle/>
          <a:p>
            <a:r>
              <a:rPr lang="x-none" sz="1350" dirty="0">
                <a:highlight>
                  <a:srgbClr val="FFFF00"/>
                </a:highlight>
                <a:latin typeface="Arial" panose="020B0604020202020204" pitchFamily="34" charset="0"/>
                <a:cs typeface="Arial" panose="020B0604020202020204" pitchFamily="34" charset="0"/>
              </a:rPr>
              <a:t># Tính p-value và điều chỉnh p-value (FDR) cho từng dòng tế bào</a:t>
            </a:r>
          </a:p>
          <a:p>
            <a:r>
              <a:rPr lang="x-none" sz="1350" dirty="0">
                <a:latin typeface="Arial" panose="020B0604020202020204" pitchFamily="34" charset="0"/>
                <a:cs typeface="Arial" panose="020B0604020202020204" pitchFamily="34" charset="0"/>
              </a:rPr>
              <a:t>data &lt;- data %&gt;%</a:t>
            </a:r>
          </a:p>
          <a:p>
            <a:r>
              <a:rPr lang="x-none" sz="1350" dirty="0">
                <a:latin typeface="Arial" panose="020B0604020202020204" pitchFamily="34" charset="0"/>
                <a:cs typeface="Arial" panose="020B0604020202020204" pitchFamily="34" charset="0"/>
              </a:rPr>
              <a:t>  # Áp dụng hàm rowwise để xử lý từng hàng</a:t>
            </a:r>
          </a:p>
          <a:p>
            <a:r>
              <a:rPr lang="x-none" sz="1350" dirty="0">
                <a:latin typeface="Arial" panose="020B0604020202020204" pitchFamily="34" charset="0"/>
                <a:cs typeface="Arial" panose="020B0604020202020204" pitchFamily="34" charset="0"/>
              </a:rPr>
              <a:t>  rowwise() %&gt;%</a:t>
            </a:r>
          </a:p>
          <a:p>
            <a:r>
              <a:rPr lang="x-none" sz="1350" dirty="0">
                <a:latin typeface="Arial" panose="020B0604020202020204" pitchFamily="34" charset="0"/>
                <a:cs typeface="Arial" panose="020B0604020202020204" pitchFamily="34" charset="0"/>
              </a:rPr>
              <a:t>  mutate(</a:t>
            </a:r>
          </a:p>
          <a:p>
            <a:r>
              <a:rPr lang="x-none" sz="1350" dirty="0">
                <a:latin typeface="Arial" panose="020B0604020202020204" pitchFamily="34" charset="0"/>
                <a:cs typeface="Arial" panose="020B0604020202020204" pitchFamily="34" charset="0"/>
              </a:rPr>
              <a:t>    # Tính p-value cho MDA-MB-231 bằng cách so sánh các giá trị control và G9A</a:t>
            </a:r>
          </a:p>
          <a:p>
            <a:r>
              <a:rPr lang="x-none" sz="1350" dirty="0">
                <a:latin typeface="Arial" panose="020B0604020202020204" pitchFamily="34" charset="0"/>
                <a:cs typeface="Arial" panose="020B0604020202020204" pitchFamily="34" charset="0"/>
              </a:rPr>
              <a:t>    `231_pvalue` = calculate_pvalue(</a:t>
            </a:r>
          </a:p>
          <a:p>
            <a:r>
              <a:rPr lang="x-none" sz="1350" dirty="0">
                <a:latin typeface="Arial" panose="020B0604020202020204" pitchFamily="34" charset="0"/>
                <a:cs typeface="Arial" panose="020B0604020202020204" pitchFamily="34" charset="0"/>
              </a:rPr>
              <a:t>      c(`231con1`, `231con2`, `231con3`),</a:t>
            </a:r>
          </a:p>
          <a:p>
            <a:r>
              <a:rPr lang="x-none" sz="1350" dirty="0">
                <a:latin typeface="Arial" panose="020B0604020202020204" pitchFamily="34" charset="0"/>
                <a:cs typeface="Arial" panose="020B0604020202020204" pitchFamily="34" charset="0"/>
              </a:rPr>
              <a:t>      c(`231G9A1`, `231G9A2`, `231G9A3`)</a:t>
            </a:r>
          </a:p>
          <a:p>
            <a:r>
              <a:rPr lang="x-none" sz="1350" dirty="0">
                <a:latin typeface="Arial" panose="020B0604020202020204" pitchFamily="34" charset="0"/>
                <a:cs typeface="Arial" panose="020B0604020202020204" pitchFamily="34" charset="0"/>
              </a:rPr>
              <a:t>    ),</a:t>
            </a:r>
          </a:p>
          <a:p>
            <a:r>
              <a:rPr lang="x-none" sz="1350" dirty="0">
                <a:latin typeface="Arial" panose="020B0604020202020204" pitchFamily="34" charset="0"/>
                <a:cs typeface="Arial" panose="020B0604020202020204" pitchFamily="34" charset="0"/>
              </a:rPr>
              <a:t>    # Tính p-value cho MDA-MB-468</a:t>
            </a:r>
          </a:p>
          <a:p>
            <a:r>
              <a:rPr lang="x-none" sz="1350" dirty="0">
                <a:latin typeface="Arial" panose="020B0604020202020204" pitchFamily="34" charset="0"/>
                <a:cs typeface="Arial" panose="020B0604020202020204" pitchFamily="34" charset="0"/>
              </a:rPr>
              <a:t>    `468_pvalue` = calculate_pvalue(</a:t>
            </a:r>
          </a:p>
          <a:p>
            <a:r>
              <a:rPr lang="x-none" sz="1350" dirty="0">
                <a:latin typeface="Arial" panose="020B0604020202020204" pitchFamily="34" charset="0"/>
                <a:cs typeface="Arial" panose="020B0604020202020204" pitchFamily="34" charset="0"/>
              </a:rPr>
              <a:t>      c(`468con1`, `468con2`, `468con3`),</a:t>
            </a:r>
          </a:p>
          <a:p>
            <a:r>
              <a:rPr lang="x-none" sz="1350" dirty="0">
                <a:latin typeface="Arial" panose="020B0604020202020204" pitchFamily="34" charset="0"/>
                <a:cs typeface="Arial" panose="020B0604020202020204" pitchFamily="34" charset="0"/>
              </a:rPr>
              <a:t>      c(`468G9A1`, `468G9A2`, `468G9A3`)</a:t>
            </a:r>
          </a:p>
          <a:p>
            <a:r>
              <a:rPr lang="x-none" sz="1350" dirty="0">
                <a:latin typeface="Arial" panose="020B0604020202020204" pitchFamily="34" charset="0"/>
                <a:cs typeface="Arial" panose="020B0604020202020204" pitchFamily="34" charset="0"/>
              </a:rPr>
              <a:t>    ),</a:t>
            </a:r>
          </a:p>
          <a:p>
            <a:r>
              <a:rPr lang="x-none" sz="1350" dirty="0">
                <a:latin typeface="Arial" panose="020B0604020202020204" pitchFamily="34" charset="0"/>
                <a:cs typeface="Arial" panose="020B0604020202020204" pitchFamily="34" charset="0"/>
              </a:rPr>
              <a:t>    # Tính p-value cho MCF-7</a:t>
            </a:r>
          </a:p>
          <a:p>
            <a:r>
              <a:rPr lang="x-none" sz="1350" dirty="0">
                <a:latin typeface="Arial" panose="020B0604020202020204" pitchFamily="34" charset="0"/>
                <a:cs typeface="Arial" panose="020B0604020202020204" pitchFamily="34" charset="0"/>
              </a:rPr>
              <a:t>    MCF7_pvalue = calculate_pvalue(</a:t>
            </a:r>
          </a:p>
          <a:p>
            <a:r>
              <a:rPr lang="x-none" sz="1350" dirty="0">
                <a:latin typeface="Arial" panose="020B0604020202020204" pitchFamily="34" charset="0"/>
                <a:cs typeface="Arial" panose="020B0604020202020204" pitchFamily="34" charset="0"/>
              </a:rPr>
              <a:t>      c(MCF7con1, MCF7con2, MCF7con3),</a:t>
            </a:r>
          </a:p>
          <a:p>
            <a:r>
              <a:rPr lang="x-none" sz="1350" dirty="0">
                <a:latin typeface="Arial" panose="020B0604020202020204" pitchFamily="34" charset="0"/>
                <a:cs typeface="Arial" panose="020B0604020202020204" pitchFamily="34" charset="0"/>
              </a:rPr>
              <a:t>      c(MCF7G9A1, MCF7G9A2, MCF7G9A3)</a:t>
            </a:r>
          </a:p>
          <a:p>
            <a:r>
              <a:rPr lang="x-none" sz="1350" dirty="0">
                <a:latin typeface="Arial" panose="020B0604020202020204" pitchFamily="34" charset="0"/>
                <a:cs typeface="Arial" panose="020B0604020202020204" pitchFamily="34" charset="0"/>
              </a:rPr>
              <a:t>    ),</a:t>
            </a:r>
          </a:p>
          <a:p>
            <a:r>
              <a:rPr lang="x-none" sz="1350" dirty="0">
                <a:latin typeface="Arial" panose="020B0604020202020204" pitchFamily="34" charset="0"/>
                <a:cs typeface="Arial" panose="020B0604020202020204" pitchFamily="34" charset="0"/>
              </a:rPr>
              <a:t>    # Điều chỉnh p-value bằng phương pháp FDR cho MDA-MB-231</a:t>
            </a:r>
          </a:p>
          <a:p>
            <a:r>
              <a:rPr lang="x-none" sz="1350" dirty="0">
                <a:latin typeface="Arial" panose="020B0604020202020204" pitchFamily="34" charset="0"/>
                <a:cs typeface="Arial" panose="020B0604020202020204" pitchFamily="34" charset="0"/>
              </a:rPr>
              <a:t>    `231_adj_pvalue` = p.adjust(`231_pvalue`, method = "fdr"),</a:t>
            </a:r>
          </a:p>
        </p:txBody>
      </p:sp>
    </p:spTree>
    <p:extLst>
      <p:ext uri="{BB962C8B-B14F-4D97-AF65-F5344CB8AC3E}">
        <p14:creationId xmlns:p14="http://schemas.microsoft.com/office/powerpoint/2010/main" val="4894345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B6FCEEB-78C6-4D9A-8CB4-26F63C8DAFD1}"/>
              </a:ext>
            </a:extLst>
          </p:cNvPr>
          <p:cNvSpPr txBox="1"/>
          <p:nvPr/>
        </p:nvSpPr>
        <p:spPr>
          <a:xfrm>
            <a:off x="0" y="785969"/>
            <a:ext cx="4580163" cy="5286062"/>
          </a:xfrm>
          <a:prstGeom prst="rect">
            <a:avLst/>
          </a:prstGeom>
          <a:noFill/>
        </p:spPr>
        <p:txBody>
          <a:bodyPr wrap="square">
            <a:spAutoFit/>
          </a:bodyPr>
          <a:lstStyle/>
          <a:p>
            <a:r>
              <a:rPr lang="x-none" sz="1350" dirty="0">
                <a:latin typeface="Arial" panose="020B0604020202020204" pitchFamily="34" charset="0"/>
                <a:cs typeface="Arial" panose="020B0604020202020204" pitchFamily="34" charset="0"/>
              </a:rPr>
              <a:t># Điều chỉnh p-value bằng phương pháp FDR cho MDA-MB-468</a:t>
            </a:r>
          </a:p>
          <a:p>
            <a:r>
              <a:rPr lang="x-none" sz="1350" dirty="0">
                <a:latin typeface="Arial" panose="020B0604020202020204" pitchFamily="34" charset="0"/>
                <a:cs typeface="Arial" panose="020B0604020202020204" pitchFamily="34" charset="0"/>
              </a:rPr>
              <a:t>    `468_adj_pvalue` = p.adjust(`468_pvalue`, method = "fdr"),</a:t>
            </a:r>
          </a:p>
          <a:p>
            <a:r>
              <a:rPr lang="x-none" sz="1350" dirty="0">
                <a:latin typeface="Arial" panose="020B0604020202020204" pitchFamily="34" charset="0"/>
                <a:cs typeface="Arial" panose="020B0604020202020204" pitchFamily="34" charset="0"/>
              </a:rPr>
              <a:t>    # Điều chỉnh p-value bằng phương pháp FDR cho MCF-7</a:t>
            </a:r>
          </a:p>
          <a:p>
            <a:r>
              <a:rPr lang="x-none" sz="1350" dirty="0">
                <a:latin typeface="Arial" panose="020B0604020202020204" pitchFamily="34" charset="0"/>
                <a:cs typeface="Arial" panose="020B0604020202020204" pitchFamily="34" charset="0"/>
              </a:rPr>
              <a:t>    MCF7_adj_pvalue = p.adjust(MCF7_pvalue, method = "fdr")</a:t>
            </a:r>
          </a:p>
          <a:p>
            <a:r>
              <a:rPr lang="x-none" sz="1350" dirty="0">
                <a:latin typeface="Arial" panose="020B0604020202020204" pitchFamily="34" charset="0"/>
                <a:cs typeface="Arial" panose="020B0604020202020204" pitchFamily="34" charset="0"/>
              </a:rPr>
              <a:t>  ) %&gt;%</a:t>
            </a:r>
          </a:p>
          <a:p>
            <a:r>
              <a:rPr lang="x-none" sz="1350" dirty="0">
                <a:latin typeface="Arial" panose="020B0604020202020204" pitchFamily="34" charset="0"/>
                <a:cs typeface="Arial" panose="020B0604020202020204" pitchFamily="34" charset="0"/>
              </a:rPr>
              <a:t>  # Hủy chế độ rowwise để quay lại xử lý dữ liệu thông thường</a:t>
            </a:r>
          </a:p>
          <a:p>
            <a:r>
              <a:rPr lang="x-none" sz="1350" dirty="0">
                <a:latin typeface="Arial" panose="020B0604020202020204" pitchFamily="34" charset="0"/>
                <a:cs typeface="Arial" panose="020B0604020202020204" pitchFamily="34" charset="0"/>
              </a:rPr>
              <a:t>  ungroup()</a:t>
            </a:r>
          </a:p>
          <a:p>
            <a:r>
              <a:rPr lang="x-none" sz="1350" dirty="0">
                <a:latin typeface="Arial" panose="020B0604020202020204" pitchFamily="34" charset="0"/>
                <a:cs typeface="Arial" panose="020B0604020202020204" pitchFamily="34" charset="0"/>
              </a:rPr>
              <a:t># Điều chỉnh p-value bằng phương pháp FDR cho MDA-MB-468</a:t>
            </a:r>
          </a:p>
          <a:p>
            <a:r>
              <a:rPr lang="x-none" sz="1350" dirty="0">
                <a:latin typeface="Arial" panose="020B0604020202020204" pitchFamily="34" charset="0"/>
                <a:cs typeface="Arial" panose="020B0604020202020204" pitchFamily="34" charset="0"/>
              </a:rPr>
              <a:t>    `468_adj_pvalue` = p.adjust(`468_pvalue`, method = "fdr"),</a:t>
            </a:r>
          </a:p>
          <a:p>
            <a:r>
              <a:rPr lang="x-none" sz="1350" dirty="0">
                <a:latin typeface="Arial" panose="020B0604020202020204" pitchFamily="34" charset="0"/>
                <a:cs typeface="Arial" panose="020B0604020202020204" pitchFamily="34" charset="0"/>
              </a:rPr>
              <a:t>    # Điều chỉnh p-value bằng phương pháp FDR cho MCF-7</a:t>
            </a:r>
          </a:p>
          <a:p>
            <a:r>
              <a:rPr lang="x-none" sz="1350" dirty="0">
                <a:latin typeface="Arial" panose="020B0604020202020204" pitchFamily="34" charset="0"/>
                <a:cs typeface="Arial" panose="020B0604020202020204" pitchFamily="34" charset="0"/>
              </a:rPr>
              <a:t>    MCF7_adj_pvalue = p.adjust(MCF7_pvalue, method = "fdr")</a:t>
            </a:r>
          </a:p>
          <a:p>
            <a:r>
              <a:rPr lang="x-none" sz="1350" dirty="0">
                <a:latin typeface="Arial" panose="020B0604020202020204" pitchFamily="34" charset="0"/>
                <a:cs typeface="Arial" panose="020B0604020202020204" pitchFamily="34" charset="0"/>
              </a:rPr>
              <a:t>  ) %&gt;%</a:t>
            </a:r>
          </a:p>
          <a:p>
            <a:r>
              <a:rPr lang="x-none" sz="1350" dirty="0">
                <a:latin typeface="Arial" panose="020B0604020202020204" pitchFamily="34" charset="0"/>
                <a:cs typeface="Arial" panose="020B0604020202020204" pitchFamily="34" charset="0"/>
              </a:rPr>
              <a:t>  # Hủy chế độ rowwise để quay lại xử lý dữ liệu thông thường</a:t>
            </a:r>
          </a:p>
          <a:p>
            <a:r>
              <a:rPr lang="x-none" sz="1350" dirty="0">
                <a:latin typeface="Arial" panose="020B0604020202020204" pitchFamily="34" charset="0"/>
                <a:cs typeface="Arial" panose="020B0604020202020204" pitchFamily="34" charset="0"/>
              </a:rPr>
              <a:t>  ungroup()</a:t>
            </a:r>
          </a:p>
          <a:p>
            <a:r>
              <a:rPr lang="x-none" sz="1350" dirty="0">
                <a:latin typeface="Arial" panose="020B0604020202020204" pitchFamily="34" charset="0"/>
                <a:cs typeface="Arial" panose="020B0604020202020204" pitchFamily="34" charset="0"/>
              </a:rPr>
              <a:t> Tiếp tục làm các mẫu tương tự</a:t>
            </a:r>
          </a:p>
        </p:txBody>
      </p:sp>
      <p:sp>
        <p:nvSpPr>
          <p:cNvPr id="7" name="TextBox 6">
            <a:extLst>
              <a:ext uri="{FF2B5EF4-FFF2-40B4-BE49-F238E27FC236}">
                <a16:creationId xmlns:a16="http://schemas.microsoft.com/office/drawing/2014/main" xmlns="" id="{EC8B61E5-96D6-B4B7-EBB9-248A05C69087}"/>
              </a:ext>
            </a:extLst>
          </p:cNvPr>
          <p:cNvSpPr txBox="1"/>
          <p:nvPr/>
        </p:nvSpPr>
        <p:spPr>
          <a:xfrm>
            <a:off x="5151663" y="889843"/>
            <a:ext cx="4033157" cy="3624069"/>
          </a:xfrm>
          <a:prstGeom prst="rect">
            <a:avLst/>
          </a:prstGeom>
          <a:noFill/>
        </p:spPr>
        <p:txBody>
          <a:bodyPr wrap="square">
            <a:spAutoFit/>
          </a:bodyPr>
          <a:lstStyle/>
          <a:p>
            <a:r>
              <a:rPr lang="x-none" sz="1350" dirty="0">
                <a:highlight>
                  <a:srgbClr val="FFFF00"/>
                </a:highlight>
                <a:latin typeface="Arial" panose="020B0604020202020204" pitchFamily="34" charset="0"/>
                <a:cs typeface="Arial" panose="020B0604020202020204" pitchFamily="34" charset="0"/>
              </a:rPr>
              <a:t># Hiển thị và lưu biểu đồ cho MDA-MB-231</a:t>
            </a:r>
          </a:p>
          <a:p>
            <a:r>
              <a:rPr lang="x-none" sz="1350" dirty="0">
                <a:highlight>
                  <a:srgbClr val="FFFF00"/>
                </a:highlight>
                <a:latin typeface="Arial" panose="020B0604020202020204" pitchFamily="34" charset="0"/>
                <a:cs typeface="Arial" panose="020B0604020202020204" pitchFamily="34" charset="0"/>
              </a:rPr>
              <a:t>print(p1)</a:t>
            </a:r>
          </a:p>
          <a:p>
            <a:r>
              <a:rPr lang="x-none" sz="1350" dirty="0">
                <a:latin typeface="Arial" panose="020B0604020202020204" pitchFamily="34" charset="0"/>
                <a:cs typeface="Arial" panose="020B0604020202020204" pitchFamily="34" charset="0"/>
              </a:rPr>
              <a:t>ggsave("volcano_231.png", plot = p1, width = 8, height = 6)</a:t>
            </a:r>
          </a:p>
          <a:p>
            <a:r>
              <a:rPr lang="x-none" sz="1350" dirty="0">
                <a:latin typeface="Arial" panose="020B0604020202020204" pitchFamily="34" charset="0"/>
                <a:cs typeface="Arial" panose="020B0604020202020204" pitchFamily="34" charset="0"/>
              </a:rPr>
              <a:t>message("Đã lưu biểu đồ: volcano_231.png")</a:t>
            </a:r>
          </a:p>
          <a:p>
            <a:endParaRPr lang="x-none" sz="1350" dirty="0">
              <a:latin typeface="Arial" panose="020B0604020202020204" pitchFamily="34" charset="0"/>
              <a:cs typeface="Arial" panose="020B0604020202020204" pitchFamily="34" charset="0"/>
            </a:endParaRPr>
          </a:p>
          <a:p>
            <a:r>
              <a:rPr lang="x-none" sz="1350" dirty="0">
                <a:latin typeface="Arial" panose="020B0604020202020204" pitchFamily="34" charset="0"/>
                <a:cs typeface="Arial" panose="020B0604020202020204" pitchFamily="34" charset="0"/>
              </a:rPr>
              <a:t># Hiển thị và lưu biểu đồ cho MDA-MB-468</a:t>
            </a:r>
          </a:p>
          <a:p>
            <a:r>
              <a:rPr lang="x-none" sz="1350" dirty="0">
                <a:latin typeface="Arial" panose="020B0604020202020204" pitchFamily="34" charset="0"/>
                <a:cs typeface="Arial" panose="020B0604020202020204" pitchFamily="34" charset="0"/>
              </a:rPr>
              <a:t>print(p2)</a:t>
            </a:r>
          </a:p>
          <a:p>
            <a:r>
              <a:rPr lang="x-none" sz="1350" dirty="0">
                <a:latin typeface="Arial" panose="020B0604020202020204" pitchFamily="34" charset="0"/>
                <a:cs typeface="Arial" panose="020B0604020202020204" pitchFamily="34" charset="0"/>
              </a:rPr>
              <a:t>ggsave("volcano_468.png", plot = p2, width = 8, height = 6)</a:t>
            </a:r>
          </a:p>
          <a:p>
            <a:r>
              <a:rPr lang="x-none" sz="1350" dirty="0">
                <a:latin typeface="Arial" panose="020B0604020202020204" pitchFamily="34" charset="0"/>
                <a:cs typeface="Arial" panose="020B0604020202020204" pitchFamily="34" charset="0"/>
              </a:rPr>
              <a:t>message("Đã lưu biểu đồ: volcano_468.png")</a:t>
            </a:r>
          </a:p>
          <a:p>
            <a:endParaRPr lang="x-none" sz="1350" dirty="0">
              <a:latin typeface="Arial" panose="020B0604020202020204" pitchFamily="34" charset="0"/>
              <a:cs typeface="Arial" panose="020B0604020202020204" pitchFamily="34" charset="0"/>
            </a:endParaRPr>
          </a:p>
          <a:p>
            <a:r>
              <a:rPr lang="x-none" sz="1350" dirty="0">
                <a:latin typeface="Arial" panose="020B0604020202020204" pitchFamily="34" charset="0"/>
                <a:cs typeface="Arial" panose="020B0604020202020204" pitchFamily="34" charset="0"/>
              </a:rPr>
              <a:t># Hiển thị và lưu biểu đồ cho MCF-7</a:t>
            </a:r>
          </a:p>
          <a:p>
            <a:r>
              <a:rPr lang="x-none" sz="1350" dirty="0">
                <a:latin typeface="Arial" panose="020B0604020202020204" pitchFamily="34" charset="0"/>
                <a:cs typeface="Arial" panose="020B0604020202020204" pitchFamily="34" charset="0"/>
              </a:rPr>
              <a:t>print(p3)</a:t>
            </a:r>
          </a:p>
          <a:p>
            <a:r>
              <a:rPr lang="x-none" sz="1350" dirty="0">
                <a:latin typeface="Arial" panose="020B0604020202020204" pitchFamily="34" charset="0"/>
                <a:cs typeface="Arial" panose="020B0604020202020204" pitchFamily="34" charset="0"/>
              </a:rPr>
              <a:t>ggsave("volcano_MCF7.png", plot = p3, width = 8, height = 6)</a:t>
            </a:r>
          </a:p>
          <a:p>
            <a:r>
              <a:rPr lang="x-none" sz="1350" dirty="0">
                <a:latin typeface="Arial" panose="020B0604020202020204" pitchFamily="34" charset="0"/>
                <a:cs typeface="Arial" panose="020B0604020202020204" pitchFamily="34" charset="0"/>
              </a:rPr>
              <a:t>message("Đã lưu biểu đồ: volcano_MCF7.png")</a:t>
            </a:r>
          </a:p>
        </p:txBody>
      </p:sp>
      <p:sp>
        <p:nvSpPr>
          <p:cNvPr id="8" name="Right Arrow 7">
            <a:extLst>
              <a:ext uri="{FF2B5EF4-FFF2-40B4-BE49-F238E27FC236}">
                <a16:creationId xmlns:a16="http://schemas.microsoft.com/office/drawing/2014/main" xmlns="" id="{63C5B920-5A51-2EC0-4FE7-ECEF3308BBB0}"/>
              </a:ext>
            </a:extLst>
          </p:cNvPr>
          <p:cNvSpPr/>
          <p:nvPr/>
        </p:nvSpPr>
        <p:spPr>
          <a:xfrm>
            <a:off x="4572000" y="3429001"/>
            <a:ext cx="571500" cy="416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sz="1350"/>
          </a:p>
        </p:txBody>
      </p:sp>
    </p:spTree>
    <p:extLst>
      <p:ext uri="{BB962C8B-B14F-4D97-AF65-F5344CB8AC3E}">
        <p14:creationId xmlns:p14="http://schemas.microsoft.com/office/powerpoint/2010/main" val="40308726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08E3E67F-FD4B-AC59-132E-AE9E077701AE}"/>
              </a:ext>
            </a:extLst>
          </p:cNvPr>
          <p:cNvPicPr>
            <a:picLocks noChangeAspect="1"/>
          </p:cNvPicPr>
          <p:nvPr/>
        </p:nvPicPr>
        <p:blipFill>
          <a:blip r:embed="rId2"/>
          <a:stretch>
            <a:fillRect/>
          </a:stretch>
        </p:blipFill>
        <p:spPr>
          <a:xfrm>
            <a:off x="0" y="1700212"/>
            <a:ext cx="3214688" cy="3271837"/>
          </a:xfrm>
          <a:prstGeom prst="rect">
            <a:avLst/>
          </a:prstGeom>
        </p:spPr>
      </p:pic>
      <p:pic>
        <p:nvPicPr>
          <p:cNvPr id="5" name="Picture 4">
            <a:extLst>
              <a:ext uri="{FF2B5EF4-FFF2-40B4-BE49-F238E27FC236}">
                <a16:creationId xmlns:a16="http://schemas.microsoft.com/office/drawing/2014/main" xmlns="" id="{3FA65914-8426-6B37-8FC1-F13CBCE4D049}"/>
              </a:ext>
            </a:extLst>
          </p:cNvPr>
          <p:cNvPicPr>
            <a:picLocks noChangeAspect="1"/>
          </p:cNvPicPr>
          <p:nvPr/>
        </p:nvPicPr>
        <p:blipFill>
          <a:blip r:embed="rId3"/>
          <a:stretch>
            <a:fillRect/>
          </a:stretch>
        </p:blipFill>
        <p:spPr>
          <a:xfrm>
            <a:off x="3214688" y="1700212"/>
            <a:ext cx="3357562" cy="3271837"/>
          </a:xfrm>
          <a:prstGeom prst="rect">
            <a:avLst/>
          </a:prstGeom>
        </p:spPr>
      </p:pic>
      <p:pic>
        <p:nvPicPr>
          <p:cNvPr id="6" name="Picture 5">
            <a:extLst>
              <a:ext uri="{FF2B5EF4-FFF2-40B4-BE49-F238E27FC236}">
                <a16:creationId xmlns:a16="http://schemas.microsoft.com/office/drawing/2014/main" xmlns="" id="{116331B7-57B8-1DAF-EC56-3CE424D2F236}"/>
              </a:ext>
            </a:extLst>
          </p:cNvPr>
          <p:cNvPicPr>
            <a:picLocks noChangeAspect="1"/>
          </p:cNvPicPr>
          <p:nvPr/>
        </p:nvPicPr>
        <p:blipFill>
          <a:blip r:embed="rId4"/>
          <a:stretch>
            <a:fillRect/>
          </a:stretch>
        </p:blipFill>
        <p:spPr>
          <a:xfrm>
            <a:off x="6572250" y="1700212"/>
            <a:ext cx="2476503" cy="3271837"/>
          </a:xfrm>
          <a:prstGeom prst="rect">
            <a:avLst/>
          </a:prstGeom>
        </p:spPr>
      </p:pic>
    </p:spTree>
    <p:extLst>
      <p:ext uri="{BB962C8B-B14F-4D97-AF65-F5344CB8AC3E}">
        <p14:creationId xmlns:p14="http://schemas.microsoft.com/office/powerpoint/2010/main" val="4079532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540680C1-B0FC-7AF4-1CF6-CEA09CE22DBF}"/>
              </a:ext>
            </a:extLst>
          </p:cNvPr>
          <p:cNvPicPr>
            <a:picLocks noChangeAspect="1"/>
          </p:cNvPicPr>
          <p:nvPr/>
        </p:nvPicPr>
        <p:blipFill>
          <a:blip r:embed="rId3"/>
          <a:stretch>
            <a:fillRect/>
          </a:stretch>
        </p:blipFill>
        <p:spPr>
          <a:xfrm>
            <a:off x="0" y="157162"/>
            <a:ext cx="9004739" cy="2628900"/>
          </a:xfrm>
          <a:prstGeom prst="rect">
            <a:avLst/>
          </a:prstGeom>
        </p:spPr>
      </p:pic>
      <p:graphicFrame>
        <p:nvGraphicFramePr>
          <p:cNvPr id="5" name="Table 4">
            <a:extLst>
              <a:ext uri="{FF2B5EF4-FFF2-40B4-BE49-F238E27FC236}">
                <a16:creationId xmlns:a16="http://schemas.microsoft.com/office/drawing/2014/main" xmlns="" id="{1370DAD9-8D84-316C-7E6F-3CB176664CEE}"/>
              </a:ext>
            </a:extLst>
          </p:cNvPr>
          <p:cNvGraphicFramePr>
            <a:graphicFrameLocks noGrp="1"/>
          </p:cNvGraphicFramePr>
          <p:nvPr>
            <p:extLst>
              <p:ext uri="{D42A27DB-BD31-4B8C-83A1-F6EECF244321}">
                <p14:modId xmlns:p14="http://schemas.microsoft.com/office/powerpoint/2010/main" val="2140723074"/>
              </p:ext>
            </p:extLst>
          </p:nvPr>
        </p:nvGraphicFramePr>
        <p:xfrm>
          <a:off x="0" y="3084724"/>
          <a:ext cx="9144000" cy="2730288"/>
        </p:xfrm>
        <a:graphic>
          <a:graphicData uri="http://schemas.openxmlformats.org/drawingml/2006/table">
            <a:tbl>
              <a:tblPr>
                <a:tableStyleId>{5C22544A-7EE6-4342-B048-85BDC9FD1C3A}</a:tableStyleId>
              </a:tblPr>
              <a:tblGrid>
                <a:gridCol w="1606181">
                  <a:extLst>
                    <a:ext uri="{9D8B030D-6E8A-4147-A177-3AD203B41FA5}">
                      <a16:colId xmlns:a16="http://schemas.microsoft.com/office/drawing/2014/main" xmlns="" val="1978262596"/>
                    </a:ext>
                  </a:extLst>
                </a:gridCol>
                <a:gridCol w="957051">
                  <a:extLst>
                    <a:ext uri="{9D8B030D-6E8A-4147-A177-3AD203B41FA5}">
                      <a16:colId xmlns:a16="http://schemas.microsoft.com/office/drawing/2014/main" xmlns="" val="426277398"/>
                    </a:ext>
                  </a:extLst>
                </a:gridCol>
                <a:gridCol w="1267053">
                  <a:extLst>
                    <a:ext uri="{9D8B030D-6E8A-4147-A177-3AD203B41FA5}">
                      <a16:colId xmlns:a16="http://schemas.microsoft.com/office/drawing/2014/main" xmlns="" val="3929037659"/>
                    </a:ext>
                  </a:extLst>
                </a:gridCol>
                <a:gridCol w="817654">
                  <a:extLst>
                    <a:ext uri="{9D8B030D-6E8A-4147-A177-3AD203B41FA5}">
                      <a16:colId xmlns:a16="http://schemas.microsoft.com/office/drawing/2014/main" xmlns="" val="4090489611"/>
                    </a:ext>
                  </a:extLst>
                </a:gridCol>
                <a:gridCol w="1891217">
                  <a:extLst>
                    <a:ext uri="{9D8B030D-6E8A-4147-A177-3AD203B41FA5}">
                      <a16:colId xmlns:a16="http://schemas.microsoft.com/office/drawing/2014/main" xmlns="" val="3585425735"/>
                    </a:ext>
                  </a:extLst>
                </a:gridCol>
                <a:gridCol w="2604844">
                  <a:extLst>
                    <a:ext uri="{9D8B030D-6E8A-4147-A177-3AD203B41FA5}">
                      <a16:colId xmlns:a16="http://schemas.microsoft.com/office/drawing/2014/main" xmlns="" val="3859961001"/>
                    </a:ext>
                  </a:extLst>
                </a:gridCol>
              </a:tblGrid>
              <a:tr h="553732">
                <a:tc>
                  <a:txBody>
                    <a:bodyPr/>
                    <a:lstStyle/>
                    <a:p>
                      <a:pPr algn="ctr" fontAlgn="b"/>
                      <a:r>
                        <a:rPr lang="en-US" sz="1300" b="1" u="none" strike="noStrike" dirty="0">
                          <a:effectLst/>
                          <a:latin typeface="Arial" panose="020B0604020202020204" pitchFamily="34" charset="0"/>
                          <a:cs typeface="Arial" panose="020B0604020202020204" pitchFamily="34" charset="0"/>
                        </a:rPr>
                        <a:t>Danh </a:t>
                      </a:r>
                      <a:r>
                        <a:rPr lang="en-US" sz="1300" b="1" u="none" strike="noStrike" dirty="0" err="1">
                          <a:effectLst/>
                          <a:latin typeface="Arial" panose="020B0604020202020204" pitchFamily="34" charset="0"/>
                          <a:cs typeface="Arial" panose="020B0604020202020204" pitchFamily="34" charset="0"/>
                        </a:rPr>
                        <a:t>mục</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b="1" u="none" strike="noStrike" dirty="0">
                          <a:effectLst/>
                          <a:latin typeface="Arial" panose="020B0604020202020204" pitchFamily="34" charset="0"/>
                          <a:cs typeface="Arial" panose="020B0604020202020204" pitchFamily="34" charset="0"/>
                        </a:rPr>
                        <a:t>Luminal A</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b="1" u="none" strike="noStrike" dirty="0">
                          <a:effectLst/>
                          <a:latin typeface="Arial" panose="020B0604020202020204" pitchFamily="34" charset="0"/>
                          <a:cs typeface="Arial" panose="020B0604020202020204" pitchFamily="34" charset="0"/>
                        </a:rPr>
                        <a:t>Claudin-low TNBC</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b="1" u="none" strike="noStrike" dirty="0">
                          <a:effectLst/>
                          <a:latin typeface="Arial" panose="020B0604020202020204" pitchFamily="34" charset="0"/>
                          <a:cs typeface="Arial" panose="020B0604020202020204" pitchFamily="34" charset="0"/>
                        </a:rPr>
                        <a:t>Basal-like TNBC</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b="1" u="none" strike="noStrike" dirty="0">
                          <a:effectLst/>
                          <a:highlight>
                            <a:srgbClr val="FFFF00"/>
                          </a:highlight>
                          <a:latin typeface="Arial" panose="020B0604020202020204" pitchFamily="34" charset="0"/>
                          <a:cs typeface="Arial" panose="020B0604020202020204" pitchFamily="34" charset="0"/>
                        </a:rPr>
                        <a:t>Chung </a:t>
                      </a:r>
                      <a:r>
                        <a:rPr lang="en-US" sz="1300" b="1" u="none" strike="noStrike" dirty="0" err="1">
                          <a:effectLst/>
                          <a:highlight>
                            <a:srgbClr val="FFFF00"/>
                          </a:highlight>
                          <a:latin typeface="Arial" panose="020B0604020202020204" pitchFamily="34" charset="0"/>
                          <a:cs typeface="Arial" panose="020B0604020202020204" pitchFamily="34" charset="0"/>
                        </a:rPr>
                        <a:t>cả</a:t>
                      </a:r>
                      <a:r>
                        <a:rPr lang="en-US" sz="1300" b="1" u="none" strike="noStrike" dirty="0">
                          <a:effectLst/>
                          <a:highlight>
                            <a:srgbClr val="FFFF00"/>
                          </a:highlight>
                          <a:latin typeface="Arial" panose="020B0604020202020204" pitchFamily="34" charset="0"/>
                          <a:cs typeface="Arial" panose="020B0604020202020204" pitchFamily="34" charset="0"/>
                        </a:rPr>
                        <a:t> 3 </a:t>
                      </a:r>
                      <a:r>
                        <a:rPr lang="en-US" sz="1300" b="1" u="none" strike="noStrike" dirty="0" err="1">
                          <a:effectLst/>
                          <a:highlight>
                            <a:srgbClr val="FFFF00"/>
                          </a:highlight>
                          <a:latin typeface="Arial" panose="020B0604020202020204" pitchFamily="34" charset="0"/>
                          <a:cs typeface="Arial" panose="020B0604020202020204" pitchFamily="34" charset="0"/>
                        </a:rPr>
                        <a:t>nhóm</a:t>
                      </a:r>
                      <a:endParaRPr lang="en-US" sz="1300" b="1" i="0" u="none" strike="noStrike" dirty="0">
                        <a:solidFill>
                          <a:srgbClr val="000000"/>
                        </a:solidFill>
                        <a:effectLst/>
                        <a:highlight>
                          <a:srgbClr val="FFFF00"/>
                        </a:highligh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b="1" u="none" strike="noStrike" dirty="0" err="1">
                          <a:effectLst/>
                          <a:highlight>
                            <a:srgbClr val="FFFF00"/>
                          </a:highlight>
                          <a:latin typeface="Arial" panose="020B0604020202020204" pitchFamily="34" charset="0"/>
                          <a:cs typeface="Arial" panose="020B0604020202020204" pitchFamily="34" charset="0"/>
                        </a:rPr>
                        <a:t>Chồng</a:t>
                      </a:r>
                      <a:r>
                        <a:rPr lang="en-US" sz="1300" b="1" u="none" strike="noStrike" dirty="0">
                          <a:effectLst/>
                          <a:highlight>
                            <a:srgbClr val="FFFF00"/>
                          </a:highlight>
                          <a:latin typeface="Arial" panose="020B0604020202020204" pitchFamily="34" charset="0"/>
                          <a:cs typeface="Arial" panose="020B0604020202020204" pitchFamily="34" charset="0"/>
                        </a:rPr>
                        <a:t> </a:t>
                      </a:r>
                      <a:r>
                        <a:rPr lang="en-US" sz="1300" b="1" u="none" strike="noStrike" dirty="0" err="1">
                          <a:effectLst/>
                          <a:highlight>
                            <a:srgbClr val="FFFF00"/>
                          </a:highlight>
                          <a:latin typeface="Arial" panose="020B0604020202020204" pitchFamily="34" charset="0"/>
                          <a:cs typeface="Arial" panose="020B0604020202020204" pitchFamily="34" charset="0"/>
                        </a:rPr>
                        <a:t>lấp</a:t>
                      </a:r>
                      <a:r>
                        <a:rPr lang="en-US" sz="1300" b="1" u="none" strike="noStrike" dirty="0">
                          <a:effectLst/>
                          <a:highlight>
                            <a:srgbClr val="FFFF00"/>
                          </a:highlight>
                          <a:latin typeface="Arial" panose="020B0604020202020204" pitchFamily="34" charset="0"/>
                          <a:cs typeface="Arial" panose="020B0604020202020204" pitchFamily="34" charset="0"/>
                        </a:rPr>
                        <a:t> </a:t>
                      </a:r>
                      <a:r>
                        <a:rPr lang="en-US" sz="1300" b="1" u="none" strike="noStrike" dirty="0" err="1">
                          <a:effectLst/>
                          <a:highlight>
                            <a:srgbClr val="FFFF00"/>
                          </a:highlight>
                          <a:latin typeface="Arial" panose="020B0604020202020204" pitchFamily="34" charset="0"/>
                          <a:cs typeface="Arial" panose="020B0604020202020204" pitchFamily="34" charset="0"/>
                        </a:rPr>
                        <a:t>giữa</a:t>
                      </a:r>
                      <a:r>
                        <a:rPr lang="en-US" sz="1300" b="1" u="none" strike="noStrike" dirty="0">
                          <a:effectLst/>
                          <a:highlight>
                            <a:srgbClr val="FFFF00"/>
                          </a:highlight>
                          <a:latin typeface="Arial" panose="020B0604020202020204" pitchFamily="34" charset="0"/>
                          <a:cs typeface="Arial" panose="020B0604020202020204" pitchFamily="34" charset="0"/>
                        </a:rPr>
                        <a:t> 2 </a:t>
                      </a:r>
                      <a:r>
                        <a:rPr lang="en-US" sz="1300" b="1" u="none" strike="noStrike" dirty="0" err="1">
                          <a:effectLst/>
                          <a:highlight>
                            <a:srgbClr val="FFFF00"/>
                          </a:highlight>
                          <a:latin typeface="Arial" panose="020B0604020202020204" pitchFamily="34" charset="0"/>
                          <a:cs typeface="Arial" panose="020B0604020202020204" pitchFamily="34" charset="0"/>
                        </a:rPr>
                        <a:t>nhóm</a:t>
                      </a:r>
                      <a:endParaRPr lang="en-US" sz="1300" b="1" i="0" u="none" strike="noStrike" dirty="0">
                        <a:solidFill>
                          <a:srgbClr val="000000"/>
                        </a:solidFill>
                        <a:effectLst/>
                        <a:highlight>
                          <a:srgbClr val="FFFF00"/>
                        </a:highligh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37956296"/>
                  </a:ext>
                </a:extLst>
              </a:tr>
              <a:tr h="553732">
                <a:tc>
                  <a:txBody>
                    <a:bodyPr/>
                    <a:lstStyle/>
                    <a:p>
                      <a:pPr algn="ctr" fontAlgn="b"/>
                      <a:r>
                        <a:rPr lang="en-US" sz="1300" u="none" strike="noStrike" dirty="0">
                          <a:effectLst/>
                          <a:latin typeface="Arial" panose="020B0604020202020204" pitchFamily="34" charset="0"/>
                          <a:cs typeface="Arial" panose="020B0604020202020204" pitchFamily="34" charset="0"/>
                        </a:rPr>
                        <a:t>Downregulated gene sets</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dirty="0">
                          <a:effectLst/>
                          <a:latin typeface="Arial" panose="020B0604020202020204" pitchFamily="34" charset="0"/>
                          <a:cs typeface="Arial" panose="020B0604020202020204" pitchFamily="34" charset="0"/>
                        </a:rPr>
                        <a:t>43 </a:t>
                      </a:r>
                      <a:r>
                        <a:rPr lang="en-US" sz="1300" u="none" strike="noStrike" dirty="0" err="1">
                          <a:effectLst/>
                          <a:latin typeface="Arial" panose="020B0604020202020204" pitchFamily="34" charset="0"/>
                          <a:cs typeface="Arial" panose="020B0604020202020204" pitchFamily="34" charset="0"/>
                        </a:rPr>
                        <a:t>nhóm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riêng</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dirty="0">
                          <a:effectLst/>
                          <a:latin typeface="Arial" panose="020B0604020202020204" pitchFamily="34" charset="0"/>
                          <a:cs typeface="Arial" panose="020B0604020202020204" pitchFamily="34" charset="0"/>
                        </a:rPr>
                        <a:t>35 </a:t>
                      </a:r>
                      <a:r>
                        <a:rPr lang="en-US" sz="1300" u="none" strike="noStrike" dirty="0" err="1">
                          <a:effectLst/>
                          <a:latin typeface="Arial" panose="020B0604020202020204" pitchFamily="34" charset="0"/>
                          <a:cs typeface="Arial" panose="020B0604020202020204" pitchFamily="34" charset="0"/>
                        </a:rPr>
                        <a:t>nhóm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riêng</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dirty="0">
                          <a:effectLst/>
                          <a:latin typeface="Arial" panose="020B0604020202020204" pitchFamily="34" charset="0"/>
                          <a:cs typeface="Arial" panose="020B0604020202020204" pitchFamily="34" charset="0"/>
                        </a:rPr>
                        <a:t>43 </a:t>
                      </a:r>
                      <a:r>
                        <a:rPr lang="en-US" sz="1300" u="none" strike="noStrike" dirty="0" err="1">
                          <a:effectLst/>
                          <a:latin typeface="Arial" panose="020B0604020202020204" pitchFamily="34" charset="0"/>
                          <a:cs typeface="Arial" panose="020B0604020202020204" pitchFamily="34" charset="0"/>
                        </a:rPr>
                        <a:t>nhóm</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riêng</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dirty="0">
                          <a:effectLst/>
                          <a:latin typeface="Arial" panose="020B0604020202020204" pitchFamily="34" charset="0"/>
                          <a:cs typeface="Arial" panose="020B0604020202020204" pitchFamily="34" charset="0"/>
                        </a:rPr>
                        <a:t>4 </a:t>
                      </a:r>
                      <a:r>
                        <a:rPr lang="en-US" sz="1300" u="none" strike="noStrike" dirty="0" err="1">
                          <a:effectLst/>
                          <a:latin typeface="Arial" panose="020B0604020202020204" pitchFamily="34" charset="0"/>
                          <a:cs typeface="Arial" panose="020B0604020202020204" pitchFamily="34" charset="0"/>
                        </a:rPr>
                        <a:t>nhóm</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vi-VN" sz="1300" u="none" strike="noStrike" dirty="0">
                          <a:effectLst/>
                          <a:latin typeface="Arial" panose="020B0604020202020204" pitchFamily="34" charset="0"/>
                          <a:cs typeface="Arial" panose="020B0604020202020204" pitchFamily="34" charset="0"/>
                        </a:rPr>
                        <a:t>Có (số lượng không cụ thể)</a:t>
                      </a:r>
                      <a:endParaRPr lang="vi-VN"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4846138"/>
                  </a:ext>
                </a:extLst>
              </a:tr>
              <a:tr h="1069092">
                <a:tc>
                  <a:txBody>
                    <a:bodyPr/>
                    <a:lstStyle/>
                    <a:p>
                      <a:pPr algn="ctr" fontAlgn="b"/>
                      <a:r>
                        <a:rPr lang="en-US" sz="1300" u="none" strike="noStrike" dirty="0">
                          <a:effectLst/>
                          <a:latin typeface="Arial" panose="020B0604020202020204" pitchFamily="34" charset="0"/>
                          <a:cs typeface="Arial" panose="020B0604020202020204" pitchFamily="34" charset="0"/>
                        </a:rPr>
                        <a:t>Downregulated KEGG pathways</a:t>
                      </a:r>
                      <a:endParaRPr lang="en-US" sz="1300" b="1"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vi-VN" sz="1300" u="none" strike="noStrike" dirty="0">
                          <a:effectLst/>
                          <a:latin typeface="Arial" panose="020B0604020202020204" pitchFamily="34" charset="0"/>
                          <a:cs typeface="Arial" panose="020B0604020202020204" pitchFamily="34" charset="0"/>
                        </a:rPr>
                        <a:t>10 đường dẫn riêng</a:t>
                      </a:r>
                      <a:endParaRPr lang="vi-VN"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vi-VN" sz="1300" u="none" strike="noStrike">
                          <a:effectLst/>
                          <a:latin typeface="Arial" panose="020B0604020202020204" pitchFamily="34" charset="0"/>
                          <a:cs typeface="Arial" panose="020B0604020202020204" pitchFamily="34" charset="0"/>
                        </a:rPr>
                        <a:t>8 đường dẫn riêng</a:t>
                      </a:r>
                      <a:endParaRPr lang="vi-VN" sz="1300" b="0" i="0" u="none" strike="noStrike">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vi-VN" sz="1300" u="none" strike="noStrike">
                          <a:effectLst/>
                          <a:latin typeface="Arial" panose="020B0604020202020204" pitchFamily="34" charset="0"/>
                          <a:cs typeface="Arial" panose="020B0604020202020204" pitchFamily="34" charset="0"/>
                        </a:rPr>
                        <a:t>3 đường dẫn riêng</a:t>
                      </a:r>
                      <a:endParaRPr lang="vi-VN" sz="1300" b="0" i="0" u="none" strike="noStrike">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vi-VN" sz="1300" u="none" strike="noStrike" dirty="0">
                          <a:effectLst/>
                          <a:latin typeface="Arial" panose="020B0604020202020204" pitchFamily="34" charset="0"/>
                          <a:cs typeface="Arial" panose="020B0604020202020204" pitchFamily="34" charset="0"/>
                        </a:rPr>
                        <a:t>1 đường dẫn</a:t>
                      </a:r>
                      <a:endParaRPr lang="vi-VN"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dirty="0" err="1">
                          <a:effectLst/>
                          <a:latin typeface="Arial" panose="020B0604020202020204" pitchFamily="34" charset="0"/>
                          <a:cs typeface="Arial" panose="020B0604020202020204" pitchFamily="34" charset="0"/>
                        </a:rPr>
                        <a:t>Có</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21373798"/>
                  </a:ext>
                </a:extLst>
              </a:tr>
              <a:tr h="553732">
                <a:tc>
                  <a:txBody>
                    <a:bodyPr/>
                    <a:lstStyle/>
                    <a:p>
                      <a:pPr algn="ctr" fontAlgn="b"/>
                      <a:r>
                        <a:rPr lang="en-US" sz="1300" u="none" strike="noStrike">
                          <a:effectLst/>
                          <a:latin typeface="Arial" panose="020B0604020202020204" pitchFamily="34" charset="0"/>
                          <a:cs typeface="Arial" panose="020B0604020202020204" pitchFamily="34" charset="0"/>
                        </a:rPr>
                        <a:t>Downregulated GO terms</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a:effectLst/>
                          <a:latin typeface="Arial" panose="020B0604020202020204" pitchFamily="34" charset="0"/>
                          <a:cs typeface="Arial" panose="020B0604020202020204" pitchFamily="34" charset="0"/>
                        </a:rPr>
                        <a:t>69 mục riêng</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a:effectLst/>
                          <a:latin typeface="Arial" panose="020B0604020202020204" pitchFamily="34" charset="0"/>
                          <a:cs typeface="Arial" panose="020B0604020202020204" pitchFamily="34" charset="0"/>
                        </a:rPr>
                        <a:t>210 mục riêng</a:t>
                      </a:r>
                      <a:endParaRPr lang="en-US" sz="1300" b="1" i="0" u="none" strike="noStrike">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a:effectLst/>
                          <a:latin typeface="Arial" panose="020B0604020202020204" pitchFamily="34" charset="0"/>
                          <a:cs typeface="Arial" panose="020B0604020202020204" pitchFamily="34" charset="0"/>
                        </a:rPr>
                        <a:t>68 mục riêng</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a:effectLst/>
                          <a:latin typeface="Arial" panose="020B0604020202020204" pitchFamily="34" charset="0"/>
                          <a:cs typeface="Arial" panose="020B0604020202020204" pitchFamily="34" charset="0"/>
                        </a:rPr>
                        <a:t>4 mục</a:t>
                      </a:r>
                      <a:endParaRPr lang="en-US" sz="1300" b="0" i="0" u="none" strike="noStrike">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300" u="none" strike="noStrike" dirty="0" err="1">
                          <a:effectLst/>
                          <a:latin typeface="Arial" panose="020B0604020202020204" pitchFamily="34" charset="0"/>
                          <a:cs typeface="Arial" panose="020B0604020202020204" pitchFamily="34" charset="0"/>
                        </a:rPr>
                        <a:t>Có</a:t>
                      </a:r>
                      <a:r>
                        <a:rPr lang="en-US" sz="1300" u="none" strike="noStrike" dirty="0">
                          <a:effectLst/>
                          <a:latin typeface="Arial" panose="020B0604020202020204" pitchFamily="34" charset="0"/>
                          <a:cs typeface="Arial" panose="020B0604020202020204" pitchFamily="34" charset="0"/>
                        </a:rPr>
                        <a:t> (5, 6, 10,... </a:t>
                      </a:r>
                      <a:r>
                        <a:rPr lang="en-US" sz="1300" u="none" strike="noStrike" dirty="0" err="1">
                          <a:effectLst/>
                          <a:latin typeface="Arial" panose="020B0604020202020204" pitchFamily="34" charset="0"/>
                          <a:cs typeface="Arial" panose="020B0604020202020204" pitchFamily="34" charset="0"/>
                        </a:rPr>
                        <a:t>tùy</a:t>
                      </a:r>
                      <a:r>
                        <a:rPr lang="en-US" sz="1300" u="none" strike="noStrike" dirty="0">
                          <a:effectLst/>
                          <a:latin typeface="Arial" panose="020B0604020202020204" pitchFamily="34" charset="0"/>
                          <a:cs typeface="Arial" panose="020B0604020202020204" pitchFamily="34" charset="0"/>
                        </a:rPr>
                        <a:t> </a:t>
                      </a:r>
                      <a:r>
                        <a:rPr lang="en-US" sz="1300" u="none" strike="noStrike" dirty="0" err="1">
                          <a:effectLst/>
                          <a:latin typeface="Arial" panose="020B0604020202020204" pitchFamily="34" charset="0"/>
                          <a:cs typeface="Arial" panose="020B0604020202020204" pitchFamily="34" charset="0"/>
                        </a:rPr>
                        <a:t>cặp</a:t>
                      </a:r>
                      <a:r>
                        <a:rPr lang="en-US" sz="1300" u="none" strike="noStrike" dirty="0">
                          <a:effectLst/>
                          <a:latin typeface="Arial" panose="020B0604020202020204" pitchFamily="34" charset="0"/>
                          <a:cs typeface="Arial" panose="020B0604020202020204" pitchFamily="34" charset="0"/>
                        </a:rPr>
                        <a:t>)</a:t>
                      </a:r>
                      <a:endParaRPr lang="en-US" sz="1300" b="0" i="0" u="none" strike="noStrike" dirty="0">
                        <a:solidFill>
                          <a:srgbClr val="000000"/>
                        </a:solidFill>
                        <a:effectLst/>
                        <a:latin typeface="Arial" panose="020B0604020202020204" pitchFamily="34" charset="0"/>
                        <a:cs typeface="Arial" panose="020B0604020202020204" pitchFamily="34" charset="0"/>
                      </a:endParaRPr>
                    </a:p>
                  </a:txBody>
                  <a:tcPr marL="5309" marR="5309" marT="53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99662901"/>
                  </a:ext>
                </a:extLst>
              </a:tr>
            </a:tbl>
          </a:graphicData>
        </a:graphic>
      </p:graphicFrame>
      <p:sp>
        <p:nvSpPr>
          <p:cNvPr id="7" name="TextBox 6">
            <a:extLst>
              <a:ext uri="{FF2B5EF4-FFF2-40B4-BE49-F238E27FC236}">
                <a16:creationId xmlns:a16="http://schemas.microsoft.com/office/drawing/2014/main" xmlns="" id="{08C69107-666D-BE12-F54F-B19E149E3B48}"/>
              </a:ext>
            </a:extLst>
          </p:cNvPr>
          <p:cNvSpPr txBox="1"/>
          <p:nvPr/>
        </p:nvSpPr>
        <p:spPr>
          <a:xfrm>
            <a:off x="2278856" y="5998259"/>
            <a:ext cx="4586288" cy="646331"/>
          </a:xfrm>
          <a:prstGeom prst="rect">
            <a:avLst/>
          </a:prstGeom>
          <a:noFill/>
        </p:spPr>
        <p:txBody>
          <a:bodyPr wrap="square">
            <a:spAutoFit/>
          </a:bodyPr>
          <a:lstStyle/>
          <a:p>
            <a:r>
              <a:rPr lang="vi-VN" dirty="0"/>
              <a:t>Hình B này là các biểu đồ </a:t>
            </a:r>
            <a:r>
              <a:rPr lang="vi-VN" b="1" dirty="0"/>
              <a:t>Venn</a:t>
            </a:r>
            <a:r>
              <a:rPr lang="vi-VN" dirty="0"/>
              <a:t> dùng để so sánh </a:t>
            </a:r>
            <a:r>
              <a:rPr lang="vi-VN" b="1" dirty="0"/>
              <a:t>sự chồng lấp</a:t>
            </a:r>
            <a:r>
              <a:rPr lang="vi-VN" dirty="0"/>
              <a:t> giữa các nhóm gen</a:t>
            </a:r>
            <a:endParaRPr lang="x-none" dirty="0"/>
          </a:p>
        </p:txBody>
      </p:sp>
    </p:spTree>
    <p:extLst>
      <p:ext uri="{BB962C8B-B14F-4D97-AF65-F5344CB8AC3E}">
        <p14:creationId xmlns:p14="http://schemas.microsoft.com/office/powerpoint/2010/main" val="2627879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19C10F4E-5EBE-A9F5-72A9-73671962DAC6}"/>
              </a:ext>
            </a:extLst>
          </p:cNvPr>
          <p:cNvPicPr>
            <a:picLocks noChangeAspect="1"/>
          </p:cNvPicPr>
          <p:nvPr/>
        </p:nvPicPr>
        <p:blipFill>
          <a:blip r:embed="rId3"/>
          <a:stretch>
            <a:fillRect/>
          </a:stretch>
        </p:blipFill>
        <p:spPr>
          <a:xfrm>
            <a:off x="-20390" y="1443037"/>
            <a:ext cx="9164390" cy="3971925"/>
          </a:xfrm>
          <a:prstGeom prst="rect">
            <a:avLst/>
          </a:prstGeom>
        </p:spPr>
      </p:pic>
    </p:spTree>
    <p:extLst>
      <p:ext uri="{BB962C8B-B14F-4D97-AF65-F5344CB8AC3E}">
        <p14:creationId xmlns:p14="http://schemas.microsoft.com/office/powerpoint/2010/main" val="87753315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E5B8B0FF-8155-DC86-74F2-FD88ECA39602}"/>
              </a:ext>
            </a:extLst>
          </p:cNvPr>
          <p:cNvSpPr txBox="1"/>
          <p:nvPr/>
        </p:nvSpPr>
        <p:spPr>
          <a:xfrm>
            <a:off x="0" y="0"/>
            <a:ext cx="4572000" cy="7294305"/>
          </a:xfrm>
          <a:prstGeom prst="rect">
            <a:avLst/>
          </a:prstGeom>
          <a:noFill/>
        </p:spPr>
        <p:txBody>
          <a:bodyPr wrap="square">
            <a:spAutoFit/>
          </a:bodyPr>
          <a:lstStyle/>
          <a:p>
            <a:r>
              <a:rPr lang="x-none" dirty="0">
                <a:highlight>
                  <a:srgbClr val="FFFF00"/>
                </a:highlight>
                <a:latin typeface="Arial" panose="020B0604020202020204" pitchFamily="34" charset="0"/>
                <a:cs typeface="Arial" panose="020B0604020202020204" pitchFamily="34" charset="0"/>
              </a:rPr>
              <a:t># Tải gói </a:t>
            </a:r>
            <a:r>
              <a:rPr lang="x-none" dirty="0">
                <a:latin typeface="Arial" panose="020B0604020202020204" pitchFamily="34" charset="0"/>
                <a:cs typeface="Arial" panose="020B0604020202020204" pitchFamily="34" charset="0"/>
              </a:rPr>
              <a:t>tidyverse để xử lý và trực quan hóa dữ liệu</a:t>
            </a:r>
          </a:p>
          <a:p>
            <a:r>
              <a:rPr lang="x-none" dirty="0">
                <a:latin typeface="Arial" panose="020B0604020202020204" pitchFamily="34" charset="0"/>
                <a:cs typeface="Arial" panose="020B0604020202020204" pitchFamily="34" charset="0"/>
              </a:rPr>
              <a:t>library(tidyverse)</a:t>
            </a:r>
          </a:p>
          <a:p>
            <a:endParaRPr lang="x-none" dirty="0">
              <a:latin typeface="Arial" panose="020B0604020202020204" pitchFamily="34" charset="0"/>
              <a:cs typeface="Arial" panose="020B0604020202020204" pitchFamily="34" charset="0"/>
            </a:endParaRPr>
          </a:p>
          <a:p>
            <a:r>
              <a:rPr lang="x-none" dirty="0">
                <a:latin typeface="Arial" panose="020B0604020202020204" pitchFamily="34" charset="0"/>
                <a:cs typeface="Arial" panose="020B0604020202020204" pitchFamily="34" charset="0"/>
              </a:rPr>
              <a:t># Tải gói readr để đọc tệp CSV một cách hiệu quả</a:t>
            </a:r>
          </a:p>
          <a:p>
            <a:r>
              <a:rPr lang="x-none" dirty="0">
                <a:latin typeface="Arial" panose="020B0604020202020204" pitchFamily="34" charset="0"/>
                <a:cs typeface="Arial" panose="020B0604020202020204" pitchFamily="34" charset="0"/>
              </a:rPr>
              <a:t>library(readr)</a:t>
            </a:r>
          </a:p>
          <a:p>
            <a:endParaRPr lang="x-none" dirty="0">
              <a:latin typeface="Arial" panose="020B0604020202020204" pitchFamily="34" charset="0"/>
              <a:cs typeface="Arial" panose="020B0604020202020204" pitchFamily="34" charset="0"/>
            </a:endParaRPr>
          </a:p>
          <a:p>
            <a:r>
              <a:rPr lang="x-none" dirty="0">
                <a:latin typeface="Arial" panose="020B0604020202020204" pitchFamily="34" charset="0"/>
                <a:cs typeface="Arial" panose="020B0604020202020204" pitchFamily="34" charset="0"/>
              </a:rPr>
              <a:t># Tải gói clusterProfiler để phân tích con đường KEGG và GO</a:t>
            </a:r>
          </a:p>
          <a:p>
            <a:r>
              <a:rPr lang="x-none" dirty="0">
                <a:latin typeface="Arial" panose="020B0604020202020204" pitchFamily="34" charset="0"/>
                <a:cs typeface="Arial" panose="020B0604020202020204" pitchFamily="34" charset="0"/>
              </a:rPr>
              <a:t>library(clusterProfiler)</a:t>
            </a:r>
          </a:p>
          <a:p>
            <a:endParaRPr lang="x-none" dirty="0">
              <a:latin typeface="Arial" panose="020B0604020202020204" pitchFamily="34" charset="0"/>
              <a:cs typeface="Arial" panose="020B0604020202020204" pitchFamily="34" charset="0"/>
            </a:endParaRPr>
          </a:p>
          <a:p>
            <a:r>
              <a:rPr lang="x-none" dirty="0">
                <a:latin typeface="Arial" panose="020B0604020202020204" pitchFamily="34" charset="0"/>
                <a:cs typeface="Arial" panose="020B0604020202020204" pitchFamily="34" charset="0"/>
              </a:rPr>
              <a:t># Tải gói org.Hs.eg.db để ánh xạ gene ID sang ENTREZID</a:t>
            </a:r>
          </a:p>
          <a:p>
            <a:r>
              <a:rPr lang="x-none" dirty="0">
                <a:latin typeface="Arial" panose="020B0604020202020204" pitchFamily="34" charset="0"/>
                <a:cs typeface="Arial" panose="020B0604020202020204" pitchFamily="34" charset="0"/>
              </a:rPr>
              <a:t>library(org.Hs.eg.db)</a:t>
            </a:r>
          </a:p>
          <a:p>
            <a:endParaRPr lang="x-none" dirty="0">
              <a:latin typeface="Arial" panose="020B0604020202020204" pitchFamily="34" charset="0"/>
              <a:cs typeface="Arial" panose="020B0604020202020204" pitchFamily="34" charset="0"/>
            </a:endParaRPr>
          </a:p>
          <a:p>
            <a:r>
              <a:rPr lang="x-none" dirty="0">
                <a:highlight>
                  <a:srgbClr val="FFFF00"/>
                </a:highlight>
                <a:latin typeface="Arial" panose="020B0604020202020204" pitchFamily="34" charset="0"/>
                <a:cs typeface="Arial" panose="020B0604020202020204" pitchFamily="34" charset="0"/>
              </a:rPr>
              <a:t># Thiết lập thư mục làm việc (đảm bảo lưu tệp PNG đúng nơi)</a:t>
            </a:r>
          </a:p>
          <a:p>
            <a:r>
              <a:rPr lang="x-none" dirty="0">
                <a:latin typeface="Arial" panose="020B0604020202020204" pitchFamily="34" charset="0"/>
                <a:cs typeface="Arial" panose="020B0604020202020204" pitchFamily="34" charset="0"/>
              </a:rPr>
              <a:t>setwd("/cloud/project")</a:t>
            </a:r>
          </a:p>
          <a:p>
            <a:r>
              <a:rPr lang="x-none" dirty="0">
                <a:highlight>
                  <a:srgbClr val="FFFF00"/>
                </a:highlight>
                <a:latin typeface="Arial" panose="020B0604020202020204" pitchFamily="34" charset="0"/>
                <a:cs typeface="Arial" panose="020B0604020202020204" pitchFamily="34" charset="0"/>
              </a:rPr>
              <a:t># In thư mục làm việc để kiểm tra</a:t>
            </a:r>
          </a:p>
          <a:p>
            <a:r>
              <a:rPr lang="x-none" dirty="0">
                <a:highlight>
                  <a:srgbClr val="FFFF00"/>
                </a:highlight>
                <a:latin typeface="Arial" panose="020B0604020202020204" pitchFamily="34" charset="0"/>
                <a:cs typeface="Arial" panose="020B0604020202020204" pitchFamily="34" charset="0"/>
              </a:rPr>
              <a:t>message</a:t>
            </a:r>
            <a:r>
              <a:rPr lang="x-none" dirty="0">
                <a:latin typeface="Arial" panose="020B0604020202020204" pitchFamily="34" charset="0"/>
                <a:cs typeface="Arial" panose="020B0604020202020204" pitchFamily="34" charset="0"/>
              </a:rPr>
              <a:t>("Thư mục làm việc hiện tại: ", getwd())</a:t>
            </a:r>
          </a:p>
          <a:p>
            <a:r>
              <a:rPr lang="x-none" dirty="0">
                <a:highlight>
                  <a:srgbClr val="FFFF00"/>
                </a:highlight>
                <a:latin typeface="Arial" panose="020B0604020202020204" pitchFamily="34" charset="0"/>
                <a:cs typeface="Arial" panose="020B0604020202020204" pitchFamily="34" charset="0"/>
              </a:rPr>
              <a:t># Đọc dữ liệu từ tệp extract_file.csv, chứa biểu hiện gen của các dòng tế bào</a:t>
            </a:r>
          </a:p>
          <a:p>
            <a:r>
              <a:rPr lang="x-none" dirty="0">
                <a:latin typeface="Arial" panose="020B0604020202020204" pitchFamily="34" charset="0"/>
                <a:cs typeface="Arial" panose="020B0604020202020204" pitchFamily="34" charset="0"/>
              </a:rPr>
              <a:t>data &lt;- read_csv("extract_file.csv")</a:t>
            </a:r>
          </a:p>
        </p:txBody>
      </p:sp>
      <p:sp>
        <p:nvSpPr>
          <p:cNvPr id="7" name="TextBox 6">
            <a:extLst>
              <a:ext uri="{FF2B5EF4-FFF2-40B4-BE49-F238E27FC236}">
                <a16:creationId xmlns:a16="http://schemas.microsoft.com/office/drawing/2014/main" xmlns="" id="{5FE82B6F-0D12-B6D7-08E6-58F9A2D32FFB}"/>
              </a:ext>
            </a:extLst>
          </p:cNvPr>
          <p:cNvSpPr txBox="1"/>
          <p:nvPr/>
        </p:nvSpPr>
        <p:spPr>
          <a:xfrm>
            <a:off x="4400550" y="0"/>
            <a:ext cx="4872037" cy="6740307"/>
          </a:xfrm>
          <a:prstGeom prst="rect">
            <a:avLst/>
          </a:prstGeom>
          <a:noFill/>
        </p:spPr>
        <p:txBody>
          <a:bodyPr wrap="square">
            <a:spAutoFit/>
          </a:bodyPr>
          <a:lstStyle/>
          <a:p>
            <a:r>
              <a:rPr lang="x-none" dirty="0">
                <a:highlight>
                  <a:srgbClr val="FFFF00"/>
                </a:highlight>
                <a:latin typeface="Arial" panose="020B0604020202020204" pitchFamily="34" charset="0"/>
                <a:cs typeface="Arial" panose="020B0604020202020204" pitchFamily="34" charset="0"/>
              </a:rPr>
              <a:t># Tính trung bình và fold change cho từng dòng tế bào</a:t>
            </a:r>
          </a:p>
          <a:p>
            <a:r>
              <a:rPr lang="x-none" dirty="0">
                <a:latin typeface="Arial" panose="020B0604020202020204" pitchFamily="34" charset="0"/>
                <a:cs typeface="Arial" panose="020B0604020202020204" pitchFamily="34" charset="0"/>
              </a:rPr>
              <a:t>data &lt;- data %&gt;%</a:t>
            </a:r>
          </a:p>
          <a:p>
            <a:r>
              <a:rPr lang="x-none" dirty="0">
                <a:latin typeface="Arial" panose="020B0604020202020204" pitchFamily="34" charset="0"/>
                <a:cs typeface="Arial" panose="020B0604020202020204" pitchFamily="34" charset="0"/>
              </a:rPr>
              <a:t>  # Tính trung bình biểu hiện gen cho điều kiện đối chứng (control) của MDA-MB-231</a:t>
            </a:r>
          </a:p>
          <a:p>
            <a:r>
              <a:rPr lang="x-none" dirty="0">
                <a:latin typeface="Arial" panose="020B0604020202020204" pitchFamily="34" charset="0"/>
                <a:cs typeface="Arial" panose="020B0604020202020204" pitchFamily="34" charset="0"/>
              </a:rPr>
              <a:t>  mutate(</a:t>
            </a:r>
          </a:p>
          <a:p>
            <a:r>
              <a:rPr lang="x-none" dirty="0">
                <a:latin typeface="Arial" panose="020B0604020202020204" pitchFamily="34" charset="0"/>
                <a:cs typeface="Arial" panose="020B0604020202020204" pitchFamily="34" charset="0"/>
              </a:rPr>
              <a:t>    `231_con_avg` = (`231con1` + `231con2` + `231con3`) / 3,</a:t>
            </a:r>
          </a:p>
          <a:p>
            <a:r>
              <a:rPr lang="x-none" dirty="0">
                <a:latin typeface="Arial" panose="020B0604020202020204" pitchFamily="34" charset="0"/>
                <a:cs typeface="Arial" panose="020B0604020202020204" pitchFamily="34" charset="0"/>
              </a:rPr>
              <a:t>    # Tính trung bình biểu hiện gen cho điều kiện điều trị G9A của MDA-MB-231</a:t>
            </a:r>
          </a:p>
          <a:p>
            <a:r>
              <a:rPr lang="x-none" dirty="0">
                <a:latin typeface="Arial" panose="020B0604020202020204" pitchFamily="34" charset="0"/>
                <a:cs typeface="Arial" panose="020B0604020202020204" pitchFamily="34" charset="0"/>
              </a:rPr>
              <a:t>    `231_G9A_avg` = (`231G9A1` + `231G9A2` + `231G9A3`) / 3,</a:t>
            </a:r>
          </a:p>
          <a:p>
            <a:r>
              <a:rPr lang="x-none" dirty="0">
                <a:latin typeface="Arial" panose="020B0604020202020204" pitchFamily="34" charset="0"/>
                <a:cs typeface="Arial" panose="020B0604020202020204" pitchFamily="34" charset="0"/>
              </a:rPr>
              <a:t>    # Tính fold change (tỷ lệ G9A/control) cho MDA-MB-231, thêm 1e-6 để tránh chia cho 0</a:t>
            </a:r>
          </a:p>
          <a:p>
            <a:r>
              <a:rPr lang="x-none" dirty="0">
                <a:latin typeface="Arial" panose="020B0604020202020204" pitchFamily="34" charset="0"/>
                <a:cs typeface="Arial" panose="020B0604020202020204" pitchFamily="34" charset="0"/>
              </a:rPr>
              <a:t>    `231_fold_change` = `231_G9A_avg` / (`231_con_avg` + 1e-6),</a:t>
            </a:r>
          </a:p>
          <a:p>
            <a:r>
              <a:rPr lang="x-none" dirty="0">
                <a:latin typeface="Arial" panose="020B0604020202020204" pitchFamily="34" charset="0"/>
                <a:cs typeface="Arial" panose="020B0604020202020204" pitchFamily="34" charset="0"/>
              </a:rPr>
              <a:t>    # Tính log2 fold change cho MDA-MB-231</a:t>
            </a:r>
          </a:p>
          <a:p>
            <a:r>
              <a:rPr lang="x-none" dirty="0">
                <a:latin typeface="Arial" panose="020B0604020202020204" pitchFamily="34" charset="0"/>
                <a:cs typeface="Arial" panose="020B0604020202020204" pitchFamily="34" charset="0"/>
              </a:rPr>
              <a:t>    `231_log2FC` = log2(`231_fold_change` + 1e-6),</a:t>
            </a:r>
          </a:p>
          <a:p>
            <a:r>
              <a:rPr lang="x-none" dirty="0">
                <a:highlight>
                  <a:srgbClr val="FFFF00"/>
                </a:highlight>
                <a:latin typeface="Arial" panose="020B0604020202020204" pitchFamily="34" charset="0"/>
                <a:cs typeface="Arial" panose="020B0604020202020204" pitchFamily="34" charset="0"/>
              </a:rPr>
              <a:t># Tính trung bình biểu hiện gen cho điều kiện đối chứng của MDA-MB-468</a:t>
            </a:r>
          </a:p>
          <a:p>
            <a:r>
              <a:rPr lang="x-none" dirty="0">
                <a:latin typeface="Arial" panose="020B0604020202020204" pitchFamily="34" charset="0"/>
                <a:cs typeface="Arial" panose="020B0604020202020204" pitchFamily="34" charset="0"/>
              </a:rPr>
              <a:t>    `468_con_avg` = (`468con1` + `468con2` + `468con3`) / 3,</a:t>
            </a:r>
          </a:p>
          <a:p>
            <a:r>
              <a:rPr lang="x-none"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9970098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1B77939-128E-C34E-57E8-D222A43A3DE7}"/>
              </a:ext>
            </a:extLst>
          </p:cNvPr>
          <p:cNvSpPr txBox="1"/>
          <p:nvPr/>
        </p:nvSpPr>
        <p:spPr>
          <a:xfrm>
            <a:off x="-1" y="0"/>
            <a:ext cx="5114925" cy="7294305"/>
          </a:xfrm>
          <a:prstGeom prst="rect">
            <a:avLst/>
          </a:prstGeom>
          <a:noFill/>
        </p:spPr>
        <p:txBody>
          <a:bodyPr wrap="square">
            <a:spAutoFit/>
          </a:bodyPr>
          <a:lstStyle/>
          <a:p>
            <a:r>
              <a:rPr lang="x-none" dirty="0">
                <a:highlight>
                  <a:srgbClr val="FFFF00"/>
                </a:highlight>
                <a:latin typeface="Arial" panose="020B0604020202020204" pitchFamily="34" charset="0"/>
                <a:cs typeface="Arial" panose="020B0604020202020204" pitchFamily="34" charset="0"/>
              </a:rPr>
              <a:t># Tính trung bình biểu hiện gen cho điều kiện điều trị G9A của MDA-MB-468</a:t>
            </a:r>
          </a:p>
          <a:p>
            <a:r>
              <a:rPr lang="x-none" dirty="0">
                <a:latin typeface="Arial" panose="020B0604020202020204" pitchFamily="34" charset="0"/>
                <a:cs typeface="Arial" panose="020B0604020202020204" pitchFamily="34" charset="0"/>
              </a:rPr>
              <a:t>    `468_G9A_avg` = (`468G9A1` + `468G9A2` + `468G9A3`) / 3,</a:t>
            </a:r>
          </a:p>
          <a:p>
            <a:r>
              <a:rPr lang="x-none" dirty="0">
                <a:latin typeface="Arial" panose="020B0604020202020204" pitchFamily="34" charset="0"/>
                <a:cs typeface="Arial" panose="020B0604020202020204" pitchFamily="34" charset="0"/>
              </a:rPr>
              <a:t>    # Tính fold change cho MDA-MB-468</a:t>
            </a:r>
          </a:p>
          <a:p>
            <a:r>
              <a:rPr lang="x-none" dirty="0">
                <a:latin typeface="Arial" panose="020B0604020202020204" pitchFamily="34" charset="0"/>
                <a:cs typeface="Arial" panose="020B0604020202020204" pitchFamily="34" charset="0"/>
              </a:rPr>
              <a:t>    `468_fold_change` = `468_G9A_avg` / (`468_con_avg` + 1e-6),</a:t>
            </a:r>
          </a:p>
          <a:p>
            <a:r>
              <a:rPr lang="x-none" dirty="0">
                <a:latin typeface="Arial" panose="020B0604020202020204" pitchFamily="34" charset="0"/>
                <a:cs typeface="Arial" panose="020B0604020202020204" pitchFamily="34" charset="0"/>
              </a:rPr>
              <a:t>    # Tính log2 fold change cho MDA-MB-468</a:t>
            </a:r>
          </a:p>
          <a:p>
            <a:r>
              <a:rPr lang="x-none" dirty="0">
                <a:latin typeface="Arial" panose="020B0604020202020204" pitchFamily="34" charset="0"/>
                <a:cs typeface="Arial" panose="020B0604020202020204" pitchFamily="34" charset="0"/>
              </a:rPr>
              <a:t>    `468_log2FC` = log2(`468_fold_change` + </a:t>
            </a:r>
            <a:r>
              <a:rPr lang="x-none">
                <a:latin typeface="Arial" panose="020B0604020202020204" pitchFamily="34" charset="0"/>
                <a:cs typeface="Arial" panose="020B0604020202020204" pitchFamily="34" charset="0"/>
              </a:rPr>
              <a:t>1e-6</a:t>
            </a:r>
            <a:r>
              <a:rPr lang="x-none" smtClean="0">
                <a:latin typeface="Arial" panose="020B0604020202020204" pitchFamily="34" charset="0"/>
                <a:cs typeface="Arial" panose="020B0604020202020204" pitchFamily="34" charset="0"/>
              </a:rPr>
              <a:t>),</a:t>
            </a:r>
            <a:endParaRPr lang="x-none" dirty="0">
              <a:latin typeface="Arial" panose="020B0604020202020204" pitchFamily="34" charset="0"/>
              <a:cs typeface="Arial" panose="020B0604020202020204" pitchFamily="34" charset="0"/>
            </a:endParaRPr>
          </a:p>
          <a:p>
            <a:r>
              <a:rPr lang="x-none" dirty="0">
                <a:latin typeface="Arial" panose="020B0604020202020204" pitchFamily="34" charset="0"/>
                <a:cs typeface="Arial" panose="020B0604020202020204" pitchFamily="34" charset="0"/>
              </a:rPr>
              <a:t>    # Tính trung bình biểu hiện gen cho điều kiện đối chứng của MCF-7</a:t>
            </a:r>
          </a:p>
          <a:p>
            <a:r>
              <a:rPr lang="x-none" dirty="0">
                <a:latin typeface="Arial" panose="020B0604020202020204" pitchFamily="34" charset="0"/>
                <a:cs typeface="Arial" panose="020B0604020202020204" pitchFamily="34" charset="0"/>
              </a:rPr>
              <a:t>    MCF7_con_avg = (MCF7con1 + MCF7con2 + MCF7con3) / 3,</a:t>
            </a:r>
          </a:p>
          <a:p>
            <a:r>
              <a:rPr lang="x-none" dirty="0">
                <a:latin typeface="Arial" panose="020B0604020202020204" pitchFamily="34" charset="0"/>
                <a:cs typeface="Arial" panose="020B0604020202020204" pitchFamily="34" charset="0"/>
              </a:rPr>
              <a:t>    # Tính trung bình biểu hiện gen cho điều kiện điều trị G9A của MCF-7</a:t>
            </a:r>
          </a:p>
          <a:p>
            <a:r>
              <a:rPr lang="x-none" dirty="0">
                <a:latin typeface="Arial" panose="020B0604020202020204" pitchFamily="34" charset="0"/>
                <a:cs typeface="Arial" panose="020B0604020202020204" pitchFamily="34" charset="0"/>
              </a:rPr>
              <a:t>    MCF7_G9A_avg = (MCF7G9A1 + MCF7G9A2 + MCF7G9A3) / 3,</a:t>
            </a:r>
          </a:p>
          <a:p>
            <a:r>
              <a:rPr lang="x-none" dirty="0">
                <a:latin typeface="Arial" panose="020B0604020202020204" pitchFamily="34" charset="0"/>
                <a:cs typeface="Arial" panose="020B0604020202020204" pitchFamily="34" charset="0"/>
              </a:rPr>
              <a:t>    # Tính fold change cho MCF-7</a:t>
            </a:r>
          </a:p>
          <a:p>
            <a:r>
              <a:rPr lang="x-none" dirty="0">
                <a:latin typeface="Arial" panose="020B0604020202020204" pitchFamily="34" charset="0"/>
                <a:cs typeface="Arial" panose="020B0604020202020204" pitchFamily="34" charset="0"/>
              </a:rPr>
              <a:t>    MCF7_fold_change = MCF7_G9A_avg / (MCF7_con_avg + 1e-6),</a:t>
            </a:r>
          </a:p>
          <a:p>
            <a:r>
              <a:rPr lang="x-none" dirty="0">
                <a:latin typeface="Arial" panose="020B0604020202020204" pitchFamily="34" charset="0"/>
                <a:cs typeface="Arial" panose="020B0604020202020204" pitchFamily="34" charset="0"/>
              </a:rPr>
              <a:t>    # Tính log2 fold change cho MCF-7</a:t>
            </a:r>
          </a:p>
          <a:p>
            <a:r>
              <a:rPr lang="x-none" dirty="0">
                <a:latin typeface="Arial" panose="020B0604020202020204" pitchFamily="34" charset="0"/>
                <a:cs typeface="Arial" panose="020B0604020202020204" pitchFamily="34" charset="0"/>
              </a:rPr>
              <a:t>    MCF7_log2FC = log2(MCF7_fold_change + 1e-6)</a:t>
            </a:r>
          </a:p>
          <a:p>
            <a:r>
              <a:rPr lang="x-none"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xmlns="" id="{A9EEE3ED-1BCB-B5B9-5A71-873C8E9C889D}"/>
              </a:ext>
            </a:extLst>
          </p:cNvPr>
          <p:cNvSpPr txBox="1"/>
          <p:nvPr/>
        </p:nvSpPr>
        <p:spPr>
          <a:xfrm>
            <a:off x="5700711" y="474345"/>
            <a:ext cx="3571875" cy="5909310"/>
          </a:xfrm>
          <a:prstGeom prst="rect">
            <a:avLst/>
          </a:prstGeom>
          <a:noFill/>
        </p:spPr>
        <p:txBody>
          <a:bodyPr wrap="square">
            <a:spAutoFit/>
          </a:bodyPr>
          <a:lstStyle/>
          <a:p>
            <a:r>
              <a:rPr lang="x-none" dirty="0">
                <a:highlight>
                  <a:srgbClr val="FFFF00"/>
                </a:highlight>
                <a:latin typeface="Arial" panose="020B0604020202020204" pitchFamily="34" charset="0"/>
                <a:cs typeface="Arial" panose="020B0604020202020204" pitchFamily="34" charset="0"/>
              </a:rPr>
              <a:t># Định nghĩa hàm tính p-value bằng t-test, xử lý trường hợp dữ liệu hằng số</a:t>
            </a:r>
          </a:p>
          <a:p>
            <a:r>
              <a:rPr lang="x-none" dirty="0">
                <a:latin typeface="Arial" panose="020B0604020202020204" pitchFamily="34" charset="0"/>
                <a:cs typeface="Arial" panose="020B0604020202020204" pitchFamily="34" charset="0"/>
              </a:rPr>
              <a:t>calculate_pvalue &lt;- function(control, treated) {</a:t>
            </a:r>
          </a:p>
          <a:p>
            <a:r>
              <a:rPr lang="x-none" dirty="0">
                <a:latin typeface="Arial" panose="020B0604020202020204" pitchFamily="34" charset="0"/>
                <a:cs typeface="Arial" panose="020B0604020202020204" pitchFamily="34" charset="0"/>
              </a:rPr>
              <a:t>  # Kiểm tra nếu bất kỳ nhóm nào có variance bằng 0 hoặc dữ liệu không hợp lệ</a:t>
            </a:r>
          </a:p>
          <a:p>
            <a:r>
              <a:rPr lang="x-none" dirty="0">
                <a:latin typeface="Arial" panose="020B0604020202020204" pitchFamily="34" charset="0"/>
                <a:cs typeface="Arial" panose="020B0604020202020204" pitchFamily="34" charset="0"/>
              </a:rPr>
              <a:t>  if (var(control) == 0 || var(treated) == 0 || any(is.na(control)) || any(is.na(treated))) {</a:t>
            </a:r>
          </a:p>
          <a:p>
            <a:r>
              <a:rPr lang="x-none" dirty="0">
                <a:latin typeface="Arial" panose="020B0604020202020204" pitchFamily="34" charset="0"/>
                <a:cs typeface="Arial" panose="020B0604020202020204" pitchFamily="34" charset="0"/>
              </a:rPr>
              <a:t>    # Trả về p-value = 1 nếu dữ liệu không đủ để chạy t-test</a:t>
            </a:r>
          </a:p>
          <a:p>
            <a:r>
              <a:rPr lang="x-none" dirty="0">
                <a:latin typeface="Arial" panose="020B0604020202020204" pitchFamily="34" charset="0"/>
                <a:cs typeface="Arial" panose="020B0604020202020204" pitchFamily="34" charset="0"/>
              </a:rPr>
              <a:t>    return(1)</a:t>
            </a:r>
          </a:p>
          <a:p>
            <a:r>
              <a:rPr lang="x-none" dirty="0">
                <a:latin typeface="Arial" panose="020B0604020202020204" pitchFamily="34" charset="0"/>
                <a:cs typeface="Arial" panose="020B0604020202020204" pitchFamily="34" charset="0"/>
              </a:rPr>
              <a:t>  } else {</a:t>
            </a:r>
          </a:p>
          <a:p>
            <a:r>
              <a:rPr lang="x-none" dirty="0">
                <a:latin typeface="Arial" panose="020B0604020202020204" pitchFamily="34" charset="0"/>
                <a:cs typeface="Arial" panose="020B0604020202020204" pitchFamily="34" charset="0"/>
              </a:rPr>
              <a:t>    # Thực hiện t-test và trả về p-value</a:t>
            </a:r>
          </a:p>
          <a:p>
            <a:r>
              <a:rPr lang="x-none" dirty="0">
                <a:latin typeface="Arial" panose="020B0604020202020204" pitchFamily="34" charset="0"/>
                <a:cs typeface="Arial" panose="020B0604020202020204" pitchFamily="34" charset="0"/>
              </a:rPr>
              <a:t>    t.test(control, treated)$p.value</a:t>
            </a:r>
          </a:p>
          <a:p>
            <a:r>
              <a:rPr lang="x-none" dirty="0">
                <a:latin typeface="Arial" panose="020B0604020202020204" pitchFamily="34" charset="0"/>
                <a:cs typeface="Arial" panose="020B0604020202020204" pitchFamily="34" charset="0"/>
              </a:rPr>
              <a:t>  }</a:t>
            </a:r>
          </a:p>
          <a:p>
            <a:r>
              <a:rPr lang="x-none"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107952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3767AD57-C982-E50E-1ECC-4312B1DE991C}"/>
              </a:ext>
            </a:extLst>
          </p:cNvPr>
          <p:cNvSpPr txBox="1"/>
          <p:nvPr/>
        </p:nvSpPr>
        <p:spPr>
          <a:xfrm>
            <a:off x="0" y="145066"/>
            <a:ext cx="4572000" cy="6740307"/>
          </a:xfrm>
          <a:prstGeom prst="rect">
            <a:avLst/>
          </a:prstGeom>
          <a:noFill/>
        </p:spPr>
        <p:txBody>
          <a:bodyPr wrap="square">
            <a:spAutoFit/>
          </a:bodyPr>
          <a:lstStyle/>
          <a:p>
            <a:r>
              <a:rPr lang="x-none" dirty="0">
                <a:highlight>
                  <a:srgbClr val="FFFF00"/>
                </a:highlight>
                <a:latin typeface="Arial" panose="020B0604020202020204" pitchFamily="34" charset="0"/>
                <a:cs typeface="Arial" panose="020B0604020202020204" pitchFamily="34" charset="0"/>
              </a:rPr>
              <a:t># Tính p-value và điều chỉnh p-value (FDR) cho từng dòng tế bào</a:t>
            </a:r>
          </a:p>
          <a:p>
            <a:r>
              <a:rPr lang="x-none" dirty="0">
                <a:latin typeface="Arial" panose="020B0604020202020204" pitchFamily="34" charset="0"/>
                <a:cs typeface="Arial" panose="020B0604020202020204" pitchFamily="34" charset="0"/>
              </a:rPr>
              <a:t>data &lt;- data %&gt;%</a:t>
            </a:r>
          </a:p>
          <a:p>
            <a:r>
              <a:rPr lang="x-none" dirty="0">
                <a:latin typeface="Arial" panose="020B0604020202020204" pitchFamily="34" charset="0"/>
                <a:cs typeface="Arial" panose="020B0604020202020204" pitchFamily="34" charset="0"/>
              </a:rPr>
              <a:t>  # Áp dụng hàm rowwise để xử lý từng hàng</a:t>
            </a:r>
          </a:p>
          <a:p>
            <a:r>
              <a:rPr lang="x-none" dirty="0">
                <a:latin typeface="Arial" panose="020B0604020202020204" pitchFamily="34" charset="0"/>
                <a:cs typeface="Arial" panose="020B0604020202020204" pitchFamily="34" charset="0"/>
              </a:rPr>
              <a:t>  rowwise() %&gt;%</a:t>
            </a:r>
          </a:p>
          <a:p>
            <a:r>
              <a:rPr lang="x-none" dirty="0">
                <a:latin typeface="Arial" panose="020B0604020202020204" pitchFamily="34" charset="0"/>
                <a:cs typeface="Arial" panose="020B0604020202020204" pitchFamily="34" charset="0"/>
              </a:rPr>
              <a:t>  mutate(</a:t>
            </a:r>
          </a:p>
          <a:p>
            <a:r>
              <a:rPr lang="x-none" dirty="0">
                <a:latin typeface="Arial" panose="020B0604020202020204" pitchFamily="34" charset="0"/>
                <a:cs typeface="Arial" panose="020B0604020202020204" pitchFamily="34" charset="0"/>
              </a:rPr>
              <a:t>    # Tính p-value cho MDA-MB-231 bằng cách so sánh các giá trị control và G9A</a:t>
            </a:r>
          </a:p>
          <a:p>
            <a:r>
              <a:rPr lang="x-none" dirty="0">
                <a:latin typeface="Arial" panose="020B0604020202020204" pitchFamily="34" charset="0"/>
                <a:cs typeface="Arial" panose="020B0604020202020204" pitchFamily="34" charset="0"/>
              </a:rPr>
              <a:t>    `231_pvalue` = calculate_pvalue(</a:t>
            </a:r>
          </a:p>
          <a:p>
            <a:r>
              <a:rPr lang="x-none" dirty="0">
                <a:latin typeface="Arial" panose="020B0604020202020204" pitchFamily="34" charset="0"/>
                <a:cs typeface="Arial" panose="020B0604020202020204" pitchFamily="34" charset="0"/>
              </a:rPr>
              <a:t>      c(`231con1`, `231con2`, `231con3`),</a:t>
            </a:r>
          </a:p>
          <a:p>
            <a:r>
              <a:rPr lang="x-none" dirty="0">
                <a:latin typeface="Arial" panose="020B0604020202020204" pitchFamily="34" charset="0"/>
                <a:cs typeface="Arial" panose="020B0604020202020204" pitchFamily="34" charset="0"/>
              </a:rPr>
              <a:t>      c(`231G9A1`, `231G9A2`, `231G9A3`)</a:t>
            </a:r>
          </a:p>
          <a:p>
            <a:r>
              <a:rPr lang="x-none" dirty="0">
                <a:latin typeface="Arial" panose="020B0604020202020204" pitchFamily="34" charset="0"/>
                <a:cs typeface="Arial" panose="020B0604020202020204" pitchFamily="34" charset="0"/>
              </a:rPr>
              <a:t>    ),</a:t>
            </a:r>
          </a:p>
          <a:p>
            <a:r>
              <a:rPr lang="x-none" dirty="0">
                <a:latin typeface="Arial" panose="020B0604020202020204" pitchFamily="34" charset="0"/>
                <a:cs typeface="Arial" panose="020B0604020202020204" pitchFamily="34" charset="0"/>
              </a:rPr>
              <a:t>    # Tính p-value cho MDA-MB-468</a:t>
            </a:r>
          </a:p>
          <a:p>
            <a:r>
              <a:rPr lang="x-none" dirty="0">
                <a:latin typeface="Arial" panose="020B0604020202020204" pitchFamily="34" charset="0"/>
                <a:cs typeface="Arial" panose="020B0604020202020204" pitchFamily="34" charset="0"/>
              </a:rPr>
              <a:t>    `468_pvalue` = calculate_pvalue(</a:t>
            </a:r>
          </a:p>
          <a:p>
            <a:r>
              <a:rPr lang="x-none" dirty="0">
                <a:latin typeface="Arial" panose="020B0604020202020204" pitchFamily="34" charset="0"/>
                <a:cs typeface="Arial" panose="020B0604020202020204" pitchFamily="34" charset="0"/>
              </a:rPr>
              <a:t>      c(`468con1`, `468con2`, `468con3`),</a:t>
            </a:r>
          </a:p>
          <a:p>
            <a:r>
              <a:rPr lang="x-none" dirty="0">
                <a:latin typeface="Arial" panose="020B0604020202020204" pitchFamily="34" charset="0"/>
                <a:cs typeface="Arial" panose="020B0604020202020204" pitchFamily="34" charset="0"/>
              </a:rPr>
              <a:t>      c(`468G9A1`, `468G9A2`, `468G9A3`)</a:t>
            </a:r>
          </a:p>
          <a:p>
            <a:r>
              <a:rPr lang="x-none" dirty="0">
                <a:latin typeface="Arial" panose="020B0604020202020204" pitchFamily="34" charset="0"/>
                <a:cs typeface="Arial" panose="020B0604020202020204" pitchFamily="34" charset="0"/>
              </a:rPr>
              <a:t>    ),</a:t>
            </a:r>
          </a:p>
          <a:p>
            <a:r>
              <a:rPr lang="x-none" dirty="0">
                <a:latin typeface="Arial" panose="020B0604020202020204" pitchFamily="34" charset="0"/>
                <a:cs typeface="Arial" panose="020B0604020202020204" pitchFamily="34" charset="0"/>
              </a:rPr>
              <a:t>    # Tính p-value cho MCF-7</a:t>
            </a:r>
          </a:p>
          <a:p>
            <a:r>
              <a:rPr lang="x-none" dirty="0">
                <a:latin typeface="Arial" panose="020B0604020202020204" pitchFamily="34" charset="0"/>
                <a:cs typeface="Arial" panose="020B0604020202020204" pitchFamily="34" charset="0"/>
              </a:rPr>
              <a:t>    MCF7_pvalue = calculate_pvalue(</a:t>
            </a:r>
          </a:p>
          <a:p>
            <a:r>
              <a:rPr lang="x-none" dirty="0">
                <a:latin typeface="Arial" panose="020B0604020202020204" pitchFamily="34" charset="0"/>
                <a:cs typeface="Arial" panose="020B0604020202020204" pitchFamily="34" charset="0"/>
              </a:rPr>
              <a:t>      c(MCF7con1, MCF7con2, MCF7con3),</a:t>
            </a:r>
          </a:p>
          <a:p>
            <a:r>
              <a:rPr lang="x-none" dirty="0">
                <a:latin typeface="Arial" panose="020B0604020202020204" pitchFamily="34" charset="0"/>
                <a:cs typeface="Arial" panose="020B0604020202020204" pitchFamily="34" charset="0"/>
              </a:rPr>
              <a:t>      c(MCF7G9A1, MCF7G9A2, MCF7G9A3)</a:t>
            </a:r>
          </a:p>
          <a:p>
            <a:r>
              <a:rPr lang="x-none"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xmlns="" id="{ECBFDF44-8D87-05F1-551A-C82D2BBCD300}"/>
              </a:ext>
            </a:extLst>
          </p:cNvPr>
          <p:cNvSpPr txBox="1"/>
          <p:nvPr/>
        </p:nvSpPr>
        <p:spPr>
          <a:xfrm>
            <a:off x="4943474" y="335845"/>
            <a:ext cx="4400549" cy="4524315"/>
          </a:xfrm>
          <a:prstGeom prst="rect">
            <a:avLst/>
          </a:prstGeom>
          <a:noFill/>
        </p:spPr>
        <p:txBody>
          <a:bodyPr wrap="square">
            <a:spAutoFit/>
          </a:bodyPr>
          <a:lstStyle/>
          <a:p>
            <a:r>
              <a:rPr lang="x-none" dirty="0">
                <a:latin typeface="Arial" panose="020B0604020202020204" pitchFamily="34" charset="0"/>
                <a:cs typeface="Arial" panose="020B0604020202020204" pitchFamily="34" charset="0"/>
              </a:rPr>
              <a:t> # Điều chỉnh p-value bằng phương pháp FDR cho MDA-MB-231</a:t>
            </a:r>
          </a:p>
          <a:p>
            <a:r>
              <a:rPr lang="x-none" dirty="0">
                <a:latin typeface="Arial" panose="020B0604020202020204" pitchFamily="34" charset="0"/>
                <a:cs typeface="Arial" panose="020B0604020202020204" pitchFamily="34" charset="0"/>
              </a:rPr>
              <a:t>    `231_adj_pvalue` = p.adjust(`231_pvalue`, method = "fdr"),</a:t>
            </a:r>
          </a:p>
          <a:p>
            <a:r>
              <a:rPr lang="x-none" dirty="0">
                <a:latin typeface="Arial" panose="020B0604020202020204" pitchFamily="34" charset="0"/>
                <a:cs typeface="Arial" panose="020B0604020202020204" pitchFamily="34" charset="0"/>
              </a:rPr>
              <a:t>    # Điều chỉnh p-value bằng phương pháp FDR cho MDA-MB-468</a:t>
            </a:r>
          </a:p>
          <a:p>
            <a:r>
              <a:rPr lang="x-none" dirty="0">
                <a:latin typeface="Arial" panose="020B0604020202020204" pitchFamily="34" charset="0"/>
                <a:cs typeface="Arial" panose="020B0604020202020204" pitchFamily="34" charset="0"/>
              </a:rPr>
              <a:t>    `468_adj_pvalue` = p.adjust(`468_pvalue`, method = "fdr"),</a:t>
            </a:r>
          </a:p>
          <a:p>
            <a:r>
              <a:rPr lang="x-none" dirty="0">
                <a:latin typeface="Arial" panose="020B0604020202020204" pitchFamily="34" charset="0"/>
                <a:cs typeface="Arial" panose="020B0604020202020204" pitchFamily="34" charset="0"/>
              </a:rPr>
              <a:t>    # Điều chỉnh p-value bằng phương pháp FDR cho MCF-7</a:t>
            </a:r>
          </a:p>
          <a:p>
            <a:r>
              <a:rPr lang="x-none" dirty="0">
                <a:latin typeface="Arial" panose="020B0604020202020204" pitchFamily="34" charset="0"/>
                <a:cs typeface="Arial" panose="020B0604020202020204" pitchFamily="34" charset="0"/>
              </a:rPr>
              <a:t>    MCF7_adj_pvalue = p.adjust(MCF7_pvalue, method = "fdr")</a:t>
            </a:r>
          </a:p>
          <a:p>
            <a:r>
              <a:rPr lang="x-none" dirty="0">
                <a:latin typeface="Arial" panose="020B0604020202020204" pitchFamily="34" charset="0"/>
                <a:cs typeface="Arial" panose="020B0604020202020204" pitchFamily="34" charset="0"/>
              </a:rPr>
              <a:t>  ) %&gt;%</a:t>
            </a:r>
          </a:p>
          <a:p>
            <a:r>
              <a:rPr lang="x-none" dirty="0">
                <a:latin typeface="Arial" panose="020B0604020202020204" pitchFamily="34" charset="0"/>
                <a:cs typeface="Arial" panose="020B0604020202020204" pitchFamily="34" charset="0"/>
              </a:rPr>
              <a:t>  # Hủy chế độ rowwise để quay lại xử lý dữ liệu thông thường</a:t>
            </a:r>
          </a:p>
          <a:p>
            <a:r>
              <a:rPr lang="x-none" dirty="0">
                <a:latin typeface="Arial" panose="020B0604020202020204" pitchFamily="34" charset="0"/>
                <a:cs typeface="Arial" panose="020B0604020202020204" pitchFamily="34" charset="0"/>
              </a:rPr>
              <a:t>  ungroup()</a:t>
            </a:r>
          </a:p>
        </p:txBody>
      </p:sp>
    </p:spTree>
    <p:extLst>
      <p:ext uri="{BB962C8B-B14F-4D97-AF65-F5344CB8AC3E}">
        <p14:creationId xmlns:p14="http://schemas.microsoft.com/office/powerpoint/2010/main" val="28370434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E60175BD-B24F-EB72-0514-37B626D7169C}"/>
              </a:ext>
            </a:extLst>
          </p:cNvPr>
          <p:cNvSpPr txBox="1"/>
          <p:nvPr/>
        </p:nvSpPr>
        <p:spPr>
          <a:xfrm>
            <a:off x="0" y="0"/>
            <a:ext cx="5772150" cy="6001643"/>
          </a:xfrm>
          <a:prstGeom prst="rect">
            <a:avLst/>
          </a:prstGeom>
          <a:noFill/>
        </p:spPr>
        <p:txBody>
          <a:bodyPr wrap="square">
            <a:spAutoFit/>
          </a:bodyPr>
          <a:lstStyle/>
          <a:p>
            <a:r>
              <a:rPr lang="x-none" sz="1600" dirty="0">
                <a:highlight>
                  <a:srgbClr val="FFFF00"/>
                </a:highlight>
                <a:latin typeface="Arial" panose="020B0604020202020204" pitchFamily="34" charset="0"/>
                <a:cs typeface="Arial" panose="020B0604020202020204" pitchFamily="34" charset="0"/>
              </a:rPr>
              <a:t># Lọc các gen biểu hiện khác biệt (DEGs) cho MDA-MB-231</a:t>
            </a:r>
          </a:p>
          <a:p>
            <a:r>
              <a:rPr lang="x-none" sz="1600" dirty="0">
                <a:highlight>
                  <a:srgbClr val="FFFF00"/>
                </a:highlight>
                <a:latin typeface="Arial" panose="020B0604020202020204" pitchFamily="34" charset="0"/>
                <a:cs typeface="Arial" panose="020B0604020202020204" pitchFamily="34" charset="0"/>
              </a:rPr>
              <a:t>deg_231 &lt;- data %&gt;%</a:t>
            </a:r>
          </a:p>
          <a:p>
            <a:r>
              <a:rPr lang="x-none" sz="1600" dirty="0">
                <a:latin typeface="Arial" panose="020B0604020202020204" pitchFamily="34" charset="0"/>
                <a:cs typeface="Arial" panose="020B0604020202020204" pitchFamily="34" charset="0"/>
              </a:rPr>
              <a:t>  # Chọn các gen có |log2FC| &gt; 0.5 và p-value điều chỉnh &lt; 0.1 (nới lỏng ngưỡng)</a:t>
            </a:r>
          </a:p>
          <a:p>
            <a:r>
              <a:rPr lang="x-none" sz="1600" dirty="0">
                <a:latin typeface="Arial" panose="020B0604020202020204" pitchFamily="34" charset="0"/>
                <a:cs typeface="Arial" panose="020B0604020202020204" pitchFamily="34" charset="0"/>
              </a:rPr>
              <a:t>  filter(abs(`231_log2FC`) &gt; 0.5 &amp; `231_adj_pvalue` &lt; 0.1) %&gt;%</a:t>
            </a:r>
          </a:p>
          <a:p>
            <a:r>
              <a:rPr lang="x-none" sz="1600" dirty="0">
                <a:latin typeface="Arial" panose="020B0604020202020204" pitchFamily="34" charset="0"/>
                <a:cs typeface="Arial" panose="020B0604020202020204" pitchFamily="34" charset="0"/>
              </a:rPr>
              <a:t>  # Lấy cột Geneid</a:t>
            </a:r>
          </a:p>
          <a:p>
            <a:r>
              <a:rPr lang="x-none" sz="1600" dirty="0">
                <a:latin typeface="Arial" panose="020B0604020202020204" pitchFamily="34" charset="0"/>
                <a:cs typeface="Arial" panose="020B0604020202020204" pitchFamily="34" charset="0"/>
              </a:rPr>
              <a:t>  pull(Geneid)</a:t>
            </a:r>
          </a:p>
          <a:p>
            <a:r>
              <a:rPr lang="x-none" sz="1600" dirty="0">
                <a:latin typeface="Arial" panose="020B0604020202020204" pitchFamily="34" charset="0"/>
                <a:cs typeface="Arial" panose="020B0604020202020204" pitchFamily="34" charset="0"/>
              </a:rPr>
              <a:t># In số lượng DEGs để kiểm tra</a:t>
            </a:r>
          </a:p>
          <a:p>
            <a:r>
              <a:rPr lang="x-none" sz="1600" dirty="0">
                <a:latin typeface="Arial" panose="020B0604020202020204" pitchFamily="34" charset="0"/>
                <a:cs typeface="Arial" panose="020B0604020202020204" pitchFamily="34" charset="0"/>
              </a:rPr>
              <a:t>message("Số lượng DEGs cho MDA-MB-231: ", length(deg_231))</a:t>
            </a:r>
          </a:p>
          <a:p>
            <a:r>
              <a:rPr lang="x-none" sz="1600" dirty="0">
                <a:latin typeface="Arial" panose="020B0604020202020204" pitchFamily="34" charset="0"/>
                <a:cs typeface="Arial" panose="020B0604020202020204" pitchFamily="34" charset="0"/>
              </a:rPr>
              <a:t># Lọc DEGs cho MDA-MB-468</a:t>
            </a:r>
          </a:p>
          <a:p>
            <a:r>
              <a:rPr lang="x-none" sz="1600" dirty="0">
                <a:latin typeface="Arial" panose="020B0604020202020204" pitchFamily="34" charset="0"/>
                <a:cs typeface="Arial" panose="020B0604020202020204" pitchFamily="34" charset="0"/>
              </a:rPr>
              <a:t>deg_468 &lt;- data %&gt;%</a:t>
            </a:r>
          </a:p>
          <a:p>
            <a:r>
              <a:rPr lang="x-none" sz="1600" dirty="0">
                <a:latin typeface="Arial" panose="020B0604020202020204" pitchFamily="34" charset="0"/>
                <a:cs typeface="Arial" panose="020B0604020202020204" pitchFamily="34" charset="0"/>
              </a:rPr>
              <a:t>  filter(abs(`468_log2FC`) &gt; 0.5 &amp; `468_adj_pvalue` &lt; 0.1) %&gt;%</a:t>
            </a:r>
          </a:p>
          <a:p>
            <a:r>
              <a:rPr lang="x-none" sz="1600" dirty="0">
                <a:latin typeface="Arial" panose="020B0604020202020204" pitchFamily="34" charset="0"/>
                <a:cs typeface="Arial" panose="020B0604020202020204" pitchFamily="34" charset="0"/>
              </a:rPr>
              <a:t>  pull(Geneid)</a:t>
            </a:r>
          </a:p>
          <a:p>
            <a:r>
              <a:rPr lang="x-none" sz="1600" dirty="0">
                <a:latin typeface="Arial" panose="020B0604020202020204" pitchFamily="34" charset="0"/>
                <a:cs typeface="Arial" panose="020B0604020202020204" pitchFamily="34" charset="0"/>
              </a:rPr>
              <a:t>message("Số lượng DEGs cho MDA-MB-468: ", length(deg_468))</a:t>
            </a:r>
          </a:p>
          <a:p>
            <a:r>
              <a:rPr lang="x-none" sz="1600" dirty="0">
                <a:latin typeface="Arial" panose="020B0604020202020204" pitchFamily="34" charset="0"/>
                <a:cs typeface="Arial" panose="020B0604020202020204" pitchFamily="34" charset="0"/>
              </a:rPr>
              <a:t># Lọc DEGs cho MCF-7</a:t>
            </a:r>
          </a:p>
          <a:p>
            <a:r>
              <a:rPr lang="x-none" sz="1600" dirty="0">
                <a:latin typeface="Arial" panose="020B0604020202020204" pitchFamily="34" charset="0"/>
                <a:cs typeface="Arial" panose="020B0604020202020204" pitchFamily="34" charset="0"/>
              </a:rPr>
              <a:t>deg_MCF7 &lt;- data %&gt;%</a:t>
            </a:r>
          </a:p>
          <a:p>
            <a:r>
              <a:rPr lang="x-none" sz="1600" dirty="0">
                <a:latin typeface="Arial" panose="020B0604020202020204" pitchFamily="34" charset="0"/>
                <a:cs typeface="Arial" panose="020B0604020202020204" pitchFamily="34" charset="0"/>
              </a:rPr>
              <a:t>  filter(abs(MCF7_log2FC) &gt; 0.5 &amp; MCF7_adj_pvalue &lt; 0.1) %&gt;%</a:t>
            </a:r>
          </a:p>
          <a:p>
            <a:r>
              <a:rPr lang="x-none" sz="1600" dirty="0">
                <a:latin typeface="Arial" panose="020B0604020202020204" pitchFamily="34" charset="0"/>
                <a:cs typeface="Arial" panose="020B0604020202020204" pitchFamily="34" charset="0"/>
              </a:rPr>
              <a:t>  pull(Geneid)</a:t>
            </a:r>
          </a:p>
          <a:p>
            <a:r>
              <a:rPr lang="x-none" sz="1600" dirty="0">
                <a:latin typeface="Arial" panose="020B0604020202020204" pitchFamily="34" charset="0"/>
                <a:cs typeface="Arial" panose="020B0604020202020204" pitchFamily="34" charset="0"/>
              </a:rPr>
              <a:t>message("Số lượng DEGs cho MCF-7: ", length(deg_MCF7))</a:t>
            </a:r>
          </a:p>
        </p:txBody>
      </p:sp>
      <p:sp>
        <p:nvSpPr>
          <p:cNvPr id="7" name="TextBox 6">
            <a:extLst>
              <a:ext uri="{FF2B5EF4-FFF2-40B4-BE49-F238E27FC236}">
                <a16:creationId xmlns:a16="http://schemas.microsoft.com/office/drawing/2014/main" xmlns="" id="{62100F2A-E630-D290-D0FB-9D0419D36F3D}"/>
              </a:ext>
            </a:extLst>
          </p:cNvPr>
          <p:cNvSpPr txBox="1"/>
          <p:nvPr/>
        </p:nvSpPr>
        <p:spPr>
          <a:xfrm>
            <a:off x="5772150" y="58846"/>
            <a:ext cx="3371850" cy="6001643"/>
          </a:xfrm>
          <a:prstGeom prst="rect">
            <a:avLst/>
          </a:prstGeom>
          <a:noFill/>
        </p:spPr>
        <p:txBody>
          <a:bodyPr wrap="square">
            <a:spAutoFit/>
          </a:bodyPr>
          <a:lstStyle/>
          <a:p>
            <a:r>
              <a:rPr lang="x-none" sz="1600" dirty="0">
                <a:highlight>
                  <a:srgbClr val="FFFF00"/>
                </a:highlight>
                <a:latin typeface="Arial" panose="020B0604020202020204" pitchFamily="34" charset="0"/>
                <a:cs typeface="Arial" panose="020B0604020202020204" pitchFamily="34" charset="0"/>
              </a:rPr>
              <a:t># Chuyển Geneid sang ENTREZID cho phân tích con đường</a:t>
            </a:r>
          </a:p>
          <a:p>
            <a:r>
              <a:rPr lang="x-none" sz="1600" dirty="0">
                <a:highlight>
                  <a:srgbClr val="FFFF00"/>
                </a:highlight>
                <a:latin typeface="Arial" panose="020B0604020202020204" pitchFamily="34" charset="0"/>
                <a:cs typeface="Arial" panose="020B0604020202020204" pitchFamily="34" charset="0"/>
              </a:rPr>
              <a:t># Chuyển đổi cho MDA-MB-231, xử lý trường hợp không có DEGs</a:t>
            </a:r>
          </a:p>
          <a:p>
            <a:r>
              <a:rPr lang="x-none" sz="1600" dirty="0">
                <a:latin typeface="Arial" panose="020B0604020202020204" pitchFamily="34" charset="0"/>
                <a:cs typeface="Arial" panose="020B0604020202020204" pitchFamily="34" charset="0"/>
              </a:rPr>
              <a:t>if (length(deg_231) &gt; 0) {</a:t>
            </a:r>
          </a:p>
          <a:p>
            <a:r>
              <a:rPr lang="x-none" sz="1600" dirty="0">
                <a:latin typeface="Arial" panose="020B0604020202020204" pitchFamily="34" charset="0"/>
                <a:cs typeface="Arial" panose="020B0604020202020204" pitchFamily="34" charset="0"/>
              </a:rPr>
              <a:t>  gene_231 &lt;- bitr(deg_231, fromType = "SYMBOL", toType = "ENTREZID", OrgDb = org.Hs.eg.db)$ENTREZID</a:t>
            </a:r>
          </a:p>
          <a:p>
            <a:r>
              <a:rPr lang="x-none" sz="1600" dirty="0">
                <a:latin typeface="Arial" panose="020B0604020202020204" pitchFamily="34" charset="0"/>
                <a:cs typeface="Arial" panose="020B0604020202020204" pitchFamily="34" charset="0"/>
              </a:rPr>
              <a:t>} else {</a:t>
            </a:r>
          </a:p>
          <a:p>
            <a:r>
              <a:rPr lang="x-none" sz="1600" dirty="0">
                <a:latin typeface="Arial" panose="020B0604020202020204" pitchFamily="34" charset="0"/>
                <a:cs typeface="Arial" panose="020B0604020202020204" pitchFamily="34" charset="0"/>
              </a:rPr>
              <a:t>  gene_231 &lt;- character(0)  # Gán danh sách rỗng nếu không có DEGs</a:t>
            </a:r>
          </a:p>
          <a:p>
            <a:r>
              <a:rPr lang="x-none" sz="1600" dirty="0">
                <a:latin typeface="Arial" panose="020B0604020202020204" pitchFamily="34" charset="0"/>
                <a:cs typeface="Arial" panose="020B0604020202020204" pitchFamily="34" charset="0"/>
              </a:rPr>
              <a:t>}</a:t>
            </a:r>
          </a:p>
          <a:p>
            <a:endParaRPr lang="x-none" sz="1600" dirty="0">
              <a:latin typeface="Arial" panose="020B0604020202020204" pitchFamily="34" charset="0"/>
              <a:cs typeface="Arial" panose="020B0604020202020204" pitchFamily="34" charset="0"/>
            </a:endParaRPr>
          </a:p>
          <a:p>
            <a:r>
              <a:rPr lang="x-none" sz="1600" dirty="0">
                <a:latin typeface="Arial" panose="020B0604020202020204" pitchFamily="34" charset="0"/>
                <a:cs typeface="Arial" panose="020B0604020202020204" pitchFamily="34" charset="0"/>
              </a:rPr>
              <a:t># Chuyển đổi cho </a:t>
            </a:r>
            <a:r>
              <a:rPr lang="x-none" sz="1600" dirty="0">
                <a:highlight>
                  <a:srgbClr val="FFFF00"/>
                </a:highlight>
                <a:latin typeface="Arial" panose="020B0604020202020204" pitchFamily="34" charset="0"/>
                <a:cs typeface="Arial" panose="020B0604020202020204" pitchFamily="34" charset="0"/>
              </a:rPr>
              <a:t>MDA-MB-468</a:t>
            </a:r>
          </a:p>
          <a:p>
            <a:r>
              <a:rPr lang="x-none" sz="1600" dirty="0">
                <a:latin typeface="Arial" panose="020B0604020202020204" pitchFamily="34" charset="0"/>
                <a:cs typeface="Arial" panose="020B0604020202020204" pitchFamily="34" charset="0"/>
              </a:rPr>
              <a:t>if (length(deg_468) &gt; 0) {</a:t>
            </a:r>
          </a:p>
          <a:p>
            <a:r>
              <a:rPr lang="x-none" sz="1600" dirty="0">
                <a:latin typeface="Arial" panose="020B0604020202020204" pitchFamily="34" charset="0"/>
                <a:cs typeface="Arial" panose="020B0604020202020204" pitchFamily="34" charset="0"/>
              </a:rPr>
              <a:t>  gene_468 &lt;- bitr(deg_468, fromType = "SYMBOL", toType = "ENTREZID", OrgDb = org.Hs.eg.db)$ENTREZID</a:t>
            </a:r>
          </a:p>
          <a:p>
            <a:r>
              <a:rPr lang="x-none" sz="1600" dirty="0">
                <a:latin typeface="Arial" panose="020B0604020202020204" pitchFamily="34" charset="0"/>
                <a:cs typeface="Arial" panose="020B0604020202020204" pitchFamily="34" charset="0"/>
              </a:rPr>
              <a:t>} else {</a:t>
            </a:r>
          </a:p>
          <a:p>
            <a:r>
              <a:rPr lang="x-none" sz="1600" dirty="0">
                <a:latin typeface="Arial" panose="020B0604020202020204" pitchFamily="34" charset="0"/>
                <a:cs typeface="Arial" panose="020B0604020202020204" pitchFamily="34" charset="0"/>
              </a:rPr>
              <a:t>  gene_468 &lt;- character(0)</a:t>
            </a:r>
          </a:p>
          <a:p>
            <a:r>
              <a:rPr lang="x-none" sz="1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498028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616DDCA-D7C5-DB21-AF5E-003A56A173B3}"/>
              </a:ext>
            </a:extLst>
          </p:cNvPr>
          <p:cNvSpPr txBox="1"/>
          <p:nvPr/>
        </p:nvSpPr>
        <p:spPr>
          <a:xfrm>
            <a:off x="0" y="0"/>
            <a:ext cx="4572000" cy="5078313"/>
          </a:xfrm>
          <a:prstGeom prst="rect">
            <a:avLst/>
          </a:prstGeom>
          <a:noFill/>
        </p:spPr>
        <p:txBody>
          <a:bodyPr wrap="square">
            <a:spAutoFit/>
          </a:bodyPr>
          <a:lstStyle/>
          <a:p>
            <a:r>
              <a:rPr lang="x-none" dirty="0">
                <a:latin typeface="Arial" panose="020B0604020202020204" pitchFamily="34" charset="0"/>
                <a:cs typeface="Arial" panose="020B0604020202020204" pitchFamily="34" charset="0"/>
              </a:rPr>
              <a:t># Chuyển đổi cho </a:t>
            </a:r>
            <a:r>
              <a:rPr lang="x-none" dirty="0">
                <a:highlight>
                  <a:srgbClr val="FFFF00"/>
                </a:highlight>
                <a:latin typeface="Arial" panose="020B0604020202020204" pitchFamily="34" charset="0"/>
                <a:cs typeface="Arial" panose="020B0604020202020204" pitchFamily="34" charset="0"/>
              </a:rPr>
              <a:t>MCF-7</a:t>
            </a:r>
          </a:p>
          <a:p>
            <a:r>
              <a:rPr lang="x-none" dirty="0">
                <a:latin typeface="Arial" panose="020B0604020202020204" pitchFamily="34" charset="0"/>
                <a:cs typeface="Arial" panose="020B0604020202020204" pitchFamily="34" charset="0"/>
              </a:rPr>
              <a:t>if (length(deg_MCF7) &gt; 0) {</a:t>
            </a:r>
          </a:p>
          <a:p>
            <a:r>
              <a:rPr lang="x-none" dirty="0">
                <a:latin typeface="Arial" panose="020B0604020202020204" pitchFamily="34" charset="0"/>
                <a:cs typeface="Arial" panose="020B0604020202020204" pitchFamily="34" charset="0"/>
              </a:rPr>
              <a:t>  gene_MCF7 &lt;- bitr(deg_MCF7, fromType = "SYMBOL", toType = "ENTREZID", OrgDb = org.Hs.eg.db)$ENTREZID</a:t>
            </a:r>
          </a:p>
          <a:p>
            <a:r>
              <a:rPr lang="x-none" dirty="0">
                <a:latin typeface="Arial" panose="020B0604020202020204" pitchFamily="34" charset="0"/>
                <a:cs typeface="Arial" panose="020B0604020202020204" pitchFamily="34" charset="0"/>
              </a:rPr>
              <a:t>} else {</a:t>
            </a:r>
          </a:p>
          <a:p>
            <a:r>
              <a:rPr lang="x-none" dirty="0">
                <a:latin typeface="Arial" panose="020B0604020202020204" pitchFamily="34" charset="0"/>
                <a:cs typeface="Arial" panose="020B0604020202020204" pitchFamily="34" charset="0"/>
              </a:rPr>
              <a:t>  gene_MCF7 &lt;- character(0)</a:t>
            </a:r>
          </a:p>
          <a:p>
            <a:r>
              <a:rPr lang="x-none" dirty="0">
                <a:latin typeface="Arial" panose="020B0604020202020204" pitchFamily="34" charset="0"/>
                <a:cs typeface="Arial" panose="020B0604020202020204" pitchFamily="34" charset="0"/>
              </a:rPr>
              <a:t>}</a:t>
            </a:r>
          </a:p>
          <a:p>
            <a:endParaRPr lang="x-none" dirty="0">
              <a:latin typeface="Arial" panose="020B0604020202020204" pitchFamily="34" charset="0"/>
              <a:cs typeface="Arial" panose="020B0604020202020204" pitchFamily="34" charset="0"/>
            </a:endParaRPr>
          </a:p>
          <a:p>
            <a:r>
              <a:rPr lang="x-none" dirty="0">
                <a:highlight>
                  <a:srgbClr val="FFFF00"/>
                </a:highlight>
                <a:latin typeface="Arial" panose="020B0604020202020204" pitchFamily="34" charset="0"/>
                <a:cs typeface="Arial" panose="020B0604020202020204" pitchFamily="34" charset="0"/>
              </a:rPr>
              <a:t># Phân tích KEGG cho MDA-MB-231, kiểm tra nếu có gene</a:t>
            </a:r>
          </a:p>
          <a:p>
            <a:r>
              <a:rPr lang="x-none" dirty="0">
                <a:latin typeface="Arial" panose="020B0604020202020204" pitchFamily="34" charset="0"/>
                <a:cs typeface="Arial" panose="020B0604020202020204" pitchFamily="34" charset="0"/>
              </a:rPr>
              <a:t>if (length(gene_231) &gt; 0) {</a:t>
            </a:r>
          </a:p>
          <a:p>
            <a:r>
              <a:rPr lang="x-none" dirty="0">
                <a:latin typeface="Arial" panose="020B0604020202020204" pitchFamily="34" charset="0"/>
                <a:cs typeface="Arial" panose="020B0604020202020204" pitchFamily="34" charset="0"/>
              </a:rPr>
              <a:t>  kegg_231 &lt;- enrichKEGG(gene_231, organism = "hsa", pvalueCutoff = 0.05)</a:t>
            </a:r>
          </a:p>
          <a:p>
            <a:r>
              <a:rPr lang="x-none" dirty="0">
                <a:latin typeface="Arial" panose="020B0604020202020204" pitchFamily="34" charset="0"/>
                <a:cs typeface="Arial" panose="020B0604020202020204" pitchFamily="34" charset="0"/>
              </a:rPr>
              <a:t>} else {</a:t>
            </a:r>
          </a:p>
          <a:p>
            <a:r>
              <a:rPr lang="x-none" dirty="0">
                <a:latin typeface="Arial" panose="020B0604020202020204" pitchFamily="34" charset="0"/>
                <a:cs typeface="Arial" panose="020B0604020202020204" pitchFamily="34" charset="0"/>
              </a:rPr>
              <a:t>  kegg_231 &lt;- NULL  # Gán NULL nếu không có gene</a:t>
            </a:r>
          </a:p>
          <a:p>
            <a:r>
              <a:rPr lang="x-none"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xmlns="" id="{6365BDFC-F77A-1C41-98A0-831AC222229D}"/>
              </a:ext>
            </a:extLst>
          </p:cNvPr>
          <p:cNvSpPr txBox="1"/>
          <p:nvPr/>
        </p:nvSpPr>
        <p:spPr>
          <a:xfrm>
            <a:off x="4591797" y="131533"/>
            <a:ext cx="4600574" cy="4524315"/>
          </a:xfrm>
          <a:prstGeom prst="rect">
            <a:avLst/>
          </a:prstGeom>
          <a:noFill/>
        </p:spPr>
        <p:txBody>
          <a:bodyPr wrap="square">
            <a:spAutoFit/>
          </a:bodyPr>
          <a:lstStyle/>
          <a:p>
            <a:r>
              <a:rPr lang="x-none" dirty="0">
                <a:latin typeface="Arial" panose="020B0604020202020204" pitchFamily="34" charset="0"/>
                <a:cs typeface="Arial" panose="020B0604020202020204" pitchFamily="34" charset="0"/>
              </a:rPr>
              <a:t># Phân tích KEGG cho </a:t>
            </a:r>
            <a:r>
              <a:rPr lang="x-none" dirty="0">
                <a:highlight>
                  <a:srgbClr val="FFFF00"/>
                </a:highlight>
                <a:latin typeface="Arial" panose="020B0604020202020204" pitchFamily="34" charset="0"/>
                <a:cs typeface="Arial" panose="020B0604020202020204" pitchFamily="34" charset="0"/>
              </a:rPr>
              <a:t>MDA-MB-468</a:t>
            </a:r>
          </a:p>
          <a:p>
            <a:r>
              <a:rPr lang="x-none" dirty="0">
                <a:latin typeface="Arial" panose="020B0604020202020204" pitchFamily="34" charset="0"/>
                <a:cs typeface="Arial" panose="020B0604020202020204" pitchFamily="34" charset="0"/>
              </a:rPr>
              <a:t>if (length(gene_468) &gt; 0) {</a:t>
            </a:r>
          </a:p>
          <a:p>
            <a:r>
              <a:rPr lang="x-none" dirty="0">
                <a:latin typeface="Arial" panose="020B0604020202020204" pitchFamily="34" charset="0"/>
                <a:cs typeface="Arial" panose="020B0604020202020204" pitchFamily="34" charset="0"/>
              </a:rPr>
              <a:t>  kegg_468 &lt;- enrichKEGG(gene_468, organism = "hsa", pvalueCutoff = 0.05)</a:t>
            </a:r>
          </a:p>
          <a:p>
            <a:r>
              <a:rPr lang="x-none" dirty="0">
                <a:latin typeface="Arial" panose="020B0604020202020204" pitchFamily="34" charset="0"/>
                <a:cs typeface="Arial" panose="020B0604020202020204" pitchFamily="34" charset="0"/>
              </a:rPr>
              <a:t>} else {</a:t>
            </a:r>
          </a:p>
          <a:p>
            <a:r>
              <a:rPr lang="x-none" dirty="0">
                <a:latin typeface="Arial" panose="020B0604020202020204" pitchFamily="34" charset="0"/>
                <a:cs typeface="Arial" panose="020B0604020202020204" pitchFamily="34" charset="0"/>
              </a:rPr>
              <a:t>  kegg_468 &lt;- NULL</a:t>
            </a:r>
          </a:p>
          <a:p>
            <a:r>
              <a:rPr lang="x-none" dirty="0">
                <a:latin typeface="Arial" panose="020B0604020202020204" pitchFamily="34" charset="0"/>
                <a:cs typeface="Arial" panose="020B0604020202020204" pitchFamily="34" charset="0"/>
              </a:rPr>
              <a:t>}</a:t>
            </a:r>
          </a:p>
          <a:p>
            <a:endParaRPr lang="x-none" dirty="0">
              <a:latin typeface="Arial" panose="020B0604020202020204" pitchFamily="34" charset="0"/>
              <a:cs typeface="Arial" panose="020B0604020202020204" pitchFamily="34" charset="0"/>
            </a:endParaRPr>
          </a:p>
          <a:p>
            <a:r>
              <a:rPr lang="x-none" dirty="0">
                <a:latin typeface="Arial" panose="020B0604020202020204" pitchFamily="34" charset="0"/>
                <a:cs typeface="Arial" panose="020B0604020202020204" pitchFamily="34" charset="0"/>
              </a:rPr>
              <a:t># Phân tích KEGG cho </a:t>
            </a:r>
            <a:r>
              <a:rPr lang="x-none" dirty="0">
                <a:highlight>
                  <a:srgbClr val="FFFF00"/>
                </a:highlight>
                <a:latin typeface="Arial" panose="020B0604020202020204" pitchFamily="34" charset="0"/>
                <a:cs typeface="Arial" panose="020B0604020202020204" pitchFamily="34" charset="0"/>
              </a:rPr>
              <a:t>MCF-7</a:t>
            </a:r>
          </a:p>
          <a:p>
            <a:r>
              <a:rPr lang="x-none" dirty="0">
                <a:latin typeface="Arial" panose="020B0604020202020204" pitchFamily="34" charset="0"/>
                <a:cs typeface="Arial" panose="020B0604020202020204" pitchFamily="34" charset="0"/>
              </a:rPr>
              <a:t>if (length(gene_MCF7) &gt; 0) {</a:t>
            </a:r>
          </a:p>
          <a:p>
            <a:r>
              <a:rPr lang="x-none" dirty="0">
                <a:latin typeface="Arial" panose="020B0604020202020204" pitchFamily="34" charset="0"/>
                <a:cs typeface="Arial" panose="020B0604020202020204" pitchFamily="34" charset="0"/>
              </a:rPr>
              <a:t>  kegg_MCF7 &lt;- enrichKEGG(gene_MCF7, organism = "hsa", pvalueCutoff = 0.05)</a:t>
            </a:r>
          </a:p>
          <a:p>
            <a:r>
              <a:rPr lang="x-none" dirty="0">
                <a:latin typeface="Arial" panose="020B0604020202020204" pitchFamily="34" charset="0"/>
                <a:cs typeface="Arial" panose="020B0604020202020204" pitchFamily="34" charset="0"/>
              </a:rPr>
              <a:t>} else {</a:t>
            </a:r>
          </a:p>
          <a:p>
            <a:r>
              <a:rPr lang="x-none" dirty="0">
                <a:latin typeface="Arial" panose="020B0604020202020204" pitchFamily="34" charset="0"/>
                <a:cs typeface="Arial" panose="020B0604020202020204" pitchFamily="34" charset="0"/>
              </a:rPr>
              <a:t>  kegg_MCF7 &lt;- NULL</a:t>
            </a:r>
          </a:p>
          <a:p>
            <a:r>
              <a:rPr lang="x-none" dirty="0">
                <a:latin typeface="Arial" panose="020B0604020202020204" pitchFamily="34" charset="0"/>
                <a:cs typeface="Arial" panose="020B0604020202020204" pitchFamily="34" charset="0"/>
              </a:rPr>
              <a:t>}</a:t>
            </a:r>
          </a:p>
          <a:p>
            <a:endParaRPr lang="x-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678946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DD716EF0-8CAA-3BAE-7C19-487E0C8A159E}"/>
              </a:ext>
            </a:extLst>
          </p:cNvPr>
          <p:cNvSpPr txBox="1"/>
          <p:nvPr/>
        </p:nvSpPr>
        <p:spPr>
          <a:xfrm>
            <a:off x="4572000" y="0"/>
            <a:ext cx="4572000" cy="6986528"/>
          </a:xfrm>
          <a:prstGeom prst="rect">
            <a:avLst/>
          </a:prstGeom>
          <a:noFill/>
        </p:spPr>
        <p:txBody>
          <a:bodyPr wrap="square">
            <a:spAutoFit/>
          </a:bodyPr>
          <a:lstStyle/>
          <a:p>
            <a:r>
              <a:rPr lang="x-none" sz="1600" dirty="0">
                <a:highlight>
                  <a:srgbClr val="FFFF00"/>
                </a:highlight>
                <a:latin typeface="Arial" panose="020B0604020202020204" pitchFamily="34" charset="0"/>
                <a:cs typeface="Arial" panose="020B0604020202020204" pitchFamily="34" charset="0"/>
              </a:rPr>
              <a:t># Tạo biểu đồ thanh cho MDA-MB-468</a:t>
            </a:r>
          </a:p>
          <a:p>
            <a:r>
              <a:rPr lang="x-none" sz="1600" dirty="0">
                <a:highlight>
                  <a:srgbClr val="FFFF00"/>
                </a:highlight>
                <a:latin typeface="Arial" panose="020B0604020202020204" pitchFamily="34" charset="0"/>
                <a:cs typeface="Arial" panose="020B0604020202020204" pitchFamily="34" charset="0"/>
              </a:rPr>
              <a:t>if (!is.null(kegg_468)) {</a:t>
            </a:r>
          </a:p>
          <a:p>
            <a:r>
              <a:rPr lang="x-none" sz="1600" dirty="0">
                <a:latin typeface="Arial" panose="020B0604020202020204" pitchFamily="34" charset="0"/>
                <a:cs typeface="Arial" panose="020B0604020202020204" pitchFamily="34" charset="0"/>
              </a:rPr>
              <a:t>  p2 &lt;- barplot(kegg_468, showCategory = 10, title = "KEGG Pathways in MDA-MB-468") +</a:t>
            </a:r>
          </a:p>
          <a:p>
            <a:r>
              <a:rPr lang="x-none" sz="1600" dirty="0">
                <a:latin typeface="Arial" panose="020B0604020202020204" pitchFamily="34" charset="0"/>
                <a:cs typeface="Arial" panose="020B0604020202020204" pitchFamily="34" charset="0"/>
              </a:rPr>
              <a:t>    theme_minimal() +</a:t>
            </a:r>
          </a:p>
          <a:p>
            <a:r>
              <a:rPr lang="x-none" sz="1600" dirty="0">
                <a:latin typeface="Arial" panose="020B0604020202020204" pitchFamily="34" charset="0"/>
                <a:cs typeface="Arial" panose="020B0604020202020204" pitchFamily="34" charset="0"/>
              </a:rPr>
              <a:t>    labs(x = "-log10 FDR", y = "Pathway")</a:t>
            </a:r>
          </a:p>
          <a:p>
            <a:r>
              <a:rPr lang="x-none" sz="1600" dirty="0">
                <a:latin typeface="Arial" panose="020B0604020202020204" pitchFamily="34" charset="0"/>
                <a:cs typeface="Arial" panose="020B0604020202020204" pitchFamily="34" charset="0"/>
              </a:rPr>
              <a:t>  print(p2)</a:t>
            </a:r>
          </a:p>
          <a:p>
            <a:r>
              <a:rPr lang="x-none" sz="1600" dirty="0">
                <a:latin typeface="Arial" panose="020B0604020202020204" pitchFamily="34" charset="0"/>
                <a:cs typeface="Arial" panose="020B0604020202020204" pitchFamily="34" charset="0"/>
              </a:rPr>
              <a:t>  ggsave("kegg_468.png", plot = p2, width = 8, height = 6)</a:t>
            </a:r>
          </a:p>
          <a:p>
            <a:r>
              <a:rPr lang="x-none" sz="1600" dirty="0">
                <a:latin typeface="Arial" panose="020B0604020202020204" pitchFamily="34" charset="0"/>
                <a:cs typeface="Arial" panose="020B0604020202020204" pitchFamily="34" charset="0"/>
              </a:rPr>
              <a:t>  message("Đã lưu biểu đồ: kegg_468.png")</a:t>
            </a:r>
          </a:p>
          <a:p>
            <a:r>
              <a:rPr lang="x-none" sz="1600" dirty="0">
                <a:latin typeface="Arial" panose="020B0604020202020204" pitchFamily="34" charset="0"/>
                <a:cs typeface="Arial" panose="020B0604020202020204" pitchFamily="34" charset="0"/>
              </a:rPr>
              <a:t>} else {</a:t>
            </a:r>
          </a:p>
          <a:p>
            <a:r>
              <a:rPr lang="x-none" sz="1600" dirty="0">
                <a:latin typeface="Arial" panose="020B0604020202020204" pitchFamily="34" charset="0"/>
                <a:cs typeface="Arial" panose="020B0604020202020204" pitchFamily="34" charset="0"/>
              </a:rPr>
              <a:t>  message("No significant KEGG pathways for MDA-MB-468")</a:t>
            </a:r>
          </a:p>
          <a:p>
            <a:r>
              <a:rPr lang="x-none" sz="1600" smtClean="0">
                <a:latin typeface="Arial" panose="020B0604020202020204" pitchFamily="34" charset="0"/>
                <a:cs typeface="Arial" panose="020B0604020202020204" pitchFamily="34" charset="0"/>
              </a:rPr>
              <a:t>}</a:t>
            </a:r>
            <a:endParaRPr lang="x-none" sz="1600" dirty="0">
              <a:latin typeface="Arial" panose="020B0604020202020204" pitchFamily="34" charset="0"/>
              <a:cs typeface="Arial" panose="020B0604020202020204" pitchFamily="34" charset="0"/>
            </a:endParaRPr>
          </a:p>
          <a:p>
            <a:r>
              <a:rPr lang="x-none" sz="1600" dirty="0">
                <a:highlight>
                  <a:srgbClr val="FFFF00"/>
                </a:highlight>
                <a:latin typeface="Arial" panose="020B0604020202020204" pitchFamily="34" charset="0"/>
                <a:cs typeface="Arial" panose="020B0604020202020204" pitchFamily="34" charset="0"/>
              </a:rPr>
              <a:t># Tạo biểu đồ thanh cho MCF-7</a:t>
            </a:r>
          </a:p>
          <a:p>
            <a:r>
              <a:rPr lang="x-none" sz="1600" dirty="0">
                <a:latin typeface="Arial" panose="020B0604020202020204" pitchFamily="34" charset="0"/>
                <a:cs typeface="Arial" panose="020B0604020202020204" pitchFamily="34" charset="0"/>
              </a:rPr>
              <a:t>if (!is.null(kegg_MCF7)) {</a:t>
            </a:r>
          </a:p>
          <a:p>
            <a:r>
              <a:rPr lang="x-none" sz="1600" dirty="0">
                <a:latin typeface="Arial" panose="020B0604020202020204" pitchFamily="34" charset="0"/>
                <a:cs typeface="Arial" panose="020B0604020202020204" pitchFamily="34" charset="0"/>
              </a:rPr>
              <a:t>  p3 &lt;- barplot(kegg_MCF7, showCategory = 10, title = "KEGG Pathways in MCF-7") +</a:t>
            </a:r>
          </a:p>
          <a:p>
            <a:r>
              <a:rPr lang="x-none" sz="1600" dirty="0">
                <a:latin typeface="Arial" panose="020B0604020202020204" pitchFamily="34" charset="0"/>
                <a:cs typeface="Arial" panose="020B0604020202020204" pitchFamily="34" charset="0"/>
              </a:rPr>
              <a:t>    theme_minimal() +</a:t>
            </a:r>
          </a:p>
          <a:p>
            <a:r>
              <a:rPr lang="x-none" sz="1600" dirty="0">
                <a:latin typeface="Arial" panose="020B0604020202020204" pitchFamily="34" charset="0"/>
                <a:cs typeface="Arial" panose="020B0604020202020204" pitchFamily="34" charset="0"/>
              </a:rPr>
              <a:t>    labs(x = "-log10 FDR", y = "Pathway")</a:t>
            </a:r>
          </a:p>
          <a:p>
            <a:r>
              <a:rPr lang="x-none" sz="1600" dirty="0">
                <a:latin typeface="Arial" panose="020B0604020202020204" pitchFamily="34" charset="0"/>
                <a:cs typeface="Arial" panose="020B0604020202020204" pitchFamily="34" charset="0"/>
              </a:rPr>
              <a:t>  print(p3)</a:t>
            </a:r>
          </a:p>
          <a:p>
            <a:r>
              <a:rPr lang="x-none" sz="1600" dirty="0">
                <a:latin typeface="Arial" panose="020B0604020202020204" pitchFamily="34" charset="0"/>
                <a:cs typeface="Arial" panose="020B0604020202020204" pitchFamily="34" charset="0"/>
              </a:rPr>
              <a:t>  ggsave("kegg_MCF7.png", plot = p3, width = 8, height = 6)</a:t>
            </a:r>
          </a:p>
          <a:p>
            <a:r>
              <a:rPr lang="x-none" sz="1600" dirty="0">
                <a:latin typeface="Arial" panose="020B0604020202020204" pitchFamily="34" charset="0"/>
                <a:cs typeface="Arial" panose="020B0604020202020204" pitchFamily="34" charset="0"/>
              </a:rPr>
              <a:t>  message("Đã lưu biểu đồ: kegg_MCF7.png")</a:t>
            </a:r>
          </a:p>
          <a:p>
            <a:r>
              <a:rPr lang="x-none" sz="1600" dirty="0">
                <a:latin typeface="Arial" panose="020B0604020202020204" pitchFamily="34" charset="0"/>
                <a:cs typeface="Arial" panose="020B0604020202020204" pitchFamily="34" charset="0"/>
              </a:rPr>
              <a:t>} else {</a:t>
            </a:r>
          </a:p>
          <a:p>
            <a:r>
              <a:rPr lang="x-none" sz="1600" dirty="0">
                <a:latin typeface="Arial" panose="020B0604020202020204" pitchFamily="34" charset="0"/>
                <a:cs typeface="Arial" panose="020B0604020202020204" pitchFamily="34" charset="0"/>
              </a:rPr>
              <a:t>  message("No significant KEGG pathways for MCF-7")</a:t>
            </a:r>
          </a:p>
          <a:p>
            <a:r>
              <a:rPr lang="x-none" sz="1600"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xmlns="" id="{915B28C2-7450-02E5-778C-4B0A738D9887}"/>
              </a:ext>
            </a:extLst>
          </p:cNvPr>
          <p:cNvSpPr txBox="1"/>
          <p:nvPr/>
        </p:nvSpPr>
        <p:spPr>
          <a:xfrm>
            <a:off x="0" y="0"/>
            <a:ext cx="4607718" cy="5693866"/>
          </a:xfrm>
          <a:prstGeom prst="rect">
            <a:avLst/>
          </a:prstGeom>
          <a:noFill/>
        </p:spPr>
        <p:txBody>
          <a:bodyPr wrap="square">
            <a:spAutoFit/>
          </a:bodyPr>
          <a:lstStyle/>
          <a:p>
            <a:r>
              <a:rPr lang="x-none" sz="1600" dirty="0">
                <a:highlight>
                  <a:srgbClr val="FFFF00"/>
                </a:highlight>
                <a:latin typeface="Arial" panose="020B0604020202020204" pitchFamily="34" charset="0"/>
                <a:cs typeface="Arial" panose="020B0604020202020204" pitchFamily="34" charset="0"/>
              </a:rPr>
              <a:t># Tạo biểu đồ thanh cho MDA-MB-231</a:t>
            </a:r>
          </a:p>
          <a:p>
            <a:r>
              <a:rPr lang="x-none" sz="1600" dirty="0">
                <a:highlight>
                  <a:srgbClr val="FFFF00"/>
                </a:highlight>
                <a:latin typeface="Arial" panose="020B0604020202020204" pitchFamily="34" charset="0"/>
                <a:cs typeface="Arial" panose="020B0604020202020204" pitchFamily="34" charset="0"/>
              </a:rPr>
              <a:t>if (!is.null(kegg_231)) {</a:t>
            </a:r>
          </a:p>
          <a:p>
            <a:r>
              <a:rPr lang="x-none" sz="1600" dirty="0">
                <a:latin typeface="Arial" panose="020B0604020202020204" pitchFamily="34" charset="0"/>
                <a:cs typeface="Arial" panose="020B0604020202020204" pitchFamily="34" charset="0"/>
              </a:rPr>
              <a:t>  # Vẽ biểu đồ thanh hiển thị top 10 con đường KEGG</a:t>
            </a:r>
          </a:p>
          <a:p>
            <a:r>
              <a:rPr lang="x-none" sz="1600" dirty="0">
                <a:latin typeface="Arial" panose="020B0604020202020204" pitchFamily="34" charset="0"/>
                <a:cs typeface="Arial" panose="020B0604020202020204" pitchFamily="34" charset="0"/>
              </a:rPr>
              <a:t>  p1 &lt;- barplot(kegg_231, showCategory = 10, title = "KEGG Pathways in MDA-MB-231") +</a:t>
            </a:r>
          </a:p>
          <a:p>
            <a:r>
              <a:rPr lang="x-none" sz="1600" dirty="0">
                <a:latin typeface="Arial" panose="020B0604020202020204" pitchFamily="34" charset="0"/>
                <a:cs typeface="Arial" panose="020B0604020202020204" pitchFamily="34" charset="0"/>
              </a:rPr>
              <a:t>    # Sử dụng theme tối giản</a:t>
            </a:r>
          </a:p>
          <a:p>
            <a:r>
              <a:rPr lang="x-none" sz="1600" dirty="0">
                <a:latin typeface="Arial" panose="020B0604020202020204" pitchFamily="34" charset="0"/>
                <a:cs typeface="Arial" panose="020B0604020202020204" pitchFamily="34" charset="0"/>
              </a:rPr>
              <a:t>    theme_minimal() +</a:t>
            </a:r>
          </a:p>
          <a:p>
            <a:r>
              <a:rPr lang="x-none" sz="1600" dirty="0">
                <a:latin typeface="Arial" panose="020B0604020202020204" pitchFamily="34" charset="0"/>
                <a:cs typeface="Arial" panose="020B0604020202020204" pitchFamily="34" charset="0"/>
              </a:rPr>
              <a:t>    # Đặt nhãn trục</a:t>
            </a:r>
          </a:p>
          <a:p>
            <a:r>
              <a:rPr lang="x-none" sz="1600" dirty="0">
                <a:latin typeface="Arial" panose="020B0604020202020204" pitchFamily="34" charset="0"/>
                <a:cs typeface="Arial" panose="020B0604020202020204" pitchFamily="34" charset="0"/>
              </a:rPr>
              <a:t>    labs(x = "-log10 FDR", y = "Pathway")</a:t>
            </a:r>
          </a:p>
          <a:p>
            <a:r>
              <a:rPr lang="x-none" sz="1600" dirty="0">
                <a:latin typeface="Arial" panose="020B0604020202020204" pitchFamily="34" charset="0"/>
                <a:cs typeface="Arial" panose="020B0604020202020204" pitchFamily="34" charset="0"/>
              </a:rPr>
              <a:t>  # Hiển thị biểu đồ</a:t>
            </a:r>
          </a:p>
          <a:p>
            <a:r>
              <a:rPr lang="x-none" sz="1600" dirty="0">
                <a:latin typeface="Arial" panose="020B0604020202020204" pitchFamily="34" charset="0"/>
                <a:cs typeface="Arial" panose="020B0604020202020204" pitchFamily="34" charset="0"/>
              </a:rPr>
              <a:t>  print(p1)</a:t>
            </a:r>
          </a:p>
          <a:p>
            <a:r>
              <a:rPr lang="x-none" sz="1600" dirty="0">
                <a:latin typeface="Arial" panose="020B0604020202020204" pitchFamily="34" charset="0"/>
                <a:cs typeface="Arial" panose="020B0604020202020204" pitchFamily="34" charset="0"/>
              </a:rPr>
              <a:t>  # Lưu biểu đồ dưới dạng PNG</a:t>
            </a:r>
          </a:p>
          <a:p>
            <a:r>
              <a:rPr lang="x-none" sz="1600" dirty="0">
                <a:latin typeface="Arial" panose="020B0604020202020204" pitchFamily="34" charset="0"/>
                <a:cs typeface="Arial" panose="020B0604020202020204" pitchFamily="34" charset="0"/>
              </a:rPr>
              <a:t>  ggsave("kegg_231.png", plot = p1, width = 8, height = 6)</a:t>
            </a:r>
          </a:p>
          <a:p>
            <a:r>
              <a:rPr lang="x-none" sz="1600" dirty="0">
                <a:latin typeface="Arial" panose="020B0604020202020204" pitchFamily="34" charset="0"/>
                <a:cs typeface="Arial" panose="020B0604020202020204" pitchFamily="34" charset="0"/>
              </a:rPr>
              <a:t>  message("Đã lưu biểu đồ: kegg_231.png")</a:t>
            </a:r>
          </a:p>
          <a:p>
            <a:r>
              <a:rPr lang="x-none" sz="1600" dirty="0">
                <a:latin typeface="Arial" panose="020B0604020202020204" pitchFamily="34" charset="0"/>
                <a:cs typeface="Arial" panose="020B0604020202020204" pitchFamily="34" charset="0"/>
              </a:rPr>
              <a:t>} else {</a:t>
            </a:r>
          </a:p>
          <a:p>
            <a:r>
              <a:rPr lang="x-none" sz="1600" dirty="0">
                <a:latin typeface="Arial" panose="020B0604020202020204" pitchFamily="34" charset="0"/>
                <a:cs typeface="Arial" panose="020B0604020202020204" pitchFamily="34" charset="0"/>
              </a:rPr>
              <a:t>  # Thông báo nếu không có con đường KEGG đáng kể</a:t>
            </a:r>
          </a:p>
          <a:p>
            <a:r>
              <a:rPr lang="x-none" sz="1600" dirty="0">
                <a:latin typeface="Arial" panose="020B0604020202020204" pitchFamily="34" charset="0"/>
                <a:cs typeface="Arial" panose="020B0604020202020204" pitchFamily="34" charset="0"/>
              </a:rPr>
              <a:t>  message("No significant KEGG pathways for MDA-MB-231")</a:t>
            </a:r>
          </a:p>
          <a:p>
            <a:r>
              <a:rPr lang="x-none" sz="1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773631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09083EAA-708F-331C-44B8-D125DA97AF7B}"/>
              </a:ext>
            </a:extLst>
          </p:cNvPr>
          <p:cNvPicPr>
            <a:picLocks noChangeAspect="1"/>
          </p:cNvPicPr>
          <p:nvPr/>
        </p:nvPicPr>
        <p:blipFill>
          <a:blip r:embed="rId2"/>
          <a:stretch>
            <a:fillRect/>
          </a:stretch>
        </p:blipFill>
        <p:spPr>
          <a:xfrm>
            <a:off x="1" y="1724188"/>
            <a:ext cx="4243386" cy="3182540"/>
          </a:xfrm>
          <a:prstGeom prst="rect">
            <a:avLst/>
          </a:prstGeom>
        </p:spPr>
      </p:pic>
      <p:pic>
        <p:nvPicPr>
          <p:cNvPr id="5" name="Picture 4">
            <a:extLst>
              <a:ext uri="{FF2B5EF4-FFF2-40B4-BE49-F238E27FC236}">
                <a16:creationId xmlns:a16="http://schemas.microsoft.com/office/drawing/2014/main" xmlns="" id="{CA89BCB6-9880-0C1E-8AB8-55FC48463E58}"/>
              </a:ext>
            </a:extLst>
          </p:cNvPr>
          <p:cNvPicPr>
            <a:picLocks noChangeAspect="1"/>
          </p:cNvPicPr>
          <p:nvPr/>
        </p:nvPicPr>
        <p:blipFill>
          <a:blip r:embed="rId3"/>
          <a:stretch>
            <a:fillRect/>
          </a:stretch>
        </p:blipFill>
        <p:spPr>
          <a:xfrm>
            <a:off x="4243386" y="1450288"/>
            <a:ext cx="4900614" cy="3675461"/>
          </a:xfrm>
          <a:prstGeom prst="rect">
            <a:avLst/>
          </a:prstGeom>
        </p:spPr>
      </p:pic>
    </p:spTree>
    <p:extLst>
      <p:ext uri="{BB962C8B-B14F-4D97-AF65-F5344CB8AC3E}">
        <p14:creationId xmlns:p14="http://schemas.microsoft.com/office/powerpoint/2010/main" val="361718122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AE14E1F5-7692-74BD-7783-D067E0C7F90A}"/>
              </a:ext>
            </a:extLst>
          </p:cNvPr>
          <p:cNvPicPr>
            <a:picLocks noChangeAspect="1"/>
          </p:cNvPicPr>
          <p:nvPr/>
        </p:nvPicPr>
        <p:blipFill>
          <a:blip r:embed="rId3"/>
          <a:stretch>
            <a:fillRect/>
          </a:stretch>
        </p:blipFill>
        <p:spPr>
          <a:xfrm>
            <a:off x="0" y="0"/>
            <a:ext cx="4323522" cy="6858000"/>
          </a:xfrm>
          <a:prstGeom prst="rect">
            <a:avLst/>
          </a:prstGeom>
        </p:spPr>
      </p:pic>
      <p:sp>
        <p:nvSpPr>
          <p:cNvPr id="6" name="TextBox 5">
            <a:extLst>
              <a:ext uri="{FF2B5EF4-FFF2-40B4-BE49-F238E27FC236}">
                <a16:creationId xmlns:a16="http://schemas.microsoft.com/office/drawing/2014/main" xmlns="" id="{FE8EA448-56F4-5E65-837E-CF79BB8A3C09}"/>
              </a:ext>
            </a:extLst>
          </p:cNvPr>
          <p:cNvSpPr txBox="1"/>
          <p:nvPr/>
        </p:nvSpPr>
        <p:spPr>
          <a:xfrm>
            <a:off x="4323522" y="782121"/>
            <a:ext cx="4572000" cy="5293757"/>
          </a:xfrm>
          <a:prstGeom prst="rect">
            <a:avLst/>
          </a:prstGeom>
          <a:noFill/>
        </p:spPr>
        <p:txBody>
          <a:bodyPr wrap="square">
            <a:spAutoFit/>
          </a:bodyPr>
          <a:lstStyle/>
          <a:p>
            <a:r>
              <a:rPr lang="x-none" sz="1300" b="1" dirty="0">
                <a:latin typeface="Arial" panose="020B0604020202020204" pitchFamily="34" charset="0"/>
                <a:cs typeface="Arial" panose="020B0604020202020204" pitchFamily="34" charset="0"/>
              </a:rPr>
              <a:t>🧬 </a:t>
            </a:r>
            <a:r>
              <a:rPr lang="vi-VN" sz="1300" b="1" dirty="0">
                <a:latin typeface="Arial" panose="020B0604020202020204" pitchFamily="34" charset="0"/>
                <a:cs typeface="Arial" panose="020B0604020202020204" pitchFamily="34" charset="0"/>
              </a:rPr>
              <a:t>G9a (EHMT2):</a:t>
            </a:r>
          </a:p>
          <a:p>
            <a:r>
              <a:rPr lang="vi-VN" sz="1300" dirty="0">
                <a:latin typeface="Arial" panose="020B0604020202020204" pitchFamily="34" charset="0"/>
                <a:cs typeface="Arial" panose="020B0604020202020204" pitchFamily="34" charset="0"/>
              </a:rPr>
              <a:t>Là một enzyme methyltransferase có vai trò </a:t>
            </a:r>
            <a:r>
              <a:rPr lang="vi-VN" sz="1300" b="1" dirty="0">
                <a:latin typeface="Arial" panose="020B0604020202020204" pitchFamily="34" charset="0"/>
                <a:cs typeface="Arial" panose="020B0604020202020204" pitchFamily="34" charset="0"/>
              </a:rPr>
              <a:t>methyl hóa histone H3K9</a:t>
            </a:r>
            <a:r>
              <a:rPr lang="vi-VN" sz="1300" dirty="0">
                <a:latin typeface="Arial" panose="020B0604020202020204" pitchFamily="34" charset="0"/>
                <a:cs typeface="Arial" panose="020B0604020202020204" pitchFamily="34" charset="0"/>
              </a:rPr>
              <a:t> (tạo H3K9me2), góp phần </a:t>
            </a:r>
            <a:r>
              <a:rPr lang="vi-VN" sz="1300" b="1" dirty="0">
                <a:latin typeface="Arial" panose="020B0604020202020204" pitchFamily="34" charset="0"/>
                <a:cs typeface="Arial" panose="020B0604020202020204" pitchFamily="34" charset="0"/>
              </a:rPr>
              <a:t>ức chế phiên mã gen</a:t>
            </a:r>
            <a:r>
              <a:rPr lang="vi-VN" sz="1300" dirty="0">
                <a:latin typeface="Arial" panose="020B0604020202020204" pitchFamily="34" charset="0"/>
                <a:cs typeface="Arial" panose="020B0604020202020204" pitchFamily="34" charset="0"/>
              </a:rPr>
              <a:t>.</a:t>
            </a:r>
          </a:p>
          <a:p>
            <a:r>
              <a:rPr lang="x-none" sz="1300" b="1" dirty="0">
                <a:latin typeface="Arial" panose="020B0604020202020204" pitchFamily="34" charset="0"/>
                <a:cs typeface="Arial" panose="020B0604020202020204" pitchFamily="34" charset="0"/>
              </a:rPr>
              <a:t>🔹 </a:t>
            </a:r>
            <a:r>
              <a:rPr lang="vi-VN" sz="1300" b="1" dirty="0">
                <a:latin typeface="Arial" panose="020B0604020202020204" pitchFamily="34" charset="0"/>
                <a:cs typeface="Arial" panose="020B0604020202020204" pitchFamily="34" charset="0"/>
              </a:rPr>
              <a:t>Hai cách ức chế G9a:</a:t>
            </a:r>
          </a:p>
          <a:p>
            <a:pPr>
              <a:buFont typeface="+mj-lt"/>
              <a:buAutoNum type="arabicPeriod"/>
            </a:pPr>
            <a:r>
              <a:rPr lang="vi-VN" sz="1300" b="1" dirty="0">
                <a:latin typeface="Arial" panose="020B0604020202020204" pitchFamily="34" charset="0"/>
                <a:cs typeface="Arial" panose="020B0604020202020204" pitchFamily="34" charset="0"/>
              </a:rPr>
              <a:t>siRNA</a:t>
            </a:r>
            <a:r>
              <a:rPr lang="vi-VN" sz="1300" dirty="0">
                <a:latin typeface="Arial" panose="020B0604020202020204" pitchFamily="34" charset="0"/>
                <a:cs typeface="Arial" panose="020B0604020202020204" pitchFamily="34" charset="0"/>
              </a:rPr>
              <a:t> – đã được sử dụng trong các nghiên cứu trước để làm giảm </a:t>
            </a:r>
            <a:r>
              <a:rPr lang="vi-VN" sz="1300" b="1" dirty="0">
                <a:latin typeface="Arial" panose="020B0604020202020204" pitchFamily="34" charset="0"/>
                <a:cs typeface="Arial" panose="020B0604020202020204" pitchFamily="34" charset="0"/>
              </a:rPr>
              <a:t>biểu hiện (expression)</a:t>
            </a:r>
            <a:r>
              <a:rPr lang="vi-VN" sz="1300" dirty="0">
                <a:latin typeface="Arial" panose="020B0604020202020204" pitchFamily="34" charset="0"/>
                <a:cs typeface="Arial" panose="020B0604020202020204" pitchFamily="34" charset="0"/>
              </a:rPr>
              <a:t> của G9a.</a:t>
            </a:r>
          </a:p>
          <a:p>
            <a:pPr>
              <a:buFont typeface="+mj-lt"/>
              <a:buAutoNum type="arabicPeriod"/>
            </a:pPr>
            <a:r>
              <a:rPr lang="vi-VN" sz="1300" b="1" dirty="0">
                <a:latin typeface="Arial" panose="020B0604020202020204" pitchFamily="34" charset="0"/>
                <a:cs typeface="Arial" panose="020B0604020202020204" pitchFamily="34" charset="0"/>
              </a:rPr>
              <a:t>UNC0642</a:t>
            </a:r>
            <a:r>
              <a:rPr lang="vi-VN" sz="1300" dirty="0">
                <a:latin typeface="Arial" panose="020B0604020202020204" pitchFamily="34" charset="0"/>
                <a:cs typeface="Arial" panose="020B0604020202020204" pitchFamily="34" charset="0"/>
              </a:rPr>
              <a:t> – là một phát hiện mới, ức chế </a:t>
            </a:r>
            <a:r>
              <a:rPr lang="vi-VN" sz="1300" b="1" dirty="0">
                <a:latin typeface="Arial" panose="020B0604020202020204" pitchFamily="34" charset="0"/>
                <a:cs typeface="Arial" panose="020B0604020202020204" pitchFamily="34" charset="0"/>
              </a:rPr>
              <a:t>hoạt động enzyme</a:t>
            </a:r>
            <a:r>
              <a:rPr lang="vi-VN" sz="1300" dirty="0">
                <a:latin typeface="Arial" panose="020B0604020202020204" pitchFamily="34" charset="0"/>
                <a:cs typeface="Arial" panose="020B0604020202020204" pitchFamily="34" charset="0"/>
              </a:rPr>
              <a:t> của G9a, làm giảm mức </a:t>
            </a:r>
            <a:r>
              <a:rPr lang="vi-VN" sz="1300" b="1" dirty="0">
                <a:latin typeface="Arial" panose="020B0604020202020204" pitchFamily="34" charset="0"/>
                <a:cs typeface="Arial" panose="020B0604020202020204" pitchFamily="34" charset="0"/>
              </a:rPr>
              <a:t>H3K9me2</a:t>
            </a:r>
            <a:r>
              <a:rPr lang="vi-VN" sz="1300" dirty="0">
                <a:latin typeface="Arial" panose="020B0604020202020204" pitchFamily="34" charset="0"/>
                <a:cs typeface="Arial" panose="020B0604020202020204" pitchFamily="34" charset="0"/>
              </a:rPr>
              <a:t> (một dấu hiệu methyl hóa histone).</a:t>
            </a:r>
          </a:p>
          <a:p>
            <a:r>
              <a:rPr lang="x-none" sz="1300" b="1" dirty="0">
                <a:latin typeface="Arial" panose="020B0604020202020204" pitchFamily="34" charset="0"/>
                <a:cs typeface="Arial" panose="020B0604020202020204" pitchFamily="34" charset="0"/>
              </a:rPr>
              <a:t>🟣 </a:t>
            </a:r>
            <a:r>
              <a:rPr lang="vi-VN" sz="1300" b="1" dirty="0">
                <a:latin typeface="Arial" panose="020B0604020202020204" pitchFamily="34" charset="0"/>
                <a:cs typeface="Arial" panose="020B0604020202020204" pitchFamily="34" charset="0"/>
              </a:rPr>
              <a:t>Ảnh hưởng trên ER+ (Estrogen Receptor positive) breast cancer:</a:t>
            </a:r>
          </a:p>
          <a:p>
            <a:pPr>
              <a:buFont typeface="Arial" panose="020B0604020202020204" pitchFamily="34" charset="0"/>
              <a:buChar char="•"/>
            </a:pPr>
            <a:r>
              <a:rPr lang="vi-VN" sz="1300" dirty="0">
                <a:latin typeface="Arial" panose="020B0604020202020204" pitchFamily="34" charset="0"/>
                <a:cs typeface="Arial" panose="020B0604020202020204" pitchFamily="34" charset="0"/>
              </a:rPr>
              <a:t>G9a ảnh hưởng đến:</a:t>
            </a:r>
          </a:p>
          <a:p>
            <a:pPr marL="742950" lvl="1" indent="-285750">
              <a:buFont typeface="Arial" panose="020B0604020202020204" pitchFamily="34" charset="0"/>
              <a:buChar char="•"/>
            </a:pPr>
            <a:r>
              <a:rPr lang="vi-VN" sz="1300" b="1" dirty="0">
                <a:latin typeface="Arial" panose="020B0604020202020204" pitchFamily="34" charset="0"/>
                <a:cs typeface="Arial" panose="020B0604020202020204" pitchFamily="34" charset="0"/>
              </a:rPr>
              <a:t>Estrogen signaling</a:t>
            </a:r>
            <a:endParaRPr lang="vi-VN"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vi-VN" sz="1300" b="1" dirty="0">
                <a:latin typeface="Arial" panose="020B0604020202020204" pitchFamily="34" charset="0"/>
                <a:cs typeface="Arial" panose="020B0604020202020204" pitchFamily="34" charset="0"/>
              </a:rPr>
              <a:t>ECM signaling, chuyển hóa, chu trình tế bào</a:t>
            </a:r>
            <a:endParaRPr lang="vi-VN" sz="1300" dirty="0">
              <a:latin typeface="Arial" panose="020B0604020202020204" pitchFamily="34" charset="0"/>
              <a:cs typeface="Arial" panose="020B0604020202020204" pitchFamily="34" charset="0"/>
            </a:endParaRPr>
          </a:p>
          <a:p>
            <a:pPr>
              <a:buFont typeface="Arial" panose="020B0604020202020204" pitchFamily="34" charset="0"/>
              <a:buChar char="•"/>
            </a:pPr>
            <a:r>
              <a:rPr lang="vi-VN" sz="1300" dirty="0">
                <a:latin typeface="Arial" panose="020B0604020202020204" pitchFamily="34" charset="0"/>
                <a:cs typeface="Arial" panose="020B0604020202020204" pitchFamily="34" charset="0"/>
              </a:rPr>
              <a:t>Khi ức chế G9a (bằng siRNA hoặc UNC0642):</a:t>
            </a:r>
          </a:p>
          <a:p>
            <a:pPr marL="742950" lvl="1" indent="-285750">
              <a:buFont typeface="Arial" panose="020B0604020202020204" pitchFamily="34" charset="0"/>
              <a:buChar char="•"/>
            </a:pPr>
            <a:r>
              <a:rPr lang="x-none" sz="1300" dirty="0">
                <a:latin typeface="Arial" panose="020B0604020202020204" pitchFamily="34" charset="0"/>
                <a:cs typeface="Arial" panose="020B0604020202020204" pitchFamily="34" charset="0"/>
              </a:rPr>
              <a:t>👉 </a:t>
            </a:r>
            <a:r>
              <a:rPr lang="vi-VN" sz="1300" b="1" dirty="0">
                <a:latin typeface="Arial" panose="020B0604020202020204" pitchFamily="34" charset="0"/>
                <a:cs typeface="Arial" panose="020B0604020202020204" pitchFamily="34" charset="0"/>
              </a:rPr>
              <a:t>Giảm tăng trưởng tế bào</a:t>
            </a:r>
            <a:r>
              <a:rPr lang="vi-VN" sz="1300" dirty="0">
                <a:latin typeface="Arial" panose="020B0604020202020204" pitchFamily="34" charset="0"/>
                <a:cs typeface="Arial" panose="020B0604020202020204" pitchFamily="34" charset="0"/>
              </a:rPr>
              <a:t> (Cell growth ↓)</a:t>
            </a:r>
          </a:p>
          <a:p>
            <a:r>
              <a:rPr lang="x-none" sz="1300" b="1" dirty="0">
                <a:latin typeface="Arial" panose="020B0604020202020204" pitchFamily="34" charset="0"/>
                <a:cs typeface="Arial" panose="020B0604020202020204" pitchFamily="34" charset="0"/>
              </a:rPr>
              <a:t>🟠 </a:t>
            </a:r>
            <a:r>
              <a:rPr lang="vi-VN" sz="1300" b="1" dirty="0">
                <a:latin typeface="Arial" panose="020B0604020202020204" pitchFamily="34" charset="0"/>
                <a:cs typeface="Arial" panose="020B0604020202020204" pitchFamily="34" charset="0"/>
              </a:rPr>
              <a:t>Ảnh hưởng trên ER– (Estrogen Receptor negative) breast cancer:</a:t>
            </a:r>
          </a:p>
          <a:p>
            <a:pPr>
              <a:buFont typeface="Arial" panose="020B0604020202020204" pitchFamily="34" charset="0"/>
              <a:buChar char="•"/>
            </a:pPr>
            <a:r>
              <a:rPr lang="vi-VN" sz="1300" dirty="0">
                <a:latin typeface="Arial" panose="020B0604020202020204" pitchFamily="34" charset="0"/>
                <a:cs typeface="Arial" panose="020B0604020202020204" pitchFamily="34" charset="0"/>
              </a:rPr>
              <a:t>G9a liên quan đến:</a:t>
            </a:r>
          </a:p>
          <a:p>
            <a:pPr marL="742950" lvl="1" indent="-285750">
              <a:buFont typeface="Arial" panose="020B0604020202020204" pitchFamily="34" charset="0"/>
              <a:buChar char="•"/>
            </a:pPr>
            <a:r>
              <a:rPr lang="vi-VN" sz="1300" b="1" dirty="0">
                <a:latin typeface="Arial" panose="020B0604020202020204" pitchFamily="34" charset="0"/>
                <a:cs typeface="Arial" panose="020B0604020202020204" pitchFamily="34" charset="0"/>
              </a:rPr>
              <a:t>Histone-associated signaling</a:t>
            </a:r>
            <a:endParaRPr lang="vi-VN"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vi-VN" sz="1300" b="1" dirty="0">
                <a:latin typeface="Arial" panose="020B0604020202020204" pitchFamily="34" charset="0"/>
                <a:cs typeface="Arial" panose="020B0604020202020204" pitchFamily="34" charset="0"/>
              </a:rPr>
              <a:t>Gen ức chế khối u (tumor suppressors)</a:t>
            </a:r>
            <a:endParaRPr lang="vi-VN"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vi-VN" sz="1300" b="1" dirty="0">
                <a:latin typeface="Arial" panose="020B0604020202020204" pitchFamily="34" charset="0"/>
                <a:cs typeface="Arial" panose="020B0604020202020204" pitchFamily="34" charset="0"/>
              </a:rPr>
              <a:t>Apoptosis (quá trình tự chết của tế bào)</a:t>
            </a:r>
            <a:endParaRPr lang="vi-VN" sz="1300" dirty="0">
              <a:latin typeface="Arial" panose="020B0604020202020204" pitchFamily="34" charset="0"/>
              <a:cs typeface="Arial" panose="020B0604020202020204" pitchFamily="34" charset="0"/>
            </a:endParaRPr>
          </a:p>
          <a:p>
            <a:pPr>
              <a:buFont typeface="Arial" panose="020B0604020202020204" pitchFamily="34" charset="0"/>
              <a:buChar char="•"/>
            </a:pPr>
            <a:r>
              <a:rPr lang="vi-VN" sz="1300" dirty="0">
                <a:latin typeface="Arial" panose="020B0604020202020204" pitchFamily="34" charset="0"/>
                <a:cs typeface="Arial" panose="020B0604020202020204" pitchFamily="34" charset="0"/>
              </a:rPr>
              <a:t>Khi ức chế G9a:</a:t>
            </a:r>
          </a:p>
          <a:p>
            <a:pPr marL="742950" lvl="1" indent="-285750">
              <a:buFont typeface="Arial" panose="020B0604020202020204" pitchFamily="34" charset="0"/>
              <a:buChar char="•"/>
            </a:pPr>
            <a:r>
              <a:rPr lang="x-none" sz="1300" dirty="0">
                <a:latin typeface="Arial" panose="020B0604020202020204" pitchFamily="34" charset="0"/>
                <a:cs typeface="Arial" panose="020B0604020202020204" pitchFamily="34" charset="0"/>
              </a:rPr>
              <a:t>👉 </a:t>
            </a:r>
            <a:r>
              <a:rPr lang="vi-VN" sz="1300" b="1" dirty="0">
                <a:latin typeface="Arial" panose="020B0604020202020204" pitchFamily="34" charset="0"/>
                <a:cs typeface="Arial" panose="020B0604020202020204" pitchFamily="34" charset="0"/>
              </a:rPr>
              <a:t>Giảm mạnh sự tăng trưởng tế bào</a:t>
            </a:r>
            <a:r>
              <a:rPr lang="vi-VN" sz="1300" dirty="0">
                <a:latin typeface="Arial" panose="020B0604020202020204" pitchFamily="34" charset="0"/>
                <a:cs typeface="Arial" panose="020B0604020202020204" pitchFamily="34" charset="0"/>
              </a:rPr>
              <a:t> (Cell growth ↓↓)</a:t>
            </a:r>
          </a:p>
        </p:txBody>
      </p:sp>
    </p:spTree>
    <p:extLst>
      <p:ext uri="{BB962C8B-B14F-4D97-AF65-F5344CB8AC3E}">
        <p14:creationId xmlns:p14="http://schemas.microsoft.com/office/powerpoint/2010/main" val="175827688"/>
      </p:ext>
    </p:extLst>
  </p:cSld>
  <p:clrMapOvr>
    <a:masterClrMapping/>
  </p:clrMapOvr>
  <p:timing>
    <p:tnLst>
      <p:par>
        <p:cTn id="1" dur="indefinite" restart="never" nodeType="tmRoot"/>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xmlns=""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{C5D5E66A-D5AC-2244-9CB6-D8AFA6F35C78}tf10001073</Template>
  <TotalTime>3642</TotalTime>
  <Words>8837</Words>
  <Application>Microsoft Office PowerPoint</Application>
  <PresentationFormat>On-screen Show (4:3)</PresentationFormat>
  <Paragraphs>1521</Paragraphs>
  <Slides>42</Slides>
  <Notes>18</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Hương Nguyễn</dc:creator>
  <cp:lastModifiedBy>HOANG</cp:lastModifiedBy>
  <cp:revision>18</cp:revision>
  <dcterms:created xsi:type="dcterms:W3CDTF">2025-04-23T10:25:07Z</dcterms:created>
  <dcterms:modified xsi:type="dcterms:W3CDTF">2025-04-28T14:11:11Z</dcterms:modified>
</cp:coreProperties>
</file>