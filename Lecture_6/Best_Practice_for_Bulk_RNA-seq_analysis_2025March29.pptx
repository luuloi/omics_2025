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76" r:id="rId6"/>
    <p:sldId id="277" r:id="rId7"/>
    <p:sldId id="278" r:id="rId8"/>
    <p:sldId id="279" r:id="rId9"/>
    <p:sldId id="280" r:id="rId10"/>
    <p:sldId id="281" r:id="rId11"/>
    <p:sldId id="259" r:id="rId12"/>
    <p:sldId id="260" r:id="rId13"/>
    <p:sldId id="261" r:id="rId14"/>
    <p:sldId id="262" r:id="rId15"/>
    <p:sldId id="264" r:id="rId16"/>
    <p:sldId id="265" r:id="rId17"/>
    <p:sldId id="266" r:id="rId18"/>
    <p:sldId id="267" r:id="rId19"/>
    <p:sldId id="268" r:id="rId20"/>
    <p:sldId id="270" r:id="rId21"/>
    <p:sldId id="269" r:id="rId22"/>
    <p:sldId id="271" r:id="rId23"/>
    <p:sldId id="272" r:id="rId24"/>
    <p:sldId id="273" r:id="rId25"/>
    <p:sldId id="274" r:id="rId26"/>
    <p:sldId id="27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" y="4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D39E9-5113-2BEA-925B-791D55B96B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E05EF9-C63A-B5DC-6F8C-5C0DB3DF35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C38BD-18DC-2ADB-F735-1C7810894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0CFF1-C12B-480C-8CCA-BC68C8D30074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4A887-02EB-8B54-57A2-81633255C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06D24-B8F1-C5BA-CBB3-EE062B71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75888-6C0A-40C9-9AEA-C7AEA9B8F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680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EE1CB-3F8F-13BE-D3C6-754694381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FCF3A-F699-502E-D922-828C87A00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99B5C-C912-AD89-5F7D-2AEA32D66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0CFF1-C12B-480C-8CCA-BC68C8D30074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7018D-BCCA-F183-B81F-A096E5F92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CF342-A86C-5AD5-2FE3-A45AE392C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75888-6C0A-40C9-9AEA-C7AEA9B8F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142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B86C3-52F8-70F8-0CB9-F8A82D019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66CCA-4A4A-DBBA-3F93-9C70BD354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5BC11-F939-3B72-D250-0D26F4814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0CFF1-C12B-480C-8CCA-BC68C8D30074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81AA4-5956-A69E-DC0F-F9063362A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EDAE2-7DBB-BD51-CFF5-59F9F4FDA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75888-6C0A-40C9-9AEA-C7AEA9B8F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501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33A36-AB84-4320-41DF-5F8D64F47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B6ADD-2DBE-D54D-B830-725422A43D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2F80B-5364-0C93-6C41-3EBA12E41E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63D5D2-C7AD-2C92-7910-EE25307D8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0CFF1-C12B-480C-8CCA-BC68C8D30074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7B33EB-DB27-8D76-D051-BF7280436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02903-EAE8-86F3-E1FF-75663063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75888-6C0A-40C9-9AEA-C7AEA9B8F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903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D2309-8484-F3AD-834C-A5ED42A25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61CAF-02DD-65B6-552E-E6902885B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E3BD2B-6064-A149-8084-A06D2CC16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848694-56FA-45F4-8393-EF75C42020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9EDA7E-2029-3B67-E152-2D3F0B1EF2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CDF94C-E472-8286-931B-2D3A69E57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0CFF1-C12B-480C-8CCA-BC68C8D30074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A347C3-DFA4-FA0E-7B7E-474395F7A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E0F114-C47B-DF11-2445-822D9D6DD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75888-6C0A-40C9-9AEA-C7AEA9B8F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607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A7B63-7CCE-727E-D81E-FD8438130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A9B773-635A-7947-1C58-EA0006681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0CFF1-C12B-480C-8CCA-BC68C8D30074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91C87A-BDC9-4360-9CF7-1A0C8705D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B7D46-133B-FD17-77E3-84D7658F5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75888-6C0A-40C9-9AEA-C7AEA9B8F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0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0C3CE1-9E79-A41E-5578-B4B92FAC9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0CFF1-C12B-480C-8CCA-BC68C8D30074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BE0DF8-37D1-3A5F-BFEA-4CC15CF58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62D7C-68B2-9922-0134-BFBCD5FDE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75888-6C0A-40C9-9AEA-C7AEA9B8F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493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749CC-43B8-0237-FD45-0049B391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0F28B-7355-DC9F-096B-54B36659D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5325E-DCFD-0BEA-7F14-9F5C019FEA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ECE8F1-408B-1DDF-B164-C710042EA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0CFF1-C12B-480C-8CCA-BC68C8D30074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E91719-4F6F-749F-342B-8982E9AB8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BFFCE2-056C-5455-EBC7-303B6FC78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75888-6C0A-40C9-9AEA-C7AEA9B8F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146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E47C2-54BB-5CE3-BFFA-85D98F054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E59E9F-19AB-5F9E-F637-1D0D3E6B28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A6D4CD-0E30-DCF8-6F77-21A2555754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61BF2-BEF1-D636-D245-9F6921004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0CFF1-C12B-480C-8CCA-BC68C8D30074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E2E837-A707-879B-1727-2857FACF6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B8745-3930-CC4B-B9DF-7F0911797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75888-6C0A-40C9-9AEA-C7AEA9B8F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695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3240D-5C89-30BD-6865-5843CD18D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EE9489-3767-54B2-08D4-B2EE7A6A7F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8E7F1-6A6A-D4D9-5AB3-29CEBCB0D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0CFF1-C12B-480C-8CCA-BC68C8D30074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F93DC-0B4E-4D44-DBA3-F36CAF348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EB497-F3F6-6E23-2293-51911F6E6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75888-6C0A-40C9-9AEA-C7AEA9B8F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034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9217F3-8C04-B242-CA93-F26CE591D1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17FFBE-8B99-6636-32C2-E9187BA63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7B48A-3A6C-AE89-7642-0C955A1E2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0CFF1-C12B-480C-8CCA-BC68C8D30074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87230-F134-49E4-15A2-0483E7BF1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E56F1-8ABD-E4AB-1331-DDC4773A4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75888-6C0A-40C9-9AEA-C7AEA9B8F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908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24CDDB-9DC9-D487-4936-AE840CA3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84170-8D91-5AC8-2667-A8C3D2394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E08B5-682E-8817-7DFA-9042C1BFB3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fld id="{EF60CFF1-C12B-480C-8CCA-BC68C8D30074}" type="datetimeFigureOut">
              <a:rPr lang="en-US" smtClean="0"/>
              <a:pPr/>
              <a:t>3/29/2025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F42B0-5060-949E-34DF-AE44217AD2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425EA-07F4-7D69-7E22-951ABB6952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fld id="{E0375888-6C0A-40C9-9AEA-C7AEA9B8FB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04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luu.p.loi@google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mailto:luu.p.loi@google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C9617-ACCD-4500-B297-2170589A97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8000" b="1" dirty="0"/>
              <a:t>Best Practice for Bulk </a:t>
            </a:r>
            <a:br>
              <a:rPr lang="en-GB" sz="8000" b="1" dirty="0"/>
            </a:br>
            <a:r>
              <a:rPr lang="en-GB" sz="8000" b="1" dirty="0"/>
              <a:t>RNA-</a:t>
            </a:r>
            <a:r>
              <a:rPr lang="en-GB" sz="8000" b="1" dirty="0" err="1"/>
              <a:t>seq</a:t>
            </a:r>
            <a:r>
              <a:rPr lang="en-GB" sz="8000" b="1" dirty="0"/>
              <a:t> analysis</a:t>
            </a:r>
            <a:endParaRPr lang="en-US" sz="8000" b="1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50EEB78-36BB-642C-3589-6F0DB6161B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83064"/>
            <a:ext cx="9144000" cy="1766807"/>
          </a:xfrm>
        </p:spPr>
        <p:txBody>
          <a:bodyPr>
            <a:normAutofit/>
          </a:bodyPr>
          <a:lstStyle/>
          <a:p>
            <a:pPr algn="r"/>
            <a:r>
              <a:rPr lang="en-US" sz="2000" dirty="0" err="1"/>
              <a:t>Ngày</a:t>
            </a:r>
            <a:r>
              <a:rPr lang="en-US" sz="2000" dirty="0"/>
              <a:t> 29 </a:t>
            </a:r>
            <a:r>
              <a:rPr lang="en-US" sz="2000" dirty="0" err="1"/>
              <a:t>tháng</a:t>
            </a:r>
            <a:r>
              <a:rPr lang="en-US" sz="2000" dirty="0"/>
              <a:t> 03 </a:t>
            </a:r>
            <a:r>
              <a:rPr lang="en-US" sz="2000" dirty="0" err="1"/>
              <a:t>năm</a:t>
            </a:r>
            <a:r>
              <a:rPr lang="en-US" sz="2000" dirty="0"/>
              <a:t> 2025</a:t>
            </a:r>
          </a:p>
          <a:p>
            <a:pPr algn="r"/>
            <a:r>
              <a:rPr lang="en-US" sz="2000" dirty="0"/>
              <a:t>TS. Lưu Phúc Lợi</a:t>
            </a:r>
          </a:p>
          <a:p>
            <a:pPr algn="r"/>
            <a:r>
              <a:rPr lang="en-US" sz="2000" dirty="0"/>
              <a:t>Email: </a:t>
            </a:r>
            <a:r>
              <a:rPr lang="en-US" sz="2000" dirty="0">
                <a:hlinkClick r:id="rId2"/>
              </a:rPr>
              <a:t>luu.p.loi@googlemail.com</a:t>
            </a:r>
            <a:endParaRPr lang="en-US" sz="2000" dirty="0"/>
          </a:p>
          <a:p>
            <a:pPr algn="r"/>
            <a:r>
              <a:rPr lang="en-US" sz="2000" dirty="0" err="1"/>
              <a:t>Zalo</a:t>
            </a:r>
            <a:r>
              <a:rPr lang="en-US" sz="2000" dirty="0"/>
              <a:t>: 0901802182</a:t>
            </a:r>
          </a:p>
        </p:txBody>
      </p:sp>
    </p:spTree>
    <p:extLst>
      <p:ext uri="{BB962C8B-B14F-4D97-AF65-F5344CB8AC3E}">
        <p14:creationId xmlns:p14="http://schemas.microsoft.com/office/powerpoint/2010/main" val="744153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0B84B-B2B7-EFCF-06DA-950D5DEA3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5A40B-14FB-2AC0-259A-8FF0A354A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b="1" dirty="0">
                <a:solidFill>
                  <a:srgbClr val="0070C0"/>
                </a:solidFill>
              </a:rPr>
              <a:t>Aim of the methods</a:t>
            </a:r>
          </a:p>
          <a:p>
            <a:r>
              <a:rPr lang="en-GB" sz="2800" b="1" dirty="0">
                <a:solidFill>
                  <a:srgbClr val="0070C0"/>
                </a:solidFill>
              </a:rPr>
              <a:t>Library prep for RNA-</a:t>
            </a:r>
            <a:r>
              <a:rPr lang="en-GB" sz="2800" b="1" dirty="0" err="1">
                <a:solidFill>
                  <a:srgbClr val="0070C0"/>
                </a:solidFill>
              </a:rPr>
              <a:t>seq</a:t>
            </a:r>
            <a:endParaRPr lang="en-GB" sz="2800" b="1" dirty="0">
              <a:solidFill>
                <a:srgbClr val="0070C0"/>
              </a:solidFill>
            </a:endParaRPr>
          </a:p>
          <a:p>
            <a:r>
              <a:rPr lang="en-GB" sz="2800" b="1" dirty="0">
                <a:solidFill>
                  <a:srgbClr val="0070C0"/>
                </a:solidFill>
              </a:rPr>
              <a:t>Upstream Analysis </a:t>
            </a:r>
            <a:r>
              <a:rPr lang="en-GB" sz="2800" b="1" dirty="0"/>
              <a:t>Workflow</a:t>
            </a:r>
          </a:p>
          <a:p>
            <a:r>
              <a:rPr lang="en-GB" sz="2800" b="1" dirty="0">
                <a:solidFill>
                  <a:srgbClr val="0070C0"/>
                </a:solidFill>
              </a:rPr>
              <a:t>Downstream Analysis </a:t>
            </a:r>
            <a:r>
              <a:rPr lang="en-GB" sz="2800" b="1" dirty="0"/>
              <a:t>Workflow</a:t>
            </a:r>
            <a:endParaRPr lang="en-GB" b="1" dirty="0"/>
          </a:p>
          <a:p>
            <a:r>
              <a:rPr lang="en-GB" sz="2800" b="1" dirty="0">
                <a:solidFill>
                  <a:srgbClr val="0070C0"/>
                </a:solidFill>
              </a:rPr>
              <a:t>From BAM to Count</a:t>
            </a:r>
          </a:p>
          <a:p>
            <a:r>
              <a:rPr lang="en-GB" sz="2800" b="1" dirty="0">
                <a:solidFill>
                  <a:srgbClr val="0070C0"/>
                </a:solidFill>
              </a:rPr>
              <a:t>Differential Gene Expression</a:t>
            </a:r>
          </a:p>
          <a:p>
            <a:r>
              <a:rPr lang="en-GB" sz="2800" b="1" dirty="0">
                <a:solidFill>
                  <a:srgbClr val="0070C0"/>
                </a:solidFill>
              </a:rPr>
              <a:t>Enrichment of DEGs with Over Representation Analysis (ORA)</a:t>
            </a:r>
            <a:endParaRPr lang="en-GB" b="1" dirty="0">
              <a:solidFill>
                <a:srgbClr val="0070C0"/>
              </a:solidFill>
            </a:endParaRPr>
          </a:p>
          <a:p>
            <a:r>
              <a:rPr lang="en-GB" sz="2800" b="1" dirty="0">
                <a:solidFill>
                  <a:srgbClr val="0070C0"/>
                </a:solidFill>
              </a:rPr>
              <a:t>RNA-</a:t>
            </a:r>
            <a:r>
              <a:rPr lang="en-GB" sz="2800" b="1" dirty="0" err="1">
                <a:solidFill>
                  <a:srgbClr val="0070C0"/>
                </a:solidFill>
              </a:rPr>
              <a:t>seq</a:t>
            </a:r>
            <a:r>
              <a:rPr lang="en-GB" sz="2800" b="1" dirty="0">
                <a:solidFill>
                  <a:srgbClr val="0070C0"/>
                </a:solidFill>
              </a:rPr>
              <a:t> databases</a:t>
            </a:r>
            <a:endParaRPr lang="en-GB" b="1" dirty="0">
              <a:solidFill>
                <a:srgbClr val="0070C0"/>
              </a:solidFill>
            </a:endParaRPr>
          </a:p>
          <a:p>
            <a:endParaRPr lang="en-GB" sz="2800" b="1" dirty="0">
              <a:solidFill>
                <a:srgbClr val="0070C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392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06463-5C70-1100-A23C-59BD8F0DC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1784"/>
          </a:xfrm>
        </p:spPr>
        <p:txBody>
          <a:bodyPr>
            <a:normAutofit/>
          </a:bodyPr>
          <a:lstStyle/>
          <a:p>
            <a:pPr algn="ctr"/>
            <a:r>
              <a:rPr lang="en-GB" sz="4800" b="1" dirty="0">
                <a:solidFill>
                  <a:srgbClr val="0070C0"/>
                </a:solidFill>
              </a:rPr>
              <a:t>Aim of the methods</a:t>
            </a:r>
            <a:endParaRPr lang="en-US" sz="4800" b="1" dirty="0">
              <a:solidFill>
                <a:srgbClr val="0070C0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C3C4546-13FB-3D4E-7677-F9D5AB48C99A}"/>
              </a:ext>
            </a:extLst>
          </p:cNvPr>
          <p:cNvCxnSpPr/>
          <p:nvPr/>
        </p:nvCxnSpPr>
        <p:spPr>
          <a:xfrm>
            <a:off x="5774567" y="1640378"/>
            <a:ext cx="0" cy="43891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AA0BCC7-E2EE-982A-13B9-66AD9D319223}"/>
              </a:ext>
            </a:extLst>
          </p:cNvPr>
          <p:cNvSpPr txBox="1"/>
          <p:nvPr/>
        </p:nvSpPr>
        <p:spPr>
          <a:xfrm>
            <a:off x="146846" y="1522856"/>
            <a:ext cx="51040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latin typeface="Calibri Light" panose="020F0302020204030204" pitchFamily="34" charset="0"/>
              </a:rPr>
              <a:t>Bulk DNA-</a:t>
            </a:r>
            <a:r>
              <a:rPr lang="en-GB" sz="2800" b="1" dirty="0" err="1">
                <a:latin typeface="Calibri Light" panose="020F0302020204030204" pitchFamily="34" charset="0"/>
              </a:rPr>
              <a:t>seq</a:t>
            </a:r>
            <a:r>
              <a:rPr lang="en-GB" sz="2800" b="1" dirty="0">
                <a:latin typeface="Calibri Light" panose="020F0302020204030204" pitchFamily="34" charset="0"/>
              </a:rPr>
              <a:t>?</a:t>
            </a:r>
            <a:endParaRPr lang="en-US" sz="2800" dirty="0">
              <a:latin typeface="Calibri Light" panose="020F03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23B4E6-EB22-F816-8607-F6013E9A46E3}"/>
              </a:ext>
            </a:extLst>
          </p:cNvPr>
          <p:cNvSpPr txBox="1"/>
          <p:nvPr/>
        </p:nvSpPr>
        <p:spPr>
          <a:xfrm>
            <a:off x="6298275" y="1498934"/>
            <a:ext cx="51040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latin typeface="Calibri Light" panose="020F0302020204030204" pitchFamily="34" charset="0"/>
              </a:rPr>
              <a:t>Bulk RNA-</a:t>
            </a:r>
            <a:r>
              <a:rPr lang="en-GB" sz="2800" b="1" dirty="0" err="1">
                <a:latin typeface="Calibri Light" panose="020F0302020204030204" pitchFamily="34" charset="0"/>
              </a:rPr>
              <a:t>seq</a:t>
            </a:r>
            <a:r>
              <a:rPr lang="en-GB" sz="2800" b="1" dirty="0">
                <a:latin typeface="Calibri Light" panose="020F0302020204030204" pitchFamily="34" charset="0"/>
              </a:rPr>
              <a:t>?</a:t>
            </a:r>
            <a:endParaRPr lang="en-US" sz="2800" dirty="0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876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06463-5C70-1100-A23C-59BD8F0DC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1784"/>
          </a:xfrm>
        </p:spPr>
        <p:txBody>
          <a:bodyPr>
            <a:normAutofit/>
          </a:bodyPr>
          <a:lstStyle/>
          <a:p>
            <a:pPr algn="ctr"/>
            <a:r>
              <a:rPr lang="en-GB" sz="4800" b="1" dirty="0">
                <a:solidFill>
                  <a:srgbClr val="0070C0"/>
                </a:solidFill>
              </a:rPr>
              <a:t>Aim of the methods</a:t>
            </a:r>
            <a:endParaRPr lang="en-US" sz="4800" b="1" dirty="0">
              <a:solidFill>
                <a:srgbClr val="0070C0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C3C4546-13FB-3D4E-7677-F9D5AB48C99A}"/>
              </a:ext>
            </a:extLst>
          </p:cNvPr>
          <p:cNvCxnSpPr/>
          <p:nvPr/>
        </p:nvCxnSpPr>
        <p:spPr>
          <a:xfrm>
            <a:off x="5774567" y="1640378"/>
            <a:ext cx="0" cy="43891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AA0BCC7-E2EE-982A-13B9-66AD9D319223}"/>
              </a:ext>
            </a:extLst>
          </p:cNvPr>
          <p:cNvSpPr txBox="1"/>
          <p:nvPr/>
        </p:nvSpPr>
        <p:spPr>
          <a:xfrm>
            <a:off x="146846" y="1522856"/>
            <a:ext cx="51040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latin typeface="Calibri Light" panose="020F0302020204030204" pitchFamily="34" charset="0"/>
              </a:rPr>
              <a:t>Bulk DNA-</a:t>
            </a:r>
            <a:r>
              <a:rPr lang="en-GB" sz="2800" b="1" dirty="0" err="1">
                <a:latin typeface="Calibri Light" panose="020F0302020204030204" pitchFamily="34" charset="0"/>
              </a:rPr>
              <a:t>seq</a:t>
            </a:r>
            <a:endParaRPr lang="en-US" sz="2800" dirty="0">
              <a:latin typeface="Calibri Light" panose="020F03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23B4E6-EB22-F816-8607-F6013E9A46E3}"/>
              </a:ext>
            </a:extLst>
          </p:cNvPr>
          <p:cNvSpPr txBox="1"/>
          <p:nvPr/>
        </p:nvSpPr>
        <p:spPr>
          <a:xfrm>
            <a:off x="6298275" y="1498934"/>
            <a:ext cx="51040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latin typeface="Calibri Light" panose="020F0302020204030204" pitchFamily="34" charset="0"/>
              </a:rPr>
              <a:t>Bulk RNA-</a:t>
            </a:r>
            <a:r>
              <a:rPr lang="en-GB" sz="2800" b="1" dirty="0" err="1">
                <a:latin typeface="Calibri Light" panose="020F0302020204030204" pitchFamily="34" charset="0"/>
              </a:rPr>
              <a:t>seq</a:t>
            </a:r>
            <a:endParaRPr lang="en-US" sz="2800" dirty="0">
              <a:latin typeface="Calibri Light" panose="020F030202020403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DCFEC5B-B976-95A9-F66F-09B962AE77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130"/>
          <a:stretch/>
        </p:blipFill>
        <p:spPr>
          <a:xfrm>
            <a:off x="218293" y="2424048"/>
            <a:ext cx="5411404" cy="265278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900556DD-26AB-BAB7-7E85-CD963C496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1038" y="2545307"/>
            <a:ext cx="6022669" cy="253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835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06463-5C70-1100-A23C-59BD8F0DC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026" y="259832"/>
            <a:ext cx="10515600" cy="571441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800" b="1" dirty="0">
                <a:solidFill>
                  <a:srgbClr val="0070C0"/>
                </a:solidFill>
              </a:rPr>
              <a:t>Different types of RNA</a:t>
            </a:r>
            <a:endParaRPr lang="en-US" sz="4800" b="1" dirty="0">
              <a:solidFill>
                <a:srgbClr val="0070C0"/>
              </a:solidFill>
            </a:endParaRPr>
          </a:p>
        </p:txBody>
      </p:sp>
      <p:pic>
        <p:nvPicPr>
          <p:cNvPr id="10" name="object 9">
            <a:extLst>
              <a:ext uri="{FF2B5EF4-FFF2-40B4-BE49-F238E27FC236}">
                <a16:creationId xmlns:a16="http://schemas.microsoft.com/office/drawing/2014/main" id="{07985737-B130-F034-E922-59196984C30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5331" y="1019696"/>
            <a:ext cx="8869045" cy="550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437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06463-5C70-1100-A23C-59BD8F0DC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608966"/>
            <a:ext cx="10515600" cy="571441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800" b="1" dirty="0">
                <a:solidFill>
                  <a:srgbClr val="0070C0"/>
                </a:solidFill>
              </a:rPr>
              <a:t>Different types of RNA</a:t>
            </a:r>
            <a:endParaRPr lang="en-US" sz="4800" b="1" dirty="0">
              <a:solidFill>
                <a:srgbClr val="0070C0"/>
              </a:solidFill>
            </a:endParaRPr>
          </a:p>
        </p:txBody>
      </p:sp>
      <p:pic>
        <p:nvPicPr>
          <p:cNvPr id="3" name="object 15">
            <a:extLst>
              <a:ext uri="{FF2B5EF4-FFF2-40B4-BE49-F238E27FC236}">
                <a16:creationId xmlns:a16="http://schemas.microsoft.com/office/drawing/2014/main" id="{01A97D88-3EA3-42FD-ED30-DF500BD7E61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340" y="2189019"/>
            <a:ext cx="5451486" cy="28484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C872DEF-B0E5-6C0D-5757-F6F4C3ED6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4196" y="2044930"/>
            <a:ext cx="6087804" cy="345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665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06463-5C70-1100-A23C-59BD8F0DC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943" y="520451"/>
            <a:ext cx="10515600" cy="571441"/>
          </a:xfrm>
        </p:spPr>
        <p:txBody>
          <a:bodyPr>
            <a:noAutofit/>
          </a:bodyPr>
          <a:lstStyle/>
          <a:p>
            <a:pPr algn="ctr"/>
            <a:r>
              <a:rPr lang="en-GB" sz="4000" b="1" dirty="0">
                <a:solidFill>
                  <a:srgbClr val="0070C0"/>
                </a:solidFill>
              </a:rPr>
              <a:t>Sequencing library prep protocol depends on the RNA properties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9EB4AF-BAC3-3839-F02E-99F6AB09999A}"/>
              </a:ext>
            </a:extLst>
          </p:cNvPr>
          <p:cNvSpPr txBox="1"/>
          <p:nvPr/>
        </p:nvSpPr>
        <p:spPr>
          <a:xfrm>
            <a:off x="637309" y="1501835"/>
            <a:ext cx="9797934" cy="5011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5350" algn="ctr">
              <a:spcBef>
                <a:spcPts val="785"/>
              </a:spcBef>
            </a:pPr>
            <a:r>
              <a:rPr lang="en-GB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It</a:t>
            </a:r>
            <a:r>
              <a:rPr lang="en-GB" sz="3200" spc="2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is</a:t>
            </a:r>
            <a:r>
              <a:rPr lang="en-GB" sz="3200" spc="2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not</a:t>
            </a:r>
            <a:r>
              <a:rPr lang="en-GB" sz="3200" spc="2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a</a:t>
            </a:r>
            <a:r>
              <a:rPr lang="en-GB" sz="3200" spc="2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z="3200" spc="-55" dirty="0">
                <a:latin typeface="Calibri Light" panose="020F0302020204030204" pitchFamily="34" charset="0"/>
                <a:cs typeface="Calibri Light" panose="020F0302020204030204" pitchFamily="34" charset="0"/>
              </a:rPr>
              <a:t>one-</a:t>
            </a:r>
            <a:r>
              <a:rPr lang="en-GB" sz="3200" spc="-50" dirty="0">
                <a:latin typeface="Calibri Light" panose="020F0302020204030204" pitchFamily="34" charset="0"/>
                <a:cs typeface="Calibri Light" panose="020F0302020204030204" pitchFamily="34" charset="0"/>
              </a:rPr>
              <a:t>size-</a:t>
            </a:r>
            <a:r>
              <a:rPr lang="en-GB" sz="3200" spc="-40" dirty="0">
                <a:latin typeface="Calibri Light" panose="020F0302020204030204" pitchFamily="34" charset="0"/>
                <a:cs typeface="Calibri Light" panose="020F0302020204030204" pitchFamily="34" charset="0"/>
              </a:rPr>
              <a:t>fits-</a:t>
            </a:r>
            <a:r>
              <a:rPr lang="en-GB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all</a:t>
            </a:r>
            <a:r>
              <a:rPr lang="en-GB" sz="3200" spc="2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z="3200" spc="-10" dirty="0">
                <a:latin typeface="Calibri Light" panose="020F0302020204030204" pitchFamily="34" charset="0"/>
                <a:cs typeface="Calibri Light" panose="020F0302020204030204" pitchFamily="34" charset="0"/>
              </a:rPr>
              <a:t>situation!</a:t>
            </a:r>
            <a:endParaRPr lang="en-GB" sz="3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23850" indent="-285750">
              <a:spcBef>
                <a:spcPts val="685"/>
              </a:spcBef>
              <a:buFont typeface="Arial" panose="020B0604020202020204" pitchFamily="34" charset="0"/>
              <a:buChar char="•"/>
            </a:pPr>
            <a:r>
              <a:rPr lang="en-GB" sz="2400" spc="-155" dirty="0">
                <a:latin typeface="Calibri Light" panose="020F0302020204030204" pitchFamily="34" charset="0"/>
                <a:cs typeface="Calibri Light" panose="020F0302020204030204" pitchFamily="34" charset="0"/>
              </a:rPr>
              <a:t>Abundance</a:t>
            </a:r>
            <a:r>
              <a:rPr lang="en-GB" sz="2400" spc="-5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z="2400" spc="-40" dirty="0">
                <a:latin typeface="Calibri Light" panose="020F0302020204030204" pitchFamily="34" charset="0"/>
                <a:cs typeface="Calibri Light" panose="020F0302020204030204" pitchFamily="34" charset="0"/>
              </a:rPr>
              <a:t>and</a:t>
            </a:r>
            <a:r>
              <a:rPr lang="en-GB" sz="2400" spc="55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z="2400" spc="-10" dirty="0">
                <a:latin typeface="Calibri Light" panose="020F0302020204030204" pitchFamily="34" charset="0"/>
                <a:cs typeface="Calibri Light" panose="020F0302020204030204" pitchFamily="34" charset="0"/>
              </a:rPr>
              <a:t>stability</a:t>
            </a:r>
            <a:endParaRPr lang="en-GB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772160" lvl="1" indent="-137795">
              <a:buClr>
                <a:srgbClr val="B31A1A"/>
              </a:buClr>
              <a:buSzPct val="66666"/>
              <a:buChar char="►"/>
              <a:tabLst>
                <a:tab pos="315595" algn="l"/>
              </a:tabLst>
            </a:pPr>
            <a:r>
              <a:rPr lang="en-GB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rRNA:</a:t>
            </a:r>
            <a:r>
              <a:rPr lang="en-GB" spc="1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pc="-4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90-</a:t>
            </a:r>
            <a:r>
              <a:rPr lang="en-GB" spc="-1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95%</a:t>
            </a:r>
            <a:r>
              <a:rPr lang="en-GB" spc="1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pc="-25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(!)</a:t>
            </a:r>
            <a:endParaRPr lang="en-GB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772160" lvl="1" indent="-137795">
              <a:spcBef>
                <a:spcPts val="15"/>
              </a:spcBef>
              <a:buClr>
                <a:srgbClr val="B31A1A"/>
              </a:buClr>
              <a:buSzPct val="66666"/>
              <a:buChar char="►"/>
              <a:tabLst>
                <a:tab pos="315595" algn="l"/>
              </a:tabLst>
            </a:pPr>
            <a:r>
              <a:rPr lang="en-GB" dirty="0">
                <a:latin typeface="Calibri Light" panose="020F0302020204030204" pitchFamily="34" charset="0"/>
                <a:cs typeface="Calibri Light" panose="020F0302020204030204" pitchFamily="34" charset="0"/>
              </a:rPr>
              <a:t>tRNA:</a:t>
            </a:r>
            <a:r>
              <a:rPr lang="en-GB" spc="12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pc="-35" dirty="0">
                <a:latin typeface="Calibri Light" panose="020F0302020204030204" pitchFamily="34" charset="0"/>
                <a:cs typeface="Calibri Light" panose="020F0302020204030204" pitchFamily="34" charset="0"/>
              </a:rPr>
              <a:t>3-</a:t>
            </a:r>
            <a:r>
              <a:rPr lang="en-GB" spc="-25" dirty="0">
                <a:latin typeface="Calibri Light" panose="020F0302020204030204" pitchFamily="34" charset="0"/>
                <a:cs typeface="Calibri Light" panose="020F0302020204030204" pitchFamily="34" charset="0"/>
              </a:rPr>
              <a:t>5%</a:t>
            </a:r>
            <a:endParaRPr lang="en-GB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772160" lvl="1" indent="-137795">
              <a:spcBef>
                <a:spcPts val="15"/>
              </a:spcBef>
              <a:buClr>
                <a:srgbClr val="B31A1A"/>
              </a:buClr>
              <a:buSzPct val="66666"/>
              <a:buChar char="►"/>
              <a:tabLst>
                <a:tab pos="315595" algn="l"/>
              </a:tabLst>
            </a:pPr>
            <a:r>
              <a:rPr lang="en-GB" dirty="0">
                <a:latin typeface="Calibri Light" panose="020F0302020204030204" pitchFamily="34" charset="0"/>
                <a:cs typeface="Calibri Light" panose="020F0302020204030204" pitchFamily="34" charset="0"/>
              </a:rPr>
              <a:t>mRNA:</a:t>
            </a:r>
            <a:r>
              <a:rPr lang="en-GB" spc="-5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pc="-25" dirty="0">
                <a:latin typeface="Calibri Light" panose="020F0302020204030204" pitchFamily="34" charset="0"/>
                <a:cs typeface="Calibri Light" panose="020F0302020204030204" pitchFamily="34" charset="0"/>
              </a:rPr>
              <a:t>2%</a:t>
            </a:r>
            <a:endParaRPr lang="en-GB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772160" lvl="1" indent="-137795">
              <a:spcBef>
                <a:spcPts val="15"/>
              </a:spcBef>
              <a:buClr>
                <a:srgbClr val="B31A1A"/>
              </a:buClr>
              <a:buSzPct val="66666"/>
              <a:buChar char="►"/>
              <a:tabLst>
                <a:tab pos="315595" algn="l"/>
              </a:tabLst>
            </a:pPr>
            <a:r>
              <a:rPr lang="en-GB" dirty="0">
                <a:latin typeface="Calibri Light" panose="020F0302020204030204" pitchFamily="34" charset="0"/>
                <a:cs typeface="Calibri Light" panose="020F0302020204030204" pitchFamily="34" charset="0"/>
              </a:rPr>
              <a:t>all</a:t>
            </a:r>
            <a:r>
              <a:rPr lang="en-GB" spc="-1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dirty="0">
                <a:latin typeface="Calibri Light" panose="020F0302020204030204" pitchFamily="34" charset="0"/>
                <a:cs typeface="Calibri Light" panose="020F0302020204030204" pitchFamily="34" charset="0"/>
              </a:rPr>
              <a:t>other</a:t>
            </a:r>
            <a:r>
              <a:rPr lang="en-GB" spc="-5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pc="-40" dirty="0">
                <a:latin typeface="Calibri Light" panose="020F0302020204030204" pitchFamily="34" charset="0"/>
                <a:cs typeface="Calibri Light" panose="020F0302020204030204" pitchFamily="34" charset="0"/>
              </a:rPr>
              <a:t>non-</a:t>
            </a:r>
            <a:r>
              <a:rPr lang="en-GB" spc="-10" dirty="0">
                <a:latin typeface="Calibri Light" panose="020F0302020204030204" pitchFamily="34" charset="0"/>
                <a:cs typeface="Calibri Light" panose="020F0302020204030204" pitchFamily="34" charset="0"/>
              </a:rPr>
              <a:t>coding</a:t>
            </a:r>
            <a:r>
              <a:rPr lang="en-GB" spc="-5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pc="-10" dirty="0">
                <a:latin typeface="Calibri Light" panose="020F0302020204030204" pitchFamily="34" charset="0"/>
                <a:cs typeface="Calibri Light" panose="020F0302020204030204" pitchFamily="34" charset="0"/>
              </a:rPr>
              <a:t>RNAs:</a:t>
            </a:r>
            <a:r>
              <a:rPr lang="en-GB" spc="8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i="1" spc="-20" dirty="0">
                <a:latin typeface="Calibri Light" panose="020F0302020204030204" pitchFamily="34" charset="0"/>
                <a:cs typeface="Calibri Light" panose="020F0302020204030204" pitchFamily="34" charset="0"/>
              </a:rPr>
              <a:t>well</a:t>
            </a:r>
            <a:r>
              <a:rPr lang="en-GB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pc="-130" dirty="0">
                <a:latin typeface="Calibri Light" panose="020F0302020204030204" pitchFamily="34" charset="0"/>
                <a:cs typeface="Calibri Light" panose="020F0302020204030204" pitchFamily="34" charset="0"/>
              </a:rPr>
              <a:t>below</a:t>
            </a:r>
            <a:r>
              <a:rPr lang="en-GB" spc="5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pc="-25" dirty="0">
                <a:latin typeface="Calibri Light" panose="020F0302020204030204" pitchFamily="34" charset="0"/>
                <a:cs typeface="Calibri Light" panose="020F0302020204030204" pitchFamily="34" charset="0"/>
              </a:rPr>
              <a:t>1%</a:t>
            </a:r>
            <a:endParaRPr lang="en-GB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23850" indent="-285750">
              <a:spcBef>
                <a:spcPts val="685"/>
              </a:spcBef>
              <a:buFont typeface="Arial" panose="020B0604020202020204" pitchFamily="34" charset="0"/>
              <a:buChar char="•"/>
            </a:pPr>
            <a:r>
              <a:rPr lang="en-GB" sz="2400" spc="-155" dirty="0">
                <a:latin typeface="Calibri Light" panose="020F0302020204030204" pitchFamily="34" charset="0"/>
                <a:cs typeface="Calibri Light" panose="020F0302020204030204" pitchFamily="34" charset="0"/>
              </a:rPr>
              <a:t>Cellular location	</a:t>
            </a:r>
          </a:p>
          <a:p>
            <a:pPr marL="772160" lvl="1" indent="-137795">
              <a:buClr>
                <a:srgbClr val="B31A1A"/>
              </a:buClr>
              <a:buSzPct val="66666"/>
              <a:buChar char="►"/>
              <a:tabLst>
                <a:tab pos="315595" algn="l"/>
              </a:tabLst>
            </a:pPr>
            <a:r>
              <a:rPr lang="en-GB" dirty="0">
                <a:latin typeface="Calibri Light" panose="020F0302020204030204" pitchFamily="34" charset="0"/>
                <a:cs typeface="Calibri Light" panose="020F0302020204030204" pitchFamily="34" charset="0"/>
              </a:rPr>
              <a:t>most </a:t>
            </a:r>
            <a:r>
              <a:rPr lang="en-GB" spc="-30" dirty="0">
                <a:latin typeface="Calibri Light" panose="020F0302020204030204" pitchFamily="34" charset="0"/>
                <a:cs typeface="Calibri Light" panose="020F0302020204030204" pitchFamily="34" charset="0"/>
              </a:rPr>
              <a:t>are</a:t>
            </a:r>
            <a:r>
              <a:rPr lang="en-GB" spc="5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dirty="0">
                <a:latin typeface="Calibri Light" panose="020F0302020204030204" pitchFamily="34" charset="0"/>
                <a:cs typeface="Calibri Light" panose="020F0302020204030204" pitchFamily="34" charset="0"/>
              </a:rPr>
              <a:t>in</a:t>
            </a:r>
            <a:r>
              <a:rPr lang="en-GB" spc="5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dirty="0">
                <a:latin typeface="Calibri Light" panose="020F0302020204030204" pitchFamily="34" charset="0"/>
                <a:cs typeface="Calibri Light" panose="020F0302020204030204" pitchFamily="34" charset="0"/>
              </a:rPr>
              <a:t>the</a:t>
            </a:r>
            <a:r>
              <a:rPr lang="en-GB" spc="5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pc="-10" dirty="0">
                <a:latin typeface="Calibri Light" panose="020F0302020204030204" pitchFamily="34" charset="0"/>
                <a:cs typeface="Calibri Light" panose="020F0302020204030204" pitchFamily="34" charset="0"/>
              </a:rPr>
              <a:t>cytoplasm</a:t>
            </a:r>
            <a:endParaRPr lang="en-GB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23850" indent="-285750">
              <a:buFont typeface="Arial" panose="020B0604020202020204" pitchFamily="34" charset="0"/>
              <a:buChar char="•"/>
            </a:pPr>
            <a:r>
              <a:rPr lang="en-GB" sz="2400" spc="-20" dirty="0">
                <a:latin typeface="Calibri Light" panose="020F0302020204030204" pitchFamily="34" charset="0"/>
                <a:cs typeface="Calibri Light" panose="020F0302020204030204" pitchFamily="34" charset="0"/>
              </a:rPr>
              <a:t>Size</a:t>
            </a:r>
            <a:endParaRPr lang="en-GB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772160" lvl="1" indent="-137795">
              <a:buClr>
                <a:srgbClr val="B31A1A"/>
              </a:buClr>
              <a:buSzPct val="66666"/>
              <a:buChar char="►"/>
              <a:tabLst>
                <a:tab pos="315595" algn="l"/>
              </a:tabLst>
            </a:pPr>
            <a:r>
              <a:rPr lang="en-GB" spc="-1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miRNAs:</a:t>
            </a:r>
            <a:r>
              <a:rPr lang="en-GB" spc="11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pc="-45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18-</a:t>
            </a:r>
            <a:r>
              <a:rPr lang="en-GB" spc="-2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23bp</a:t>
            </a:r>
            <a:endParaRPr lang="en-GB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772160" lvl="1" indent="-137795">
              <a:spcBef>
                <a:spcPts val="15"/>
              </a:spcBef>
              <a:buClr>
                <a:srgbClr val="B31A1A"/>
              </a:buClr>
              <a:buSzPct val="66666"/>
              <a:buChar char="►"/>
              <a:tabLst>
                <a:tab pos="315595" algn="l"/>
              </a:tabLst>
            </a:pPr>
            <a:r>
              <a:rPr lang="en-GB" dirty="0">
                <a:latin typeface="Calibri Light" panose="020F0302020204030204" pitchFamily="34" charset="0"/>
                <a:cs typeface="Calibri Light" panose="020F0302020204030204" pitchFamily="34" charset="0"/>
              </a:rPr>
              <a:t>mRNA: </a:t>
            </a:r>
            <a:r>
              <a:rPr lang="en-GB" spc="-40" dirty="0">
                <a:latin typeface="Calibri Light" panose="020F0302020204030204" pitchFamily="34" charset="0"/>
                <a:cs typeface="Calibri Light" panose="020F0302020204030204" pitchFamily="34" charset="0"/>
              </a:rPr>
              <a:t>several</a:t>
            </a:r>
            <a:r>
              <a:rPr lang="en-GB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pc="-10" dirty="0">
                <a:latin typeface="Calibri Light" panose="020F0302020204030204" pitchFamily="34" charset="0"/>
                <a:cs typeface="Calibri Light" panose="020F0302020204030204" pitchFamily="34" charset="0"/>
              </a:rPr>
              <a:t>100</a:t>
            </a:r>
            <a:r>
              <a:rPr lang="en-GB" spc="5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dirty="0">
                <a:latin typeface="Calibri Light" panose="020F0302020204030204" pitchFamily="34" charset="0"/>
                <a:cs typeface="Calibri Light" panose="020F0302020204030204" pitchFamily="34" charset="0"/>
              </a:rPr>
              <a:t>to </a:t>
            </a:r>
            <a:r>
              <a:rPr lang="en-GB" spc="-25" dirty="0">
                <a:latin typeface="Calibri Light" panose="020F0302020204030204" pitchFamily="34" charset="0"/>
                <a:cs typeface="Calibri Light" panose="020F0302020204030204" pitchFamily="34" charset="0"/>
              </a:rPr>
              <a:t>1000</a:t>
            </a:r>
            <a:r>
              <a:rPr lang="en-GB" spc="5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pc="-25" dirty="0">
                <a:latin typeface="Calibri Light" panose="020F0302020204030204" pitchFamily="34" charset="0"/>
                <a:cs typeface="Calibri Light" panose="020F0302020204030204" pitchFamily="34" charset="0"/>
              </a:rPr>
              <a:t>bp</a:t>
            </a:r>
            <a:endParaRPr lang="en-GB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23850" indent="-285750">
              <a:buFont typeface="Arial" panose="020B0604020202020204" pitchFamily="34" charset="0"/>
              <a:buChar char="•"/>
            </a:pPr>
            <a:r>
              <a:rPr lang="en-GB" sz="2400" spc="-20" dirty="0">
                <a:latin typeface="Calibri Light" panose="020F0302020204030204" pitchFamily="34" charset="0"/>
                <a:cs typeface="Calibri Light" panose="020F0302020204030204" pitchFamily="34" charset="0"/>
              </a:rPr>
              <a:t>Specific sequences/modifications</a:t>
            </a:r>
          </a:p>
          <a:p>
            <a:pPr marL="772160" lvl="1" indent="-137795">
              <a:buClr>
                <a:srgbClr val="B31A1A"/>
              </a:buClr>
              <a:buSzPct val="66666"/>
              <a:buChar char="►"/>
              <a:tabLst>
                <a:tab pos="315595" algn="l"/>
              </a:tabLst>
            </a:pPr>
            <a:r>
              <a:rPr lang="en-GB" dirty="0">
                <a:latin typeface="Calibri Light" panose="020F0302020204030204" pitchFamily="34" charset="0"/>
                <a:cs typeface="Calibri Light" panose="020F0302020204030204" pitchFamily="34" charset="0"/>
              </a:rPr>
              <a:t>poly(A)</a:t>
            </a:r>
            <a:r>
              <a:rPr lang="en-GB" spc="45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dirty="0">
                <a:latin typeface="Calibri Light" panose="020F0302020204030204" pitchFamily="34" charset="0"/>
                <a:cs typeface="Calibri Light" panose="020F0302020204030204" pitchFamily="34" charset="0"/>
              </a:rPr>
              <a:t>tails</a:t>
            </a:r>
            <a:r>
              <a:rPr lang="en-GB" spc="5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dirty="0">
                <a:latin typeface="Calibri Light" panose="020F0302020204030204" pitchFamily="34" charset="0"/>
                <a:cs typeface="Calibri Light" panose="020F0302020204030204" pitchFamily="34" charset="0"/>
              </a:rPr>
              <a:t>of</a:t>
            </a:r>
            <a:r>
              <a:rPr lang="en-GB" spc="45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pc="-20" dirty="0">
                <a:latin typeface="Calibri Light" panose="020F0302020204030204" pitchFamily="34" charset="0"/>
                <a:cs typeface="Calibri Light" panose="020F0302020204030204" pitchFamily="34" charset="0"/>
              </a:rPr>
              <a:t>mRNA</a:t>
            </a:r>
            <a:endParaRPr lang="en-GB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772160" lvl="1" indent="-137795">
              <a:spcBef>
                <a:spcPts val="20"/>
              </a:spcBef>
              <a:buClr>
                <a:srgbClr val="B31A1A"/>
              </a:buClr>
              <a:buSzPct val="66666"/>
              <a:buChar char="►"/>
              <a:tabLst>
                <a:tab pos="315595" algn="l"/>
              </a:tabLst>
            </a:pPr>
            <a:r>
              <a:rPr lang="en-GB" dirty="0">
                <a:latin typeface="Calibri Light" panose="020F0302020204030204" pitchFamily="34" charset="0"/>
                <a:cs typeface="Calibri Light" panose="020F0302020204030204" pitchFamily="34" charset="0"/>
              </a:rPr>
              <a:t>2D</a:t>
            </a:r>
            <a:r>
              <a:rPr lang="en-GB" spc="15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pc="-10" dirty="0">
                <a:latin typeface="Calibri Light" panose="020F0302020204030204" pitchFamily="34" charset="0"/>
                <a:cs typeface="Calibri Light" panose="020F0302020204030204" pitchFamily="34" charset="0"/>
              </a:rPr>
              <a:t>structure</a:t>
            </a:r>
            <a:endParaRPr lang="en-GB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772160" lvl="1" indent="-137795">
              <a:spcBef>
                <a:spcPts val="15"/>
              </a:spcBef>
              <a:buClr>
                <a:srgbClr val="B31A1A"/>
              </a:buClr>
              <a:buSzPct val="66666"/>
              <a:buChar char="►"/>
              <a:tabLst>
                <a:tab pos="315595" algn="l"/>
              </a:tabLst>
            </a:pPr>
            <a:r>
              <a:rPr lang="en-GB" spc="-45" dirty="0">
                <a:latin typeface="Calibri Light" panose="020F0302020204030204" pitchFamily="34" charset="0"/>
                <a:cs typeface="Calibri Light" panose="020F0302020204030204" pitchFamily="34" charset="0"/>
              </a:rPr>
              <a:t>antisense</a:t>
            </a:r>
            <a:r>
              <a:rPr lang="en-GB" spc="3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pc="-10" dirty="0">
                <a:latin typeface="Calibri Light" panose="020F0302020204030204" pitchFamily="34" charset="0"/>
                <a:cs typeface="Calibri Light" panose="020F0302020204030204" pitchFamily="34" charset="0"/>
              </a:rPr>
              <a:t>transcripts</a:t>
            </a:r>
            <a:endParaRPr lang="en-GB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9" name="object 7">
            <a:extLst>
              <a:ext uri="{FF2B5EF4-FFF2-40B4-BE49-F238E27FC236}">
                <a16:creationId xmlns:a16="http://schemas.microsoft.com/office/drawing/2014/main" id="{46E1F5D2-6256-F517-6047-DD3E89C9C2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5782" y="2321720"/>
            <a:ext cx="5859225" cy="4258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371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06463-5C70-1100-A23C-59BD8F0DC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1" y="509367"/>
            <a:ext cx="10515600" cy="571441"/>
          </a:xfrm>
        </p:spPr>
        <p:txBody>
          <a:bodyPr>
            <a:noAutofit/>
          </a:bodyPr>
          <a:lstStyle/>
          <a:p>
            <a:pPr algn="ctr"/>
            <a:r>
              <a:rPr lang="en-GB" sz="4800" b="1" dirty="0">
                <a:solidFill>
                  <a:srgbClr val="0070C0"/>
                </a:solidFill>
              </a:rPr>
              <a:t>General steps of RNA-</a:t>
            </a:r>
            <a:r>
              <a:rPr lang="en-GB" sz="4800" b="1" dirty="0" err="1">
                <a:solidFill>
                  <a:srgbClr val="0070C0"/>
                </a:solidFill>
              </a:rPr>
              <a:t>seq</a:t>
            </a:r>
            <a:r>
              <a:rPr lang="en-GB" sz="4800" b="1" dirty="0">
                <a:solidFill>
                  <a:srgbClr val="0070C0"/>
                </a:solidFill>
              </a:rPr>
              <a:t> preparation</a:t>
            </a:r>
            <a:endParaRPr lang="en-US" sz="4800" b="1" dirty="0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A4366B-51C2-7506-7875-AC91225A8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912" y="1372448"/>
            <a:ext cx="9260378" cy="507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361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06463-5C70-1100-A23C-59BD8F0DC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551" y="365279"/>
            <a:ext cx="10515600" cy="571441"/>
          </a:xfrm>
        </p:spPr>
        <p:txBody>
          <a:bodyPr>
            <a:noAutofit/>
          </a:bodyPr>
          <a:lstStyle/>
          <a:p>
            <a:pPr algn="ctr"/>
            <a:r>
              <a:rPr lang="en-GB" sz="4800" b="1" dirty="0">
                <a:solidFill>
                  <a:srgbClr val="0070C0"/>
                </a:solidFill>
              </a:rPr>
              <a:t>General steps of RNA-</a:t>
            </a:r>
            <a:r>
              <a:rPr lang="en-GB" sz="4800" b="1" dirty="0" err="1">
                <a:solidFill>
                  <a:srgbClr val="0070C0"/>
                </a:solidFill>
              </a:rPr>
              <a:t>seq</a:t>
            </a:r>
            <a:r>
              <a:rPr lang="en-GB" sz="4800" b="1" dirty="0">
                <a:solidFill>
                  <a:srgbClr val="0070C0"/>
                </a:solidFill>
              </a:rPr>
              <a:t> preparation</a:t>
            </a:r>
            <a:endParaRPr lang="en-US" sz="4800" b="1" dirty="0">
              <a:solidFill>
                <a:srgbClr val="0070C0"/>
              </a:solidFill>
            </a:endParaRPr>
          </a:p>
        </p:txBody>
      </p:sp>
      <p:pic>
        <p:nvPicPr>
          <p:cNvPr id="3" name="object 7">
            <a:extLst>
              <a:ext uri="{FF2B5EF4-FFF2-40B4-BE49-F238E27FC236}">
                <a16:creationId xmlns:a16="http://schemas.microsoft.com/office/drawing/2014/main" id="{150C8A0C-482E-C84D-7CA5-201D96F666B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2608" y="1187899"/>
            <a:ext cx="7171485" cy="5384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752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76D7C9-7EA7-79B8-B833-DAFD9668E8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3790" y="262833"/>
            <a:ext cx="7927234" cy="646429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F19E4B-8CA4-24F8-8390-B2C9F5721114}"/>
              </a:ext>
            </a:extLst>
          </p:cNvPr>
          <p:cNvSpPr txBox="1"/>
          <p:nvPr/>
        </p:nvSpPr>
        <p:spPr>
          <a:xfrm>
            <a:off x="2953790" y="262833"/>
            <a:ext cx="476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A.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66040B-2CA4-8C2D-85EC-5A601F6D970A}"/>
              </a:ext>
            </a:extLst>
          </p:cNvPr>
          <p:cNvSpPr txBox="1"/>
          <p:nvPr/>
        </p:nvSpPr>
        <p:spPr>
          <a:xfrm>
            <a:off x="742604" y="997527"/>
            <a:ext cx="21557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Non-stranded</a:t>
            </a:r>
            <a:endParaRPr lang="en-US" sz="3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C3E870-4435-099E-7D1A-D352B6C4071E}"/>
              </a:ext>
            </a:extLst>
          </p:cNvPr>
          <p:cNvSpPr txBox="1"/>
          <p:nvPr/>
        </p:nvSpPr>
        <p:spPr>
          <a:xfrm>
            <a:off x="742604" y="4783256"/>
            <a:ext cx="2155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Stranded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519566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06463-5C70-1100-A23C-59BD8F0DC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1784"/>
          </a:xfrm>
        </p:spPr>
        <p:txBody>
          <a:bodyPr>
            <a:normAutofit/>
          </a:bodyPr>
          <a:lstStyle/>
          <a:p>
            <a:pPr algn="ctr"/>
            <a:r>
              <a:rPr lang="en-GB" sz="4800" b="1" dirty="0">
                <a:solidFill>
                  <a:srgbClr val="0070C0"/>
                </a:solidFill>
              </a:rPr>
              <a:t>Upstream Analysis </a:t>
            </a:r>
            <a:r>
              <a:rPr lang="en-GB" sz="4800" b="1" dirty="0"/>
              <a:t>Workflow</a:t>
            </a:r>
            <a:endParaRPr lang="en-US" sz="4800" b="1" dirty="0">
              <a:solidFill>
                <a:srgbClr val="0070C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6F81C9-4F96-3C0C-BA74-9F8A8A5C3A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12873" y="2322022"/>
            <a:ext cx="5962395" cy="315883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A07C97-F6E5-4C2F-D99D-BDC58016D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963" y="2504887"/>
            <a:ext cx="5249940" cy="225831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C3C4546-13FB-3D4E-7677-F9D5AB48C99A}"/>
              </a:ext>
            </a:extLst>
          </p:cNvPr>
          <p:cNvCxnSpPr/>
          <p:nvPr/>
        </p:nvCxnSpPr>
        <p:spPr>
          <a:xfrm>
            <a:off x="5774567" y="1640378"/>
            <a:ext cx="0" cy="43891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AA0BCC7-E2EE-982A-13B9-66AD9D319223}"/>
              </a:ext>
            </a:extLst>
          </p:cNvPr>
          <p:cNvSpPr txBox="1"/>
          <p:nvPr/>
        </p:nvSpPr>
        <p:spPr>
          <a:xfrm>
            <a:off x="387926" y="1498934"/>
            <a:ext cx="51040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latin typeface="Calibri Light" panose="020F0302020204030204" pitchFamily="34" charset="0"/>
              </a:rPr>
              <a:t>Bulk DNA-</a:t>
            </a:r>
            <a:r>
              <a:rPr lang="en-GB" sz="2800" b="1" dirty="0" err="1">
                <a:latin typeface="Calibri Light" panose="020F0302020204030204" pitchFamily="34" charset="0"/>
              </a:rPr>
              <a:t>seq</a:t>
            </a:r>
            <a:endParaRPr lang="en-US" sz="2800" dirty="0">
              <a:latin typeface="Calibri Light" panose="020F03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23B4E6-EB22-F816-8607-F6013E9A46E3}"/>
              </a:ext>
            </a:extLst>
          </p:cNvPr>
          <p:cNvSpPr txBox="1"/>
          <p:nvPr/>
        </p:nvSpPr>
        <p:spPr>
          <a:xfrm>
            <a:off x="6298275" y="1498934"/>
            <a:ext cx="51040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latin typeface="Calibri Light" panose="020F0302020204030204" pitchFamily="34" charset="0"/>
              </a:rPr>
              <a:t>Bulk RNA-</a:t>
            </a:r>
            <a:r>
              <a:rPr lang="en-GB" sz="2800" b="1" dirty="0" err="1">
                <a:latin typeface="Calibri Light" panose="020F0302020204030204" pitchFamily="34" charset="0"/>
              </a:rPr>
              <a:t>seq</a:t>
            </a:r>
            <a:endParaRPr lang="en-US" sz="2800" dirty="0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456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06463-5C70-1100-A23C-59BD8F0DC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1784"/>
          </a:xfrm>
        </p:spPr>
        <p:txBody>
          <a:bodyPr>
            <a:normAutofit/>
          </a:bodyPr>
          <a:lstStyle/>
          <a:p>
            <a:pPr algn="ctr"/>
            <a:r>
              <a:rPr lang="en-GB" sz="4800" b="1" dirty="0">
                <a:solidFill>
                  <a:srgbClr val="0070C0"/>
                </a:solidFill>
              </a:rPr>
              <a:t>Upstream Analysis </a:t>
            </a:r>
            <a:r>
              <a:rPr lang="en-GB" sz="4800" b="1" dirty="0"/>
              <a:t>Workflow</a:t>
            </a:r>
            <a:endParaRPr lang="en-US" sz="4800" b="1" dirty="0">
              <a:solidFill>
                <a:srgbClr val="0070C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6F81C9-4F96-3C0C-BA74-9F8A8A5C3A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12873" y="2322022"/>
            <a:ext cx="5962395" cy="315883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A07C97-F6E5-4C2F-D99D-BDC58016D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963" y="2504887"/>
            <a:ext cx="5249940" cy="225831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C3C4546-13FB-3D4E-7677-F9D5AB48C99A}"/>
              </a:ext>
            </a:extLst>
          </p:cNvPr>
          <p:cNvCxnSpPr/>
          <p:nvPr/>
        </p:nvCxnSpPr>
        <p:spPr>
          <a:xfrm>
            <a:off x="5774567" y="1640378"/>
            <a:ext cx="0" cy="43891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AA0BCC7-E2EE-982A-13B9-66AD9D319223}"/>
              </a:ext>
            </a:extLst>
          </p:cNvPr>
          <p:cNvSpPr txBox="1"/>
          <p:nvPr/>
        </p:nvSpPr>
        <p:spPr>
          <a:xfrm>
            <a:off x="387926" y="1498934"/>
            <a:ext cx="51040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latin typeface="Calibri Light" panose="020F0302020204030204" pitchFamily="34" charset="0"/>
              </a:rPr>
              <a:t>Bulk DNA-</a:t>
            </a:r>
            <a:r>
              <a:rPr lang="en-GB" sz="2800" b="1" dirty="0" err="1">
                <a:latin typeface="Calibri Light" panose="020F0302020204030204" pitchFamily="34" charset="0"/>
              </a:rPr>
              <a:t>seq</a:t>
            </a:r>
            <a:endParaRPr lang="en-US" sz="2800" dirty="0">
              <a:latin typeface="Calibri Light" panose="020F03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23B4E6-EB22-F816-8607-F6013E9A46E3}"/>
              </a:ext>
            </a:extLst>
          </p:cNvPr>
          <p:cNvSpPr txBox="1"/>
          <p:nvPr/>
        </p:nvSpPr>
        <p:spPr>
          <a:xfrm>
            <a:off x="6298275" y="1498934"/>
            <a:ext cx="51040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latin typeface="Calibri Light" panose="020F0302020204030204" pitchFamily="34" charset="0"/>
              </a:rPr>
              <a:t>Bulk RNA-</a:t>
            </a:r>
            <a:r>
              <a:rPr lang="en-GB" sz="2800" b="1" dirty="0" err="1">
                <a:latin typeface="Calibri Light" panose="020F0302020204030204" pitchFamily="34" charset="0"/>
              </a:rPr>
              <a:t>seq</a:t>
            </a:r>
            <a:endParaRPr lang="en-US" sz="2800" dirty="0">
              <a:latin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A4BB39-95B0-182C-1434-CB903467C2D0}"/>
              </a:ext>
            </a:extLst>
          </p:cNvPr>
          <p:cNvSpPr txBox="1"/>
          <p:nvPr/>
        </p:nvSpPr>
        <p:spPr>
          <a:xfrm>
            <a:off x="6298275" y="6029498"/>
            <a:ext cx="5677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Where are the References need? And what are these?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420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06463-5C70-1100-A23C-59BD8F0DC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1784"/>
          </a:xfrm>
        </p:spPr>
        <p:txBody>
          <a:bodyPr>
            <a:normAutofit/>
          </a:bodyPr>
          <a:lstStyle/>
          <a:p>
            <a:pPr algn="ctr"/>
            <a:r>
              <a:rPr lang="en-GB" sz="4800" b="1" dirty="0">
                <a:solidFill>
                  <a:srgbClr val="0070C0"/>
                </a:solidFill>
              </a:rPr>
              <a:t>Upstream Analysis </a:t>
            </a:r>
            <a:r>
              <a:rPr lang="en-GB" sz="4800" b="1" dirty="0"/>
              <a:t>Workflow</a:t>
            </a:r>
            <a:endParaRPr lang="en-US" sz="4800" b="1" dirty="0">
              <a:solidFill>
                <a:srgbClr val="0070C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6F81C9-4F96-3C0C-BA74-9F8A8A5C3A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12873" y="2322022"/>
            <a:ext cx="5962395" cy="315883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A07C97-F6E5-4C2F-D99D-BDC58016D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963" y="2504887"/>
            <a:ext cx="5249940" cy="225831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C3C4546-13FB-3D4E-7677-F9D5AB48C99A}"/>
              </a:ext>
            </a:extLst>
          </p:cNvPr>
          <p:cNvCxnSpPr/>
          <p:nvPr/>
        </p:nvCxnSpPr>
        <p:spPr>
          <a:xfrm>
            <a:off x="5774567" y="1640378"/>
            <a:ext cx="0" cy="43891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AA0BCC7-E2EE-982A-13B9-66AD9D319223}"/>
              </a:ext>
            </a:extLst>
          </p:cNvPr>
          <p:cNvSpPr txBox="1"/>
          <p:nvPr/>
        </p:nvSpPr>
        <p:spPr>
          <a:xfrm>
            <a:off x="387926" y="1498934"/>
            <a:ext cx="51040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latin typeface="Calibri Light" panose="020F0302020204030204" pitchFamily="34" charset="0"/>
              </a:rPr>
              <a:t>Bulk DNA-</a:t>
            </a:r>
            <a:r>
              <a:rPr lang="en-GB" sz="2800" b="1" dirty="0" err="1">
                <a:latin typeface="Calibri Light" panose="020F0302020204030204" pitchFamily="34" charset="0"/>
              </a:rPr>
              <a:t>seq</a:t>
            </a:r>
            <a:endParaRPr lang="en-US" sz="2800" dirty="0">
              <a:latin typeface="Calibri Light" panose="020F03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23B4E6-EB22-F816-8607-F6013E9A46E3}"/>
              </a:ext>
            </a:extLst>
          </p:cNvPr>
          <p:cNvSpPr txBox="1"/>
          <p:nvPr/>
        </p:nvSpPr>
        <p:spPr>
          <a:xfrm>
            <a:off x="6298275" y="1498934"/>
            <a:ext cx="51040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latin typeface="Calibri Light" panose="020F0302020204030204" pitchFamily="34" charset="0"/>
              </a:rPr>
              <a:t>Bulk RNA-</a:t>
            </a:r>
            <a:r>
              <a:rPr lang="en-GB" sz="2800" b="1" dirty="0" err="1">
                <a:latin typeface="Calibri Light" panose="020F0302020204030204" pitchFamily="34" charset="0"/>
              </a:rPr>
              <a:t>seq</a:t>
            </a:r>
            <a:endParaRPr lang="en-US" sz="2800" dirty="0">
              <a:latin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A4BB39-95B0-182C-1434-CB903467C2D0}"/>
              </a:ext>
            </a:extLst>
          </p:cNvPr>
          <p:cNvSpPr txBox="1"/>
          <p:nvPr/>
        </p:nvSpPr>
        <p:spPr>
          <a:xfrm>
            <a:off x="6298275" y="6029498"/>
            <a:ext cx="5677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Where are the References need? And what are these?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185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06463-5C70-1100-A23C-59BD8F0DC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1784"/>
          </a:xfrm>
        </p:spPr>
        <p:txBody>
          <a:bodyPr>
            <a:normAutofit/>
          </a:bodyPr>
          <a:lstStyle/>
          <a:p>
            <a:pPr algn="ctr"/>
            <a:r>
              <a:rPr lang="en-GB" sz="4800" b="1" dirty="0">
                <a:solidFill>
                  <a:srgbClr val="0070C0"/>
                </a:solidFill>
              </a:rPr>
              <a:t>Upstream Analysis </a:t>
            </a:r>
            <a:r>
              <a:rPr lang="en-GB" sz="4800" b="1" dirty="0"/>
              <a:t>Workflow</a:t>
            </a:r>
            <a:endParaRPr lang="en-US" sz="4800" b="1" dirty="0">
              <a:solidFill>
                <a:srgbClr val="0070C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6F81C9-4F96-3C0C-BA74-9F8A8A5C3A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12873" y="2322022"/>
            <a:ext cx="5962395" cy="315883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A07C97-F6E5-4C2F-D99D-BDC58016D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963" y="2504887"/>
            <a:ext cx="5249940" cy="225831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C3C4546-13FB-3D4E-7677-F9D5AB48C99A}"/>
              </a:ext>
            </a:extLst>
          </p:cNvPr>
          <p:cNvCxnSpPr/>
          <p:nvPr/>
        </p:nvCxnSpPr>
        <p:spPr>
          <a:xfrm>
            <a:off x="5774567" y="1640378"/>
            <a:ext cx="0" cy="43891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AA0BCC7-E2EE-982A-13B9-66AD9D319223}"/>
              </a:ext>
            </a:extLst>
          </p:cNvPr>
          <p:cNvSpPr txBox="1"/>
          <p:nvPr/>
        </p:nvSpPr>
        <p:spPr>
          <a:xfrm>
            <a:off x="387926" y="1498934"/>
            <a:ext cx="51040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latin typeface="Calibri Light" panose="020F0302020204030204" pitchFamily="34" charset="0"/>
              </a:rPr>
              <a:t>Bulk DNA-</a:t>
            </a:r>
            <a:r>
              <a:rPr lang="en-GB" sz="2800" b="1" dirty="0" err="1">
                <a:latin typeface="Calibri Light" panose="020F0302020204030204" pitchFamily="34" charset="0"/>
              </a:rPr>
              <a:t>seq</a:t>
            </a:r>
            <a:endParaRPr lang="en-US" sz="2800" dirty="0">
              <a:latin typeface="Calibri Light" panose="020F03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23B4E6-EB22-F816-8607-F6013E9A46E3}"/>
              </a:ext>
            </a:extLst>
          </p:cNvPr>
          <p:cNvSpPr txBox="1"/>
          <p:nvPr/>
        </p:nvSpPr>
        <p:spPr>
          <a:xfrm>
            <a:off x="6298275" y="1498934"/>
            <a:ext cx="51040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latin typeface="Calibri Light" panose="020F0302020204030204" pitchFamily="34" charset="0"/>
              </a:rPr>
              <a:t>Bulk RNA-</a:t>
            </a:r>
            <a:r>
              <a:rPr lang="en-GB" sz="2800" b="1" dirty="0" err="1">
                <a:latin typeface="Calibri Light" panose="020F0302020204030204" pitchFamily="34" charset="0"/>
              </a:rPr>
              <a:t>seq</a:t>
            </a:r>
            <a:endParaRPr lang="en-US" sz="2800" dirty="0">
              <a:latin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A4BB39-95B0-182C-1434-CB903467C2D0}"/>
              </a:ext>
            </a:extLst>
          </p:cNvPr>
          <p:cNvSpPr txBox="1"/>
          <p:nvPr/>
        </p:nvSpPr>
        <p:spPr>
          <a:xfrm>
            <a:off x="5944518" y="5909640"/>
            <a:ext cx="5962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The four most common gene annotation databases are currently </a:t>
            </a:r>
            <a:r>
              <a:rPr lang="en-GB" dirty="0" err="1"/>
              <a:t>RefSeq</a:t>
            </a:r>
            <a:r>
              <a:rPr lang="en-GB" dirty="0"/>
              <a:t>, UCSC, </a:t>
            </a:r>
            <a:r>
              <a:rPr lang="en-GB" dirty="0" err="1"/>
              <a:t>Ensembl</a:t>
            </a:r>
            <a:r>
              <a:rPr lang="en-GB" dirty="0"/>
              <a:t> and GENCODE as GTF format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75B96F-A393-C302-1DE7-1D5E0DBE731F}"/>
              </a:ext>
            </a:extLst>
          </p:cNvPr>
          <p:cNvSpPr txBox="1"/>
          <p:nvPr/>
        </p:nvSpPr>
        <p:spPr>
          <a:xfrm>
            <a:off x="329283" y="5909639"/>
            <a:ext cx="52212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Human Genome Sequences can be found at UCSC, NCBI and </a:t>
            </a:r>
            <a:r>
              <a:rPr lang="en-GB" dirty="0" err="1"/>
              <a:t>Ensembl</a:t>
            </a:r>
            <a:r>
              <a:rPr lang="en-GB" dirty="0"/>
              <a:t> and GENCODE as </a:t>
            </a:r>
            <a:r>
              <a:rPr lang="en-GB" dirty="0" err="1"/>
              <a:t>fasta</a:t>
            </a:r>
            <a:r>
              <a:rPr lang="en-GB" dirty="0"/>
              <a:t> format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28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06463-5C70-1100-A23C-59BD8F0DC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8020"/>
            <a:ext cx="10515600" cy="881784"/>
          </a:xfrm>
        </p:spPr>
        <p:txBody>
          <a:bodyPr>
            <a:normAutofit/>
          </a:bodyPr>
          <a:lstStyle/>
          <a:p>
            <a:pPr algn="ctr"/>
            <a:r>
              <a:rPr lang="en-GB" sz="4800" b="1" dirty="0">
                <a:solidFill>
                  <a:srgbClr val="0070C0"/>
                </a:solidFill>
              </a:rPr>
              <a:t>Downstream Analysis </a:t>
            </a:r>
            <a:r>
              <a:rPr lang="en-GB" sz="4800" b="1" dirty="0"/>
              <a:t>Workflow</a:t>
            </a:r>
            <a:endParaRPr lang="en-US" sz="4800" b="1" dirty="0">
              <a:solidFill>
                <a:srgbClr val="0070C0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C3C4546-13FB-3D4E-7677-F9D5AB48C99A}"/>
              </a:ext>
            </a:extLst>
          </p:cNvPr>
          <p:cNvCxnSpPr/>
          <p:nvPr/>
        </p:nvCxnSpPr>
        <p:spPr>
          <a:xfrm>
            <a:off x="5732735" y="1592570"/>
            <a:ext cx="0" cy="43891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AA0BCC7-E2EE-982A-13B9-66AD9D319223}"/>
              </a:ext>
            </a:extLst>
          </p:cNvPr>
          <p:cNvSpPr txBox="1"/>
          <p:nvPr/>
        </p:nvSpPr>
        <p:spPr>
          <a:xfrm>
            <a:off x="387926" y="1451126"/>
            <a:ext cx="51040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latin typeface="Calibri Light" panose="020F0302020204030204" pitchFamily="34" charset="0"/>
              </a:rPr>
              <a:t>Bulk DNA-</a:t>
            </a:r>
            <a:r>
              <a:rPr lang="en-GB" sz="2800" b="1" dirty="0" err="1">
                <a:latin typeface="Calibri Light" panose="020F0302020204030204" pitchFamily="34" charset="0"/>
              </a:rPr>
              <a:t>seq</a:t>
            </a:r>
            <a:endParaRPr lang="en-US" sz="2800" dirty="0">
              <a:latin typeface="Calibri Light" panose="020F03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23B4E6-EB22-F816-8607-F6013E9A46E3}"/>
              </a:ext>
            </a:extLst>
          </p:cNvPr>
          <p:cNvSpPr txBox="1"/>
          <p:nvPr/>
        </p:nvSpPr>
        <p:spPr>
          <a:xfrm>
            <a:off x="6298275" y="1451126"/>
            <a:ext cx="51040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latin typeface="Calibri Light" panose="020F0302020204030204" pitchFamily="34" charset="0"/>
              </a:rPr>
              <a:t>Bulk RNA-</a:t>
            </a:r>
            <a:r>
              <a:rPr lang="en-GB" sz="2800" b="1" dirty="0" err="1">
                <a:latin typeface="Calibri Light" panose="020F0302020204030204" pitchFamily="34" charset="0"/>
              </a:rPr>
              <a:t>seq</a:t>
            </a:r>
            <a:endParaRPr lang="en-US" sz="2800" dirty="0">
              <a:latin typeface="Calibri Light" panose="020F03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EFF593-67CD-7F2A-0250-E99AE98B0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27" y="2773016"/>
            <a:ext cx="5613752" cy="151315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FBD1ECD-47C0-5CB1-DF08-BD2165A92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567" y="2137882"/>
            <a:ext cx="6294566" cy="317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829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06463-5C70-1100-A23C-59BD8F0DC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8020"/>
            <a:ext cx="10515600" cy="881784"/>
          </a:xfrm>
        </p:spPr>
        <p:txBody>
          <a:bodyPr>
            <a:normAutofit/>
          </a:bodyPr>
          <a:lstStyle/>
          <a:p>
            <a:pPr algn="ctr"/>
            <a:r>
              <a:rPr lang="en-GB" sz="4800" b="1" dirty="0">
                <a:solidFill>
                  <a:srgbClr val="0070C0"/>
                </a:solidFill>
              </a:rPr>
              <a:t>Downstream Analysis </a:t>
            </a:r>
            <a:r>
              <a:rPr lang="en-GB" sz="4800" b="1" dirty="0"/>
              <a:t>Workflow</a:t>
            </a:r>
            <a:endParaRPr lang="en-US" sz="4800" b="1" dirty="0">
              <a:solidFill>
                <a:srgbClr val="0070C0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C3C4546-13FB-3D4E-7677-F9D5AB48C99A}"/>
              </a:ext>
            </a:extLst>
          </p:cNvPr>
          <p:cNvCxnSpPr/>
          <p:nvPr/>
        </p:nvCxnSpPr>
        <p:spPr>
          <a:xfrm>
            <a:off x="5732735" y="1592570"/>
            <a:ext cx="0" cy="43891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AA0BCC7-E2EE-982A-13B9-66AD9D319223}"/>
              </a:ext>
            </a:extLst>
          </p:cNvPr>
          <p:cNvSpPr txBox="1"/>
          <p:nvPr/>
        </p:nvSpPr>
        <p:spPr>
          <a:xfrm>
            <a:off x="387926" y="1451126"/>
            <a:ext cx="51040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latin typeface="Calibri Light" panose="020F0302020204030204" pitchFamily="34" charset="0"/>
              </a:rPr>
              <a:t>Bulk DNA-</a:t>
            </a:r>
            <a:r>
              <a:rPr lang="en-GB" sz="2800" b="1" dirty="0" err="1">
                <a:latin typeface="Calibri Light" panose="020F0302020204030204" pitchFamily="34" charset="0"/>
              </a:rPr>
              <a:t>seq</a:t>
            </a:r>
            <a:endParaRPr lang="en-US" sz="2800" dirty="0">
              <a:latin typeface="Calibri Light" panose="020F03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23B4E6-EB22-F816-8607-F6013E9A46E3}"/>
              </a:ext>
            </a:extLst>
          </p:cNvPr>
          <p:cNvSpPr txBox="1"/>
          <p:nvPr/>
        </p:nvSpPr>
        <p:spPr>
          <a:xfrm>
            <a:off x="6298275" y="1451126"/>
            <a:ext cx="51040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latin typeface="Calibri Light" panose="020F0302020204030204" pitchFamily="34" charset="0"/>
              </a:rPr>
              <a:t>Bulk RNA-</a:t>
            </a:r>
            <a:r>
              <a:rPr lang="en-GB" sz="2800" b="1" dirty="0" err="1">
                <a:latin typeface="Calibri Light" panose="020F0302020204030204" pitchFamily="34" charset="0"/>
              </a:rPr>
              <a:t>seq</a:t>
            </a:r>
            <a:endParaRPr lang="en-US" sz="2800" dirty="0">
              <a:latin typeface="Calibri Light" panose="020F03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EFF593-67CD-7F2A-0250-E99AE98B0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27" y="2773016"/>
            <a:ext cx="5613752" cy="151315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FBD1ECD-47C0-5CB1-DF08-BD2165A92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567" y="2137882"/>
            <a:ext cx="6294566" cy="31733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29855A-024C-62D1-6ACF-769C1FDCD293}"/>
              </a:ext>
            </a:extLst>
          </p:cNvPr>
          <p:cNvSpPr txBox="1"/>
          <p:nvPr/>
        </p:nvSpPr>
        <p:spPr>
          <a:xfrm>
            <a:off x="5944518" y="5909640"/>
            <a:ext cx="5962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What is the </a:t>
            </a:r>
            <a:r>
              <a:rPr lang="en-GB" dirty="0" err="1"/>
              <a:t>unmatch</a:t>
            </a:r>
            <a:r>
              <a:rPr lang="en-GB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756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06463-5C70-1100-A23C-59BD8F0DC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8020"/>
            <a:ext cx="10515600" cy="881784"/>
          </a:xfrm>
        </p:spPr>
        <p:txBody>
          <a:bodyPr>
            <a:normAutofit/>
          </a:bodyPr>
          <a:lstStyle/>
          <a:p>
            <a:pPr algn="ctr"/>
            <a:r>
              <a:rPr lang="en-GB" sz="4800" b="1" dirty="0">
                <a:solidFill>
                  <a:srgbClr val="0070C0"/>
                </a:solidFill>
              </a:rPr>
              <a:t>Downstream Analysis </a:t>
            </a:r>
            <a:r>
              <a:rPr lang="en-GB" sz="4800" b="1" dirty="0"/>
              <a:t>Workflow</a:t>
            </a:r>
            <a:endParaRPr lang="en-US" sz="4800" b="1" dirty="0">
              <a:solidFill>
                <a:srgbClr val="0070C0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C3C4546-13FB-3D4E-7677-F9D5AB48C99A}"/>
              </a:ext>
            </a:extLst>
          </p:cNvPr>
          <p:cNvCxnSpPr/>
          <p:nvPr/>
        </p:nvCxnSpPr>
        <p:spPr>
          <a:xfrm>
            <a:off x="5732735" y="1592570"/>
            <a:ext cx="0" cy="43891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AA0BCC7-E2EE-982A-13B9-66AD9D319223}"/>
              </a:ext>
            </a:extLst>
          </p:cNvPr>
          <p:cNvSpPr txBox="1"/>
          <p:nvPr/>
        </p:nvSpPr>
        <p:spPr>
          <a:xfrm>
            <a:off x="387926" y="1451126"/>
            <a:ext cx="51040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latin typeface="Calibri Light" panose="020F0302020204030204" pitchFamily="34" charset="0"/>
              </a:rPr>
              <a:t>Bulk DNA-</a:t>
            </a:r>
            <a:r>
              <a:rPr lang="en-GB" sz="2800" b="1" dirty="0" err="1">
                <a:latin typeface="Calibri Light" panose="020F0302020204030204" pitchFamily="34" charset="0"/>
              </a:rPr>
              <a:t>seq</a:t>
            </a:r>
            <a:endParaRPr lang="en-US" sz="2800" dirty="0">
              <a:latin typeface="Calibri Light" panose="020F03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23B4E6-EB22-F816-8607-F6013E9A46E3}"/>
              </a:ext>
            </a:extLst>
          </p:cNvPr>
          <p:cNvSpPr txBox="1"/>
          <p:nvPr/>
        </p:nvSpPr>
        <p:spPr>
          <a:xfrm>
            <a:off x="6298275" y="1451126"/>
            <a:ext cx="51040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latin typeface="Calibri Light" panose="020F0302020204030204" pitchFamily="34" charset="0"/>
              </a:rPr>
              <a:t>Bulk RNA-</a:t>
            </a:r>
            <a:r>
              <a:rPr lang="en-GB" sz="2800" b="1" dirty="0" err="1">
                <a:latin typeface="Calibri Light" panose="020F0302020204030204" pitchFamily="34" charset="0"/>
              </a:rPr>
              <a:t>seq</a:t>
            </a:r>
            <a:endParaRPr lang="en-US" sz="2800" dirty="0">
              <a:latin typeface="Calibri Light" panose="020F03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EFF593-67CD-7F2A-0250-E99AE98B0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27" y="2773016"/>
            <a:ext cx="5613752" cy="151315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FBD1ECD-47C0-5CB1-DF08-BD2165A92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567" y="2137882"/>
            <a:ext cx="6294566" cy="31733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29855A-024C-62D1-6ACF-769C1FDCD293}"/>
              </a:ext>
            </a:extLst>
          </p:cNvPr>
          <p:cNvSpPr txBox="1"/>
          <p:nvPr/>
        </p:nvSpPr>
        <p:spPr>
          <a:xfrm>
            <a:off x="5944518" y="5909640"/>
            <a:ext cx="5962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What is the </a:t>
            </a:r>
            <a:r>
              <a:rPr lang="en-GB" dirty="0" err="1"/>
              <a:t>unmatch</a:t>
            </a:r>
            <a:r>
              <a:rPr lang="en-GB" dirty="0"/>
              <a:t>?</a:t>
            </a:r>
            <a:endParaRPr lang="en-US" dirty="0"/>
          </a:p>
        </p:txBody>
      </p:sp>
      <p:sp>
        <p:nvSpPr>
          <p:cNvPr id="4" name="Multiplication Sign 3">
            <a:extLst>
              <a:ext uri="{FF2B5EF4-FFF2-40B4-BE49-F238E27FC236}">
                <a16:creationId xmlns:a16="http://schemas.microsoft.com/office/drawing/2014/main" id="{FA90BEF4-E359-E8E5-6390-017FD1B95DC3}"/>
              </a:ext>
            </a:extLst>
          </p:cNvPr>
          <p:cNvSpPr/>
          <p:nvPr/>
        </p:nvSpPr>
        <p:spPr>
          <a:xfrm>
            <a:off x="7267388" y="2469327"/>
            <a:ext cx="1141506" cy="1816847"/>
          </a:xfrm>
          <a:prstGeom prst="mathMultiply">
            <a:avLst/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0429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06463-5C70-1100-A23C-59BD8F0DC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8020"/>
            <a:ext cx="10515600" cy="881784"/>
          </a:xfrm>
        </p:spPr>
        <p:txBody>
          <a:bodyPr>
            <a:normAutofit/>
          </a:bodyPr>
          <a:lstStyle/>
          <a:p>
            <a:pPr algn="ctr"/>
            <a:r>
              <a:rPr lang="en-GB" sz="4800" b="1" dirty="0">
                <a:solidFill>
                  <a:srgbClr val="0070C0"/>
                </a:solidFill>
              </a:rPr>
              <a:t>From BAM to Count</a:t>
            </a:r>
            <a:endParaRPr lang="en-US" sz="4800" b="1" dirty="0">
              <a:solidFill>
                <a:srgbClr val="0070C0"/>
              </a:solidFill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E05F5DF7-81E8-660D-6CA2-2D61D3784F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199762"/>
              </p:ext>
            </p:extLst>
          </p:nvPr>
        </p:nvGraphicFramePr>
        <p:xfrm>
          <a:off x="4781185" y="4174056"/>
          <a:ext cx="7219576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9246">
                  <a:extLst>
                    <a:ext uri="{9D8B030D-6E8A-4147-A177-3AD203B41FA5}">
                      <a16:colId xmlns:a16="http://schemas.microsoft.com/office/drawing/2014/main" val="1023342243"/>
                    </a:ext>
                  </a:extLst>
                </a:gridCol>
                <a:gridCol w="1111624">
                  <a:extLst>
                    <a:ext uri="{9D8B030D-6E8A-4147-A177-3AD203B41FA5}">
                      <a16:colId xmlns:a16="http://schemas.microsoft.com/office/drawing/2014/main" val="1237702755"/>
                    </a:ext>
                  </a:extLst>
                </a:gridCol>
                <a:gridCol w="1093694">
                  <a:extLst>
                    <a:ext uri="{9D8B030D-6E8A-4147-A177-3AD203B41FA5}">
                      <a16:colId xmlns:a16="http://schemas.microsoft.com/office/drawing/2014/main" val="4158307881"/>
                    </a:ext>
                  </a:extLst>
                </a:gridCol>
                <a:gridCol w="1075765">
                  <a:extLst>
                    <a:ext uri="{9D8B030D-6E8A-4147-A177-3AD203B41FA5}">
                      <a16:colId xmlns:a16="http://schemas.microsoft.com/office/drawing/2014/main" val="1742891819"/>
                    </a:ext>
                  </a:extLst>
                </a:gridCol>
                <a:gridCol w="1075764">
                  <a:extLst>
                    <a:ext uri="{9D8B030D-6E8A-4147-A177-3AD203B41FA5}">
                      <a16:colId xmlns:a16="http://schemas.microsoft.com/office/drawing/2014/main" val="2076504915"/>
                    </a:ext>
                  </a:extLst>
                </a:gridCol>
                <a:gridCol w="1063812">
                  <a:extLst>
                    <a:ext uri="{9D8B030D-6E8A-4147-A177-3AD203B41FA5}">
                      <a16:colId xmlns:a16="http://schemas.microsoft.com/office/drawing/2014/main" val="4018034210"/>
                    </a:ext>
                  </a:extLst>
                </a:gridCol>
                <a:gridCol w="1099671">
                  <a:extLst>
                    <a:ext uri="{9D8B030D-6E8A-4147-A177-3AD203B41FA5}">
                      <a16:colId xmlns:a16="http://schemas.microsoft.com/office/drawing/2014/main" val="39473376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Gene</a:t>
                      </a:r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Sample 1 Healthy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Sample 2 Healthy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Sample 3 Healthy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Sample 4 </a:t>
                      </a:r>
                      <a:r>
                        <a:rPr lang="en-GB" dirty="0" err="1"/>
                        <a:t>Tumor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Sample 5 </a:t>
                      </a:r>
                      <a:r>
                        <a:rPr lang="en-GB" dirty="0" err="1"/>
                        <a:t>Tumor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Sample 6 </a:t>
                      </a:r>
                      <a:r>
                        <a:rPr lang="en-GB" dirty="0" err="1"/>
                        <a:t>Tumor</a:t>
                      </a:r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591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163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154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42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0955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053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0.0013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869720"/>
                  </a:ext>
                </a:extLst>
              </a:tr>
            </a:tbl>
          </a:graphicData>
        </a:graphic>
      </p:graphicFrame>
      <p:pic>
        <p:nvPicPr>
          <p:cNvPr id="2050" name="Picture 2" descr="Alignment Visualization - IGV | Griffith Lab">
            <a:extLst>
              <a:ext uri="{FF2B5EF4-FFF2-40B4-BE49-F238E27FC236}">
                <a16:creationId xmlns:a16="http://schemas.microsoft.com/office/drawing/2014/main" id="{36B6724E-AA39-4645-5178-28A00014F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352" y="1165412"/>
            <a:ext cx="5707648" cy="2858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rrow: Bent-Up 6">
            <a:extLst>
              <a:ext uri="{FF2B5EF4-FFF2-40B4-BE49-F238E27FC236}">
                <a16:creationId xmlns:a16="http://schemas.microsoft.com/office/drawing/2014/main" id="{CBC996A7-A41F-7E7F-D240-0FC61CBE8076}"/>
              </a:ext>
            </a:extLst>
          </p:cNvPr>
          <p:cNvSpPr/>
          <p:nvPr/>
        </p:nvSpPr>
        <p:spPr>
          <a:xfrm rot="5400000">
            <a:off x="3566951" y="4163104"/>
            <a:ext cx="935826" cy="957729"/>
          </a:xfrm>
          <a:prstGeom prst="bentUpArrow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78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06463-5C70-1100-A23C-59BD8F0DC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8020"/>
            <a:ext cx="10515600" cy="881784"/>
          </a:xfrm>
        </p:spPr>
        <p:txBody>
          <a:bodyPr>
            <a:normAutofit/>
          </a:bodyPr>
          <a:lstStyle/>
          <a:p>
            <a:pPr algn="ctr"/>
            <a:r>
              <a:rPr lang="en-GB" sz="4800" b="1" dirty="0">
                <a:solidFill>
                  <a:srgbClr val="0070C0"/>
                </a:solidFill>
              </a:rPr>
              <a:t>Differential Gene Expression</a:t>
            </a:r>
            <a:endParaRPr lang="en-US" sz="4800" b="1" dirty="0">
              <a:solidFill>
                <a:srgbClr val="0070C0"/>
              </a:solidFill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E05F5DF7-81E8-660D-6CA2-2D61D3784F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433521"/>
              </p:ext>
            </p:extLst>
          </p:nvPr>
        </p:nvGraphicFramePr>
        <p:xfrm>
          <a:off x="113566" y="1377072"/>
          <a:ext cx="7219576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9246">
                  <a:extLst>
                    <a:ext uri="{9D8B030D-6E8A-4147-A177-3AD203B41FA5}">
                      <a16:colId xmlns:a16="http://schemas.microsoft.com/office/drawing/2014/main" val="1023342243"/>
                    </a:ext>
                  </a:extLst>
                </a:gridCol>
                <a:gridCol w="1111624">
                  <a:extLst>
                    <a:ext uri="{9D8B030D-6E8A-4147-A177-3AD203B41FA5}">
                      <a16:colId xmlns:a16="http://schemas.microsoft.com/office/drawing/2014/main" val="1237702755"/>
                    </a:ext>
                  </a:extLst>
                </a:gridCol>
                <a:gridCol w="1093694">
                  <a:extLst>
                    <a:ext uri="{9D8B030D-6E8A-4147-A177-3AD203B41FA5}">
                      <a16:colId xmlns:a16="http://schemas.microsoft.com/office/drawing/2014/main" val="4158307881"/>
                    </a:ext>
                  </a:extLst>
                </a:gridCol>
                <a:gridCol w="1075765">
                  <a:extLst>
                    <a:ext uri="{9D8B030D-6E8A-4147-A177-3AD203B41FA5}">
                      <a16:colId xmlns:a16="http://schemas.microsoft.com/office/drawing/2014/main" val="1742891819"/>
                    </a:ext>
                  </a:extLst>
                </a:gridCol>
                <a:gridCol w="1075764">
                  <a:extLst>
                    <a:ext uri="{9D8B030D-6E8A-4147-A177-3AD203B41FA5}">
                      <a16:colId xmlns:a16="http://schemas.microsoft.com/office/drawing/2014/main" val="2076504915"/>
                    </a:ext>
                  </a:extLst>
                </a:gridCol>
                <a:gridCol w="1063812">
                  <a:extLst>
                    <a:ext uri="{9D8B030D-6E8A-4147-A177-3AD203B41FA5}">
                      <a16:colId xmlns:a16="http://schemas.microsoft.com/office/drawing/2014/main" val="4018034210"/>
                    </a:ext>
                  </a:extLst>
                </a:gridCol>
                <a:gridCol w="1099671">
                  <a:extLst>
                    <a:ext uri="{9D8B030D-6E8A-4147-A177-3AD203B41FA5}">
                      <a16:colId xmlns:a16="http://schemas.microsoft.com/office/drawing/2014/main" val="39473376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Gene</a:t>
                      </a:r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Sample 1 Healthy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Sample 2 Healthy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Sample 3 Healthy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Sample 4 </a:t>
                      </a:r>
                      <a:r>
                        <a:rPr lang="en-GB" dirty="0" err="1"/>
                        <a:t>Tumor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Sample 5 </a:t>
                      </a:r>
                      <a:r>
                        <a:rPr lang="en-GB" dirty="0" err="1"/>
                        <a:t>Tumor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Sample 6 </a:t>
                      </a:r>
                      <a:r>
                        <a:rPr lang="en-GB" dirty="0" err="1"/>
                        <a:t>Tumor</a:t>
                      </a:r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591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163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154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42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0955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053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0.0013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869720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56947559-DE6A-0A88-E515-65D48339F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5792" y="1422405"/>
            <a:ext cx="4644612" cy="2168034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9AF238C-3ED5-CD88-5DF5-DC8E9088B023}"/>
              </a:ext>
            </a:extLst>
          </p:cNvPr>
          <p:cNvSpPr/>
          <p:nvPr/>
        </p:nvSpPr>
        <p:spPr>
          <a:xfrm>
            <a:off x="10213788" y="2994216"/>
            <a:ext cx="1057836" cy="502024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Gene A</a:t>
            </a:r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3DC4D2-86E2-E47C-D564-AB813C678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931" y="3774832"/>
            <a:ext cx="4688069" cy="2219573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3175D7A-A181-8AD7-A184-A6AB3432575E}"/>
              </a:ext>
            </a:extLst>
          </p:cNvPr>
          <p:cNvSpPr/>
          <p:nvPr/>
        </p:nvSpPr>
        <p:spPr>
          <a:xfrm>
            <a:off x="10295964" y="5244357"/>
            <a:ext cx="1057836" cy="502024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Gene C</a:t>
            </a:r>
            <a:endParaRPr lang="en-US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487CD1-90A7-E49D-9A2F-B41D70B850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6" y="3977600"/>
            <a:ext cx="3822192" cy="1768781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9C56EAD-2981-037F-D92E-A5DFD9DEF153}"/>
              </a:ext>
            </a:extLst>
          </p:cNvPr>
          <p:cNvSpPr/>
          <p:nvPr/>
        </p:nvSpPr>
        <p:spPr>
          <a:xfrm>
            <a:off x="2374154" y="5129476"/>
            <a:ext cx="1057836" cy="502024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Gene D</a:t>
            </a:r>
            <a:endParaRPr lang="en-US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5936613-EEB0-8862-0436-B1A12B733B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9611" y="4223460"/>
            <a:ext cx="3253531" cy="1478098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232DBE8-1860-74F1-544D-A3CE4B68A3E7}"/>
              </a:ext>
            </a:extLst>
          </p:cNvPr>
          <p:cNvSpPr/>
          <p:nvPr/>
        </p:nvSpPr>
        <p:spPr>
          <a:xfrm>
            <a:off x="5974373" y="5217462"/>
            <a:ext cx="1057836" cy="502024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Gene B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64030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44C7271-E11A-CB7F-AB4D-5F549D0C95C7}"/>
              </a:ext>
            </a:extLst>
          </p:cNvPr>
          <p:cNvSpPr txBox="1"/>
          <p:nvPr/>
        </p:nvSpPr>
        <p:spPr>
          <a:xfrm>
            <a:off x="198637" y="6388860"/>
            <a:ext cx="7625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https://www.statology.org/fishers-exact-test/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7F208B-12EA-5307-1E61-E23179DB2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92" y="620698"/>
            <a:ext cx="5606677" cy="33750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6F0F69-CC74-BEDB-1195-D6A6ED474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212" y="1169338"/>
            <a:ext cx="5986974" cy="480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0424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06463-5C70-1100-A23C-59BD8F0DC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130" y="208020"/>
            <a:ext cx="11660094" cy="881784"/>
          </a:xfrm>
        </p:spPr>
        <p:txBody>
          <a:bodyPr>
            <a:noAutofit/>
          </a:bodyPr>
          <a:lstStyle/>
          <a:p>
            <a:pPr algn="ctr"/>
            <a:r>
              <a:rPr lang="en-GB" sz="3600" b="1" dirty="0">
                <a:solidFill>
                  <a:srgbClr val="0070C0"/>
                </a:solidFill>
              </a:rPr>
              <a:t>Enrichment of DEGs with Over Representation Analysis (ORA)</a:t>
            </a:r>
            <a:endParaRPr lang="en-US" sz="3600" b="1" dirty="0">
              <a:solidFill>
                <a:srgbClr val="0070C0"/>
              </a:solidFill>
            </a:endParaRPr>
          </a:p>
        </p:txBody>
      </p:sp>
      <p:pic>
        <p:nvPicPr>
          <p:cNvPr id="3074" name="Picture 2" descr="b61e5630c7504424bf9d00ebd919516e">
            <a:extLst>
              <a:ext uri="{FF2B5EF4-FFF2-40B4-BE49-F238E27FC236}">
                <a16:creationId xmlns:a16="http://schemas.microsoft.com/office/drawing/2014/main" id="{92226A7C-6EAA-FBEA-309C-9D61AF5ABC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08"/>
          <a:stretch/>
        </p:blipFill>
        <p:spPr bwMode="auto">
          <a:xfrm>
            <a:off x="265953" y="1547270"/>
            <a:ext cx="11660094" cy="3879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4C7271-E11A-CB7F-AB4D-5F549D0C95C7}"/>
              </a:ext>
            </a:extLst>
          </p:cNvPr>
          <p:cNvSpPr txBox="1"/>
          <p:nvPr/>
        </p:nvSpPr>
        <p:spPr>
          <a:xfrm>
            <a:off x="4255248" y="6194896"/>
            <a:ext cx="7625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https://decoupler-py.readthedocs.io/en/latest/notebooks/msigdb.html</a:t>
            </a:r>
          </a:p>
        </p:txBody>
      </p:sp>
    </p:spTree>
    <p:extLst>
      <p:ext uri="{BB962C8B-B14F-4D97-AF65-F5344CB8AC3E}">
        <p14:creationId xmlns:p14="http://schemas.microsoft.com/office/powerpoint/2010/main" val="20510535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06463-5C70-1100-A23C-59BD8F0DC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130" y="208020"/>
            <a:ext cx="11660094" cy="881784"/>
          </a:xfrm>
        </p:spPr>
        <p:txBody>
          <a:bodyPr>
            <a:noAutofit/>
          </a:bodyPr>
          <a:lstStyle/>
          <a:p>
            <a:pPr algn="ctr"/>
            <a:r>
              <a:rPr lang="en-GB" sz="3600" b="1" dirty="0">
                <a:solidFill>
                  <a:srgbClr val="0070C0"/>
                </a:solidFill>
              </a:rPr>
              <a:t>Enrichment of DEGs with Over Representation Analysis (ORA)</a:t>
            </a:r>
            <a:endParaRPr lang="en-US" sz="3600" b="1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4C7271-E11A-CB7F-AB4D-5F549D0C95C7}"/>
              </a:ext>
            </a:extLst>
          </p:cNvPr>
          <p:cNvSpPr txBox="1"/>
          <p:nvPr/>
        </p:nvSpPr>
        <p:spPr>
          <a:xfrm>
            <a:off x="4415965" y="6387919"/>
            <a:ext cx="7625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https://decoupler-py.readthedocs.io/en/latest/notebooks/msigdb.html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295C97-A55D-A6FB-0B00-2180956F55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3499"/>
          <a:stretch/>
        </p:blipFill>
        <p:spPr>
          <a:xfrm>
            <a:off x="7885714" y="1208748"/>
            <a:ext cx="4012142" cy="40849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5AA8CE-0C79-8A84-FAA0-75510B38E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843" y="1479545"/>
            <a:ext cx="3026438" cy="32331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0140C1-C327-CA30-0C2B-FDF79A5B9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597" y="1656883"/>
            <a:ext cx="3814589" cy="24827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AD89D0-0CF7-5367-0662-3DBABA1070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107" y="4891611"/>
            <a:ext cx="5215388" cy="4917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B96A968-E81B-78A8-B39D-53DEFE96F8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107" y="5636202"/>
            <a:ext cx="5215388" cy="49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4017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06463-5C70-1100-A23C-59BD8F0DC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130" y="208020"/>
            <a:ext cx="11660094" cy="881784"/>
          </a:xfrm>
        </p:spPr>
        <p:txBody>
          <a:bodyPr>
            <a:noAutofit/>
          </a:bodyPr>
          <a:lstStyle/>
          <a:p>
            <a:pPr algn="ctr"/>
            <a:r>
              <a:rPr lang="en-GB" sz="3600" b="1" dirty="0">
                <a:solidFill>
                  <a:srgbClr val="0070C0"/>
                </a:solidFill>
              </a:rPr>
              <a:t>Enrichment of DEGs with Over Representation Analysis (ORA)</a:t>
            </a:r>
            <a:endParaRPr lang="en-US" sz="3600" b="1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4C7271-E11A-CB7F-AB4D-5F549D0C95C7}"/>
              </a:ext>
            </a:extLst>
          </p:cNvPr>
          <p:cNvSpPr txBox="1"/>
          <p:nvPr/>
        </p:nvSpPr>
        <p:spPr>
          <a:xfrm>
            <a:off x="4471383" y="6394814"/>
            <a:ext cx="7625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https://colab.research.google.com/drive/1uvY0IK2Dl75L61A0KEkXAIad3DDaEOMp?usp=sharing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F320BC-8FB2-6540-5673-73145D0D4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30" y="1465049"/>
            <a:ext cx="9011539" cy="42053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67949F6-5EC3-BBCE-6530-5731D0BC50E5}"/>
              </a:ext>
            </a:extLst>
          </p:cNvPr>
          <p:cNvSpPr txBox="1"/>
          <p:nvPr/>
        </p:nvSpPr>
        <p:spPr>
          <a:xfrm>
            <a:off x="9471944" y="1932873"/>
            <a:ext cx="254880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dirty="0" err="1"/>
              <a:t>qvalue</a:t>
            </a:r>
            <a:r>
              <a:rPr lang="en-US" dirty="0"/>
              <a:t> in the results table from </a:t>
            </a:r>
            <a:r>
              <a:rPr lang="en-US" dirty="0" err="1"/>
              <a:t>enrichGO</a:t>
            </a:r>
            <a:r>
              <a:rPr lang="en-US" dirty="0"/>
              <a:t> represents the adjusted p-value for multiple testing correction. It is typically calculated using the False Discovery Rate (FDR) method, which controls the proportion of false positives among the list of enriched terms.</a:t>
            </a:r>
          </a:p>
        </p:txBody>
      </p:sp>
    </p:spTree>
    <p:extLst>
      <p:ext uri="{BB962C8B-B14F-4D97-AF65-F5344CB8AC3E}">
        <p14:creationId xmlns:p14="http://schemas.microsoft.com/office/powerpoint/2010/main" val="36236409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06463-5C70-1100-A23C-59BD8F0DC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130" y="208020"/>
            <a:ext cx="11660094" cy="795049"/>
          </a:xfrm>
        </p:spPr>
        <p:txBody>
          <a:bodyPr>
            <a:noAutofit/>
          </a:bodyPr>
          <a:lstStyle/>
          <a:p>
            <a:pPr algn="ctr"/>
            <a:r>
              <a:rPr lang="en-GB" sz="3600" b="1" dirty="0">
                <a:solidFill>
                  <a:srgbClr val="0070C0"/>
                </a:solidFill>
              </a:rPr>
              <a:t>RNA-</a:t>
            </a:r>
            <a:r>
              <a:rPr lang="en-GB" sz="3600" b="1" dirty="0" err="1">
                <a:solidFill>
                  <a:srgbClr val="0070C0"/>
                </a:solidFill>
              </a:rPr>
              <a:t>seq</a:t>
            </a:r>
            <a:r>
              <a:rPr lang="en-GB" sz="3600" b="1" dirty="0">
                <a:solidFill>
                  <a:srgbClr val="0070C0"/>
                </a:solidFill>
              </a:rPr>
              <a:t> databases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4C7271-E11A-CB7F-AB4D-5F549D0C95C7}"/>
              </a:ext>
            </a:extLst>
          </p:cNvPr>
          <p:cNvSpPr txBox="1"/>
          <p:nvPr/>
        </p:nvSpPr>
        <p:spPr>
          <a:xfrm>
            <a:off x="4471383" y="6394814"/>
            <a:ext cx="7625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https://www.nature.com/articles/s41467-018-03751-6</a:t>
            </a:r>
          </a:p>
        </p:txBody>
      </p:sp>
      <p:pic>
        <p:nvPicPr>
          <p:cNvPr id="1026" name="Picture 2" descr="Fig. 1">
            <a:extLst>
              <a:ext uri="{FF2B5EF4-FFF2-40B4-BE49-F238E27FC236}">
                <a16:creationId xmlns:a16="http://schemas.microsoft.com/office/drawing/2014/main" id="{CA5B8CFB-4D04-3400-81D9-1A684CB0D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130" y="1671745"/>
            <a:ext cx="5540606" cy="3783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ig. 4">
            <a:extLst>
              <a:ext uri="{FF2B5EF4-FFF2-40B4-BE49-F238E27FC236}">
                <a16:creationId xmlns:a16="http://schemas.microsoft.com/office/drawing/2014/main" id="{F11098F8-ADA5-C14A-F1AC-92F58D211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8459" y="1455268"/>
            <a:ext cx="2530147" cy="4655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0C8805-2460-7A9C-2AA0-227361CAFA0D}"/>
              </a:ext>
            </a:extLst>
          </p:cNvPr>
          <p:cNvSpPr txBox="1"/>
          <p:nvPr/>
        </p:nvSpPr>
        <p:spPr>
          <a:xfrm>
            <a:off x="3048000" y="324571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https://gtexportal.org/home/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405AFC-517E-023B-34EE-0E6845C58D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4037" y="1815076"/>
            <a:ext cx="2977187" cy="3093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892BBE9-9894-16FF-9BD6-227E4FDFAF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9743" y="2621813"/>
            <a:ext cx="3131127" cy="3434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9E85B36-5DB8-DFC2-7904-BFA3C145B1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4036" y="3380509"/>
            <a:ext cx="3017647" cy="155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4448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95A6A1D-59AB-0445-2CC5-85A4A4FA22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733292"/>
            <a:ext cx="7735712" cy="4351338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90FE323-46BB-F8FC-8E3B-293278C0A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543" y="579250"/>
            <a:ext cx="8773172" cy="9114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1574C1-03AF-389D-8284-008EA4408812}"/>
              </a:ext>
            </a:extLst>
          </p:cNvPr>
          <p:cNvSpPr txBox="1"/>
          <p:nvPr/>
        </p:nvSpPr>
        <p:spPr>
          <a:xfrm>
            <a:off x="6521335" y="6327174"/>
            <a:ext cx="48324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https://gtexportal.org/home/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B8BA12-8CF9-88E6-62AD-5B9DC7C64A7C}"/>
              </a:ext>
            </a:extLst>
          </p:cNvPr>
          <p:cNvSpPr txBox="1"/>
          <p:nvPr/>
        </p:nvSpPr>
        <p:spPr>
          <a:xfrm>
            <a:off x="753688" y="63271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https://www.youtube.com/watch?v=WjHkb_y_yFk&amp;t=2s</a:t>
            </a:r>
          </a:p>
        </p:txBody>
      </p:sp>
    </p:spTree>
    <p:extLst>
      <p:ext uri="{BB962C8B-B14F-4D97-AF65-F5344CB8AC3E}">
        <p14:creationId xmlns:p14="http://schemas.microsoft.com/office/powerpoint/2010/main" val="7164165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C9DB3-4258-9EBB-DB60-38DE348B4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6000" b="1" dirty="0" err="1"/>
              <a:t>Cảm</a:t>
            </a:r>
            <a:r>
              <a:rPr lang="en-GB" sz="6000" b="1" dirty="0"/>
              <a:t> </a:t>
            </a:r>
            <a:r>
              <a:rPr lang="en-GB" sz="6000" b="1" dirty="0" err="1"/>
              <a:t>ơn</a:t>
            </a:r>
            <a:r>
              <a:rPr lang="en-GB" sz="6000" b="1" dirty="0"/>
              <a:t> </a:t>
            </a:r>
            <a:r>
              <a:rPr lang="en-GB" sz="6000" b="1" dirty="0" err="1"/>
              <a:t>các</a:t>
            </a:r>
            <a:r>
              <a:rPr lang="en-GB" sz="6000" b="1" dirty="0"/>
              <a:t> </a:t>
            </a:r>
            <a:r>
              <a:rPr lang="en-GB" sz="6000" b="1" dirty="0" err="1"/>
              <a:t>thầy</a:t>
            </a:r>
            <a:r>
              <a:rPr lang="en-GB" sz="6000" b="1" dirty="0"/>
              <a:t> </a:t>
            </a:r>
            <a:r>
              <a:rPr lang="en-GB" sz="6000" b="1" dirty="0" err="1"/>
              <a:t>cô</a:t>
            </a:r>
            <a:r>
              <a:rPr lang="en-GB" sz="6000" b="1" dirty="0"/>
              <a:t> </a:t>
            </a:r>
            <a:r>
              <a:rPr lang="en-GB" sz="6000" b="1" dirty="0" err="1"/>
              <a:t>và</a:t>
            </a:r>
            <a:r>
              <a:rPr lang="en-GB" sz="6000" b="1" dirty="0"/>
              <a:t> </a:t>
            </a:r>
            <a:r>
              <a:rPr lang="en-GB" sz="6000" b="1" dirty="0" err="1"/>
              <a:t>các</a:t>
            </a:r>
            <a:r>
              <a:rPr lang="en-GB" sz="6000" b="1" dirty="0"/>
              <a:t> </a:t>
            </a:r>
            <a:r>
              <a:rPr lang="en-GB" sz="6000" b="1" dirty="0" err="1"/>
              <a:t>bạn</a:t>
            </a:r>
            <a:r>
              <a:rPr lang="en-GB" sz="6000" b="1" dirty="0"/>
              <a:t>!</a:t>
            </a:r>
            <a:endParaRPr lang="en-US" sz="6000" b="1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60107E6-93A6-B8E5-895E-D2A952055881}"/>
              </a:ext>
            </a:extLst>
          </p:cNvPr>
          <p:cNvSpPr txBox="1">
            <a:spLocks/>
          </p:cNvSpPr>
          <p:nvPr/>
        </p:nvSpPr>
        <p:spPr>
          <a:xfrm>
            <a:off x="2209800" y="2991079"/>
            <a:ext cx="9144000" cy="17668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2000" dirty="0" err="1"/>
              <a:t>Ngày</a:t>
            </a:r>
            <a:r>
              <a:rPr lang="en-US" sz="2000" dirty="0"/>
              <a:t> 29 </a:t>
            </a:r>
            <a:r>
              <a:rPr lang="en-US" sz="2000" dirty="0" err="1"/>
              <a:t>tháng</a:t>
            </a:r>
            <a:r>
              <a:rPr lang="en-US" sz="2000" dirty="0"/>
              <a:t> 03 </a:t>
            </a:r>
            <a:r>
              <a:rPr lang="en-US" sz="2000" dirty="0" err="1"/>
              <a:t>năm</a:t>
            </a:r>
            <a:r>
              <a:rPr lang="en-US" sz="2000" dirty="0"/>
              <a:t> 2025</a:t>
            </a:r>
          </a:p>
          <a:p>
            <a:pPr marL="0" indent="0" algn="r">
              <a:buNone/>
            </a:pPr>
            <a:r>
              <a:rPr lang="en-US" sz="2000" dirty="0"/>
              <a:t>TS. </a:t>
            </a:r>
            <a:r>
              <a:rPr lang="en-US" sz="2000" dirty="0" err="1"/>
              <a:t>Lưu</a:t>
            </a:r>
            <a:r>
              <a:rPr lang="en-US" sz="2000" dirty="0"/>
              <a:t> Phúc Lợi</a:t>
            </a:r>
          </a:p>
          <a:p>
            <a:pPr marL="0" indent="0" algn="r">
              <a:buNone/>
            </a:pPr>
            <a:r>
              <a:rPr lang="en-US" sz="2000" dirty="0"/>
              <a:t>Email: </a:t>
            </a:r>
            <a:r>
              <a:rPr lang="en-US" sz="2000" dirty="0">
                <a:hlinkClick r:id="rId2"/>
              </a:rPr>
              <a:t>luu.p.loi@googlemail.com</a:t>
            </a:r>
            <a:endParaRPr lang="en-US" sz="2000" dirty="0"/>
          </a:p>
          <a:p>
            <a:pPr marL="0" indent="0" algn="r">
              <a:buNone/>
            </a:pPr>
            <a:r>
              <a:rPr lang="en-US" sz="2000" dirty="0" err="1"/>
              <a:t>Zalo</a:t>
            </a:r>
            <a:r>
              <a:rPr lang="en-US" sz="2000" dirty="0"/>
              <a:t>: 0901802182</a:t>
            </a:r>
          </a:p>
        </p:txBody>
      </p:sp>
    </p:spTree>
    <p:extLst>
      <p:ext uri="{BB962C8B-B14F-4D97-AF65-F5344CB8AC3E}">
        <p14:creationId xmlns:p14="http://schemas.microsoft.com/office/powerpoint/2010/main" val="2140952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627</Words>
  <Application>Microsoft Office PowerPoint</Application>
  <PresentationFormat>Widescreen</PresentationFormat>
  <Paragraphs>164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Best Practice for Bulk  RNA-seq analysis</vt:lpstr>
      <vt:lpstr>Content</vt:lpstr>
      <vt:lpstr>Aim of the methods</vt:lpstr>
      <vt:lpstr>Aim of the methods</vt:lpstr>
      <vt:lpstr>Different types of RNA</vt:lpstr>
      <vt:lpstr>Different types of RNA</vt:lpstr>
      <vt:lpstr>Sequencing library prep protocol depends on the RNA properties</vt:lpstr>
      <vt:lpstr>General steps of RNA-seq preparation</vt:lpstr>
      <vt:lpstr>General steps of RNA-seq preparation</vt:lpstr>
      <vt:lpstr>PowerPoint Presentation</vt:lpstr>
      <vt:lpstr>Upstream Analysis Workflow</vt:lpstr>
      <vt:lpstr>Upstream Analysis Workflow</vt:lpstr>
      <vt:lpstr>Upstream Analysis Workflow</vt:lpstr>
      <vt:lpstr>Upstream Analysis Workflow</vt:lpstr>
      <vt:lpstr>Downstream Analysis Workflow</vt:lpstr>
      <vt:lpstr>Downstream Analysis Workflow</vt:lpstr>
      <vt:lpstr>Downstream Analysis Workflow</vt:lpstr>
      <vt:lpstr>From BAM to Count</vt:lpstr>
      <vt:lpstr>Differential Gene Expression</vt:lpstr>
      <vt:lpstr>PowerPoint Presentation</vt:lpstr>
      <vt:lpstr>Enrichment of DEGs with Over Representation Analysis (ORA)</vt:lpstr>
      <vt:lpstr>Enrichment of DEGs with Over Representation Analysis (ORA)</vt:lpstr>
      <vt:lpstr>Enrichment of DEGs with Over Representation Analysis (ORA)</vt:lpstr>
      <vt:lpstr>RNA-seq databases</vt:lpstr>
      <vt:lpstr>PowerPoint Presentation</vt:lpstr>
      <vt:lpstr>Cảm ơn các thầy cô và các bạn!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Best Practice for Bulk RNA-seq analysis</dc:title>
  <dc:creator>Luu Loi</dc:creator>
  <cp:lastModifiedBy>Luu Loi</cp:lastModifiedBy>
  <cp:revision>66</cp:revision>
  <dcterms:created xsi:type="dcterms:W3CDTF">2024-12-07T21:26:28Z</dcterms:created>
  <dcterms:modified xsi:type="dcterms:W3CDTF">2025-03-29T06:26:41Z</dcterms:modified>
</cp:coreProperties>
</file>